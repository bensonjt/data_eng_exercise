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Ex1.xml" ContentType="application/vnd.ms-office.chartex+xml"/>
  <Override PartName="/ppt/charts/style1.xml" ContentType="application/vnd.ms-office.chartstyle+xml"/>
  <Override PartName="/ppt/charts/colors1.xml" ContentType="application/vnd.ms-office.chartcolorstyle+xml"/>
  <Override PartName="/ppt/charts/chartEx2.xml" ContentType="application/vnd.ms-office.chartex+xml"/>
  <Override PartName="/ppt/charts/style2.xml" ContentType="application/vnd.ms-office.chartstyle+xml"/>
  <Override PartName="/ppt/charts/colors2.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9" r:id="rId6"/>
    <p:sldId id="260" r:id="rId7"/>
    <p:sldId id="262" r:id="rId8"/>
    <p:sldId id="261" r:id="rId9"/>
    <p:sldId id="263" r:id="rId10"/>
    <p:sldId id="264" r:id="rId11"/>
    <p:sldId id="265" r:id="rId12"/>
    <p:sldId id="268" r:id="rId13"/>
    <p:sldId id="270" r:id="rId14"/>
    <p:sldId id="271" r:id="rId15"/>
    <p:sldId id="272"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0" autoAdjust="0"/>
    <p:restoredTop sz="79782" autoAdjust="0"/>
  </p:normalViewPr>
  <p:slideViewPr>
    <p:cSldViewPr snapToGrid="0">
      <p:cViewPr varScale="1">
        <p:scale>
          <a:sx n="123" d="100"/>
          <a:sy n="123" d="100"/>
        </p:scale>
        <p:origin x="12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Book1"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Book1" TargetMode="External"/></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Sheet1!$H$2:$H$6</cx:f>
        <cx:lvl ptCount="5">
          <cx:pt idx="0">LINE_NCH_PMT_AMT</cx:pt>
          <cx:pt idx="1">LINE_BENE_PRMRY_PYR_PD_AMT</cx:pt>
          <cx:pt idx="2">LINE_BENE_PTB_DDCTBL_AMT</cx:pt>
          <cx:pt idx="3">LINE_ALOWD_CHRG_AMT</cx:pt>
          <cx:pt idx="4">LINE_COINSRNC_AMT</cx:pt>
        </cx:lvl>
      </cx:strDim>
      <cx:numDim type="val">
        <cx:f>Sheet1!$I$2:$I$6</cx:f>
        <cx:lvl ptCount="5" formatCode="_(&quot;$&quot;* #,##0.00_);_(&quot;$&quot;* \(#,##0.00\);_(&quot;$&quot;* &quot;-&quot;??_);_(@_)">
          <cx:pt idx="0">158480.91</cx:pt>
          <cx:pt idx="1">98772.860000000001</cx:pt>
          <cx:pt idx="2">96806.449999999997</cx:pt>
          <cx:pt idx="3">62816.300000000003</cx:pt>
          <cx:pt idx="4">17507.34</cx:pt>
        </cx:lvl>
      </cx:numDim>
    </cx:data>
  </cx:chartData>
  <cx:chart>
    <cx:title pos="t" align="ctr" overlay="0">
      <cx:tx>
        <cx:txData>
          <cx:v>FINANCIAL VARIANCE</cx:v>
        </cx:txData>
      </cx:tx>
      <cx:txPr>
        <a:bodyPr rot="0" spcFirstLastPara="1" vertOverflow="ellipsis" vert="horz" wrap="square" lIns="38100" tIns="19050" rIns="38100" bIns="19050" anchor="ctr" anchorCtr="1" compatLnSpc="0"/>
        <a:lstStyle/>
        <a:p>
          <a:pPr algn="ctr" rtl="0">
            <a:defRPr sz="1400" b="0" i="0" u="none" strike="noStrike" kern="1200" spc="0" baseline="0">
              <a:solidFill>
                <a:sysClr val="windowText" lastClr="000000">
                  <a:lumMod val="65000"/>
                  <a:lumOff val="35000"/>
                </a:sysClr>
              </a:solidFill>
              <a:latin typeface="+mn-lt"/>
              <a:ea typeface="+mn-ea"/>
              <a:cs typeface="+mn-cs"/>
            </a:defRPr>
          </a:pPr>
          <a:r>
            <a:rPr kumimoji="0" lang="en-US" sz="1400" b="0" i="0" u="none" strike="noStrike" kern="1200" cap="none" spc="0" normalizeH="0" baseline="0" noProof="0" dirty="0">
              <a:ln>
                <a:noFill/>
              </a:ln>
              <a:solidFill>
                <a:sysClr val="windowText" lastClr="000000">
                  <a:lumMod val="65000"/>
                  <a:lumOff val="35000"/>
                </a:sysClr>
              </a:solidFill>
              <a:effectLst/>
              <a:uLnTx/>
              <a:uFillTx/>
              <a:latin typeface="Aptos Narrow" panose="02110004020202020204"/>
            </a:rPr>
            <a:t>FINANCIAL VARIANCE</a:t>
          </a:r>
        </a:p>
      </cx:txPr>
    </cx:title>
    <cx:plotArea>
      <cx:plotAreaRegion>
        <cx:series layoutId="waterfall" uniqueId="{E708FD0A-15D1-4AEF-A336-FE224240B8E8}">
          <cx:tx>
            <cx:txData>
              <cx:f>Sheet1!$I$1</cx:f>
              <cx:v>FINANCIAL_VARIANCE</cx:v>
            </cx:txData>
          </cx:tx>
          <cx:dataLabels/>
          <cx:dataId val="0"/>
          <cx:layoutPr>
            <cx:subtotals/>
          </cx:layoutPr>
        </cx:series>
      </cx:plotAreaRegion>
      <cx:axis id="0">
        <cx:catScaling/>
        <cx:tickLabels/>
      </cx:axis>
      <cx:axis id="1">
        <cx:valScaling/>
        <cx:majorGridlines/>
        <cx:tickLabels/>
        <cx:numFmt formatCode="$#,##0,&quot;K&quot;" sourceLinked="0"/>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Sheet1!$M$2:$M$10</cx:f>
        <cx:lvl ptCount="9">
          <cx:pt idx="0">MEDREIMB_OP</cx:pt>
          <cx:pt idx="1">MEDREIMB_IP</cx:pt>
          <cx:pt idx="2">MEDREIMB_CAR</cx:pt>
          <cx:pt idx="3">BENRES_IP</cx:pt>
          <cx:pt idx="4">BENRES_CAR</cx:pt>
          <cx:pt idx="5">PPPYMT_IP</cx:pt>
          <cx:pt idx="6">PPPYMT_CAR</cx:pt>
          <cx:pt idx="7">BENRES_OP</cx:pt>
          <cx:pt idx="8">PPPYMT_OP</cx:pt>
        </cx:lvl>
      </cx:strDim>
      <cx:numDim type="val">
        <cx:f>Sheet1!$N$2:$N$10</cx:f>
        <cx:lvl ptCount="9" formatCode="_(&quot;$&quot;* #,##0.00_);_(&quot;$&quot;* \(#,##0.00\);_(&quot;$&quot;* &quot;-&quot;??_);_(@_)">
          <cx:pt idx="0">10924.620000000001</cx:pt>
          <cx:pt idx="1">7004.0699999999997</cx:pt>
          <cx:pt idx="2">4458.4200000000001</cx:pt>
          <cx:pt idx="3">3231.46</cx:pt>
          <cx:pt idx="4">2466.7800000000002</cx:pt>
          <cx:pt idx="5">2128.46</cx:pt>
          <cx:pt idx="6">1996.3199999999999</cx:pt>
          <cx:pt idx="7">1907.74</cx:pt>
          <cx:pt idx="8">1491.3599999999999</cx:pt>
        </cx:lvl>
      </cx:numDim>
    </cx:data>
  </cx:chartData>
  <cx:chart>
    <cx:title pos="t" align="ctr" overlay="0">
      <cx:tx>
        <cx:txData>
          <cx:v>FINANCIAL VARIANCE</cx:v>
        </cx:txData>
      </cx:tx>
      <cx:txPr>
        <a:bodyPr rot="0" spcFirstLastPara="1" vertOverflow="ellipsis" vert="horz" wrap="square" lIns="38100" tIns="19050" rIns="38100" bIns="19050" anchor="ctr" anchorCtr="1" compatLnSpc="0"/>
        <a:lstStyle/>
        <a:p>
          <a:pPr algn="ctr" rtl="0">
            <a:defRPr sz="1400" b="0" i="0" u="none" strike="noStrike" kern="1200" spc="0" baseline="0">
              <a:solidFill>
                <a:sysClr val="windowText" lastClr="000000">
                  <a:lumMod val="65000"/>
                  <a:lumOff val="35000"/>
                </a:sysClr>
              </a:solidFill>
              <a:latin typeface="+mn-lt"/>
              <a:ea typeface="+mn-ea"/>
              <a:cs typeface="+mn-cs"/>
            </a:defRPr>
          </a:pPr>
          <a:r>
            <a:rPr kumimoji="0" lang="en-US" sz="1400" b="0" i="0" u="none" strike="noStrike" kern="1200" cap="none" spc="0" normalizeH="0" baseline="0" noProof="0" dirty="0">
              <a:ln>
                <a:noFill/>
              </a:ln>
              <a:solidFill>
                <a:sysClr val="windowText" lastClr="000000">
                  <a:lumMod val="65000"/>
                  <a:lumOff val="35000"/>
                </a:sysClr>
              </a:solidFill>
              <a:effectLst/>
              <a:uLnTx/>
              <a:uFillTx/>
              <a:latin typeface="Aptos Narrow" panose="02110004020202020204"/>
            </a:rPr>
            <a:t>FINANCIAL VARIANCE</a:t>
          </a:r>
        </a:p>
      </cx:txPr>
    </cx:title>
    <cx:plotArea>
      <cx:plotAreaRegion>
        <cx:series layoutId="waterfall" uniqueId="{07EA8A0C-85D7-41E8-9022-C6EAB3DBA4C8}">
          <cx:tx>
            <cx:txData>
              <cx:f>Sheet1!$N$1</cx:f>
              <cx:v>FINANCIAL_VARIANCE</cx:v>
            </cx:txData>
          </cx:tx>
          <cx:dataLabels/>
          <cx:dataId val="0"/>
          <cx:layoutPr>
            <cx:subtotals/>
          </cx:layoutPr>
        </cx:series>
      </cx:plotAreaRegion>
      <cx:axis id="0">
        <cx:catScaling/>
        <cx:tickLabels/>
      </cx:axis>
      <cx:axis id="1">
        <cx:valScaling/>
        <cx:majorGridlines/>
        <cx:tickLabels/>
        <cx:numFmt formatCode="$#,##0,&quot;K&quot;" sourceLinked="0"/>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A204E9-1805-42F2-B630-13FA23A01478}" type="doc">
      <dgm:prSet loTypeId="urn:microsoft.com/office/officeart/2024/layout/NumberedTitleList" loCatId="list" qsTypeId="urn:microsoft.com/office/officeart/2005/8/quickstyle/simple1" qsCatId="simple" csTypeId="urn:microsoft.com/office/officeart/2005/8/colors/accent1_5" csCatId="accent1" phldr="1"/>
      <dgm:spPr/>
      <dgm:t>
        <a:bodyPr/>
        <a:lstStyle/>
        <a:p>
          <a:endParaRPr lang="en-US"/>
        </a:p>
      </dgm:t>
    </dgm:pt>
    <dgm:pt modelId="{4FC86902-EAE1-4C33-A11C-958EE27CD982}">
      <dgm:prSet phldrT="[Text]" phldr="0"/>
      <dgm:spPr/>
      <dgm:t>
        <a:bodyPr/>
        <a:lstStyle/>
        <a:p>
          <a:pPr>
            <a:lnSpc>
              <a:spcPct val="100000"/>
            </a:lnSpc>
          </a:pPr>
          <a:r>
            <a:rPr lang="en-US" dirty="0"/>
            <a:t>Ingest</a:t>
          </a:r>
        </a:p>
      </dgm:t>
    </dgm:pt>
    <dgm:pt modelId="{6BD5C2B1-41B2-49C0-BABD-D3AE4E854F02}" type="parTrans" cxnId="{1F16C5F1-CC71-4B0E-ADEA-029E8481F9D3}">
      <dgm:prSet/>
      <dgm:spPr/>
      <dgm:t>
        <a:bodyPr/>
        <a:lstStyle/>
        <a:p>
          <a:endParaRPr lang="en-US"/>
        </a:p>
      </dgm:t>
    </dgm:pt>
    <dgm:pt modelId="{F067F98A-AC83-43D6-A81B-947609820A58}" type="sibTrans" cxnId="{1F16C5F1-CC71-4B0E-ADEA-029E8481F9D3}">
      <dgm:prSet phldrT="1" phldr="0"/>
      <dgm:spPr/>
      <dgm:t>
        <a:bodyPr/>
        <a:lstStyle/>
        <a:p>
          <a:r>
            <a:rPr lang="en-US"/>
            <a:t>1</a:t>
          </a:r>
        </a:p>
      </dgm:t>
    </dgm:pt>
    <dgm:pt modelId="{C0F599EC-26C4-44D3-BC30-C1EB84F7AE35}">
      <dgm:prSet phldrT="[Text]" phldr="0"/>
      <dgm:spPr/>
      <dgm:t>
        <a:bodyPr/>
        <a:lstStyle/>
        <a:p>
          <a:pPr>
            <a:lnSpc>
              <a:spcPct val="100000"/>
            </a:lnSpc>
          </a:pPr>
          <a:r>
            <a:rPr lang="en-US" dirty="0"/>
            <a:t>Summarize</a:t>
          </a:r>
        </a:p>
      </dgm:t>
    </dgm:pt>
    <dgm:pt modelId="{960C32F0-2D61-4D60-B1D7-D5A38C5F6108}" type="parTrans" cxnId="{2B4635FA-270E-46C4-BF2F-6E94DA333862}">
      <dgm:prSet/>
      <dgm:spPr/>
      <dgm:t>
        <a:bodyPr/>
        <a:lstStyle/>
        <a:p>
          <a:endParaRPr lang="en-US"/>
        </a:p>
      </dgm:t>
    </dgm:pt>
    <dgm:pt modelId="{30371038-323B-4168-8708-A3632A9CE071}" type="sibTrans" cxnId="{2B4635FA-270E-46C4-BF2F-6E94DA333862}">
      <dgm:prSet phldrT="5" phldr="0"/>
      <dgm:spPr/>
      <dgm:t>
        <a:bodyPr/>
        <a:lstStyle/>
        <a:p>
          <a:r>
            <a:rPr lang="en-US"/>
            <a:t>5</a:t>
          </a:r>
        </a:p>
      </dgm:t>
    </dgm:pt>
    <dgm:pt modelId="{1E49C81A-6DC7-43EE-8BC8-60695410DC4D}">
      <dgm:prSet phldrT="[Text]" phldr="0"/>
      <dgm:spPr/>
      <dgm:t>
        <a:bodyPr/>
        <a:lstStyle/>
        <a:p>
          <a:pPr>
            <a:lnSpc>
              <a:spcPct val="100000"/>
            </a:lnSpc>
          </a:pPr>
          <a:r>
            <a:rPr lang="en-US" dirty="0"/>
            <a:t>Validate &amp; Transform</a:t>
          </a:r>
        </a:p>
      </dgm:t>
    </dgm:pt>
    <dgm:pt modelId="{7A6175F3-BDE0-4B90-AF27-F731A5423B74}" type="parTrans" cxnId="{23CCD08A-69C2-4CA8-9681-83DEAAB43B74}">
      <dgm:prSet/>
      <dgm:spPr/>
      <dgm:t>
        <a:bodyPr/>
        <a:lstStyle/>
        <a:p>
          <a:endParaRPr lang="en-US"/>
        </a:p>
      </dgm:t>
    </dgm:pt>
    <dgm:pt modelId="{29CBE515-8938-4DDD-B9D0-D805D80B5DC7}" type="sibTrans" cxnId="{23CCD08A-69C2-4CA8-9681-83DEAAB43B74}">
      <dgm:prSet phldrT="2" phldr="0"/>
      <dgm:spPr/>
      <dgm:t>
        <a:bodyPr/>
        <a:lstStyle/>
        <a:p>
          <a:r>
            <a:rPr lang="en-US"/>
            <a:t>2</a:t>
          </a:r>
        </a:p>
      </dgm:t>
    </dgm:pt>
    <dgm:pt modelId="{B3F769E7-8F80-49E1-A52D-164A2AD4ED20}">
      <dgm:prSet phldrT="[Text]" phldr="0"/>
      <dgm:spPr/>
      <dgm:t>
        <a:bodyPr/>
        <a:lstStyle/>
        <a:p>
          <a:pPr>
            <a:lnSpc>
              <a:spcPct val="100000"/>
            </a:lnSpc>
          </a:pPr>
          <a:r>
            <a:rPr lang="en-US" dirty="0"/>
            <a:t>Analyze</a:t>
          </a:r>
        </a:p>
      </dgm:t>
    </dgm:pt>
    <dgm:pt modelId="{9B7706B7-8E3E-4DED-A789-295812FCE0EE}" type="parTrans" cxnId="{61D23A51-E0A5-475A-AB2D-7D86CEA1F29E}">
      <dgm:prSet/>
      <dgm:spPr/>
      <dgm:t>
        <a:bodyPr/>
        <a:lstStyle/>
        <a:p>
          <a:endParaRPr lang="en-US"/>
        </a:p>
      </dgm:t>
    </dgm:pt>
    <dgm:pt modelId="{3AA20C1D-D19A-4952-8182-CBE9F5183B27}" type="sibTrans" cxnId="{61D23A51-E0A5-475A-AB2D-7D86CEA1F29E}">
      <dgm:prSet phldrT="3" phldr="0"/>
      <dgm:spPr/>
      <dgm:t>
        <a:bodyPr/>
        <a:lstStyle/>
        <a:p>
          <a:r>
            <a:rPr lang="en-US"/>
            <a:t>3</a:t>
          </a:r>
        </a:p>
      </dgm:t>
    </dgm:pt>
    <dgm:pt modelId="{37A79EC0-058B-4529-BDAF-FF8BE53BCF21}">
      <dgm:prSet phldrT="[Text]" phldr="0"/>
      <dgm:spPr/>
      <dgm:t>
        <a:bodyPr/>
        <a:lstStyle/>
        <a:p>
          <a:pPr>
            <a:lnSpc>
              <a:spcPct val="100000"/>
            </a:lnSpc>
          </a:pPr>
          <a:r>
            <a:rPr lang="en-US"/>
            <a:t>Quantify</a:t>
          </a:r>
          <a:endParaRPr lang="en-US" dirty="0"/>
        </a:p>
      </dgm:t>
    </dgm:pt>
    <dgm:pt modelId="{38EE6B6D-020B-4203-90C3-08B83A67B8D1}" type="parTrans" cxnId="{A21F571A-5A84-4481-B555-6D7B3475D987}">
      <dgm:prSet/>
      <dgm:spPr/>
      <dgm:t>
        <a:bodyPr/>
        <a:lstStyle/>
        <a:p>
          <a:endParaRPr lang="en-US"/>
        </a:p>
      </dgm:t>
    </dgm:pt>
    <dgm:pt modelId="{B7AFE43E-2F79-4598-B48B-CC0B0607EFC9}" type="sibTrans" cxnId="{A21F571A-5A84-4481-B555-6D7B3475D987}">
      <dgm:prSet phldrT="4" phldr="0"/>
      <dgm:spPr/>
      <dgm:t>
        <a:bodyPr/>
        <a:lstStyle/>
        <a:p>
          <a:r>
            <a:rPr lang="en-US"/>
            <a:t>4</a:t>
          </a:r>
        </a:p>
      </dgm:t>
    </dgm:pt>
    <dgm:pt modelId="{268B8406-A4F6-4848-8567-2DFDDECFC297}" type="pres">
      <dgm:prSet presAssocID="{ADA204E9-1805-42F2-B630-13FA23A01478}" presName="Name0" presStyleCnt="0">
        <dgm:presLayoutVars>
          <dgm:dir/>
          <dgm:animLvl val="lvl"/>
          <dgm:resizeHandles val="exact"/>
        </dgm:presLayoutVars>
      </dgm:prSet>
      <dgm:spPr/>
    </dgm:pt>
    <dgm:pt modelId="{901791DB-90EF-493B-B248-4B339A40D4DA}" type="pres">
      <dgm:prSet presAssocID="{4FC86902-EAE1-4C33-A11C-958EE27CD982}" presName="compositeNode" presStyleCnt="0">
        <dgm:presLayoutVars>
          <dgm:bulletEnabled val="1"/>
        </dgm:presLayoutVars>
      </dgm:prSet>
      <dgm:spPr/>
    </dgm:pt>
    <dgm:pt modelId="{0BB5F947-9585-4EE0-9EA7-664FE23CC481}" type="pres">
      <dgm:prSet presAssocID="{4FC86902-EAE1-4C33-A11C-958EE27CD982}" presName="bgRect" presStyleLbl="fgAcc1" presStyleIdx="0" presStyleCnt="5"/>
      <dgm:spPr/>
    </dgm:pt>
    <dgm:pt modelId="{93C2D19F-9856-46F9-9A01-24F2FE34D1B9}" type="pres">
      <dgm:prSet presAssocID="{F067F98A-AC83-43D6-A81B-947609820A58}" presName="sibTransNodeCircle" presStyleLbl="alignNode1" presStyleIdx="0" presStyleCnt="5">
        <dgm:presLayoutVars>
          <dgm:chMax val="0"/>
          <dgm:bulletEnabled/>
        </dgm:presLayoutVars>
      </dgm:prSet>
      <dgm:spPr/>
    </dgm:pt>
    <dgm:pt modelId="{CC9429F4-518B-46B1-880B-48E8FA8AD771}" type="pres">
      <dgm:prSet presAssocID="{4FC86902-EAE1-4C33-A11C-958EE27CD982}" presName="nodeText" presStyleLbl="bgAccFollowNode1" presStyleIdx="0" presStyleCnt="0">
        <dgm:presLayoutVars>
          <dgm:bulletEnabled val="1"/>
        </dgm:presLayoutVars>
      </dgm:prSet>
      <dgm:spPr/>
    </dgm:pt>
    <dgm:pt modelId="{20352205-365F-4423-9112-447E2960A7CC}" type="pres">
      <dgm:prSet presAssocID="{F067F98A-AC83-43D6-A81B-947609820A58}" presName="sibTrans" presStyleCnt="0"/>
      <dgm:spPr/>
    </dgm:pt>
    <dgm:pt modelId="{645423F1-E1A0-4D48-80DF-C9049F845300}" type="pres">
      <dgm:prSet presAssocID="{1E49C81A-6DC7-43EE-8BC8-60695410DC4D}" presName="compositeNode" presStyleCnt="0">
        <dgm:presLayoutVars>
          <dgm:bulletEnabled val="1"/>
        </dgm:presLayoutVars>
      </dgm:prSet>
      <dgm:spPr/>
    </dgm:pt>
    <dgm:pt modelId="{2C66531E-0408-4D51-8981-E50892E5C98F}" type="pres">
      <dgm:prSet presAssocID="{1E49C81A-6DC7-43EE-8BC8-60695410DC4D}" presName="bgRect" presStyleLbl="fgAcc1" presStyleIdx="1" presStyleCnt="5"/>
      <dgm:spPr/>
    </dgm:pt>
    <dgm:pt modelId="{D97B48F9-EA4F-4525-A42E-E4E4EA87FFF3}" type="pres">
      <dgm:prSet presAssocID="{29CBE515-8938-4DDD-B9D0-D805D80B5DC7}" presName="sibTransNodeCircle" presStyleLbl="alignNode1" presStyleIdx="1" presStyleCnt="5">
        <dgm:presLayoutVars>
          <dgm:chMax val="0"/>
          <dgm:bulletEnabled/>
        </dgm:presLayoutVars>
      </dgm:prSet>
      <dgm:spPr/>
    </dgm:pt>
    <dgm:pt modelId="{671F1CE3-7F9A-47C5-B3EC-FF386957B445}" type="pres">
      <dgm:prSet presAssocID="{1E49C81A-6DC7-43EE-8BC8-60695410DC4D}" presName="nodeText" presStyleLbl="bgAccFollowNode1" presStyleIdx="0" presStyleCnt="0">
        <dgm:presLayoutVars>
          <dgm:bulletEnabled val="1"/>
        </dgm:presLayoutVars>
      </dgm:prSet>
      <dgm:spPr/>
    </dgm:pt>
    <dgm:pt modelId="{491A381D-7AA9-478F-9821-7099F2BA3286}" type="pres">
      <dgm:prSet presAssocID="{29CBE515-8938-4DDD-B9D0-D805D80B5DC7}" presName="sibTrans" presStyleCnt="0"/>
      <dgm:spPr/>
    </dgm:pt>
    <dgm:pt modelId="{0F588DE2-FCA0-4914-8772-DA54C4B987D5}" type="pres">
      <dgm:prSet presAssocID="{B3F769E7-8F80-49E1-A52D-164A2AD4ED20}" presName="compositeNode" presStyleCnt="0">
        <dgm:presLayoutVars>
          <dgm:bulletEnabled val="1"/>
        </dgm:presLayoutVars>
      </dgm:prSet>
      <dgm:spPr/>
    </dgm:pt>
    <dgm:pt modelId="{DE531CA8-7B74-45D7-8FAD-304025476BC8}" type="pres">
      <dgm:prSet presAssocID="{B3F769E7-8F80-49E1-A52D-164A2AD4ED20}" presName="bgRect" presStyleLbl="fgAcc1" presStyleIdx="2" presStyleCnt="5"/>
      <dgm:spPr/>
    </dgm:pt>
    <dgm:pt modelId="{544809E0-7C37-4997-86B3-9C4E862C35A6}" type="pres">
      <dgm:prSet presAssocID="{3AA20C1D-D19A-4952-8182-CBE9F5183B27}" presName="sibTransNodeCircle" presStyleLbl="alignNode1" presStyleIdx="2" presStyleCnt="5">
        <dgm:presLayoutVars>
          <dgm:chMax val="0"/>
          <dgm:bulletEnabled/>
        </dgm:presLayoutVars>
      </dgm:prSet>
      <dgm:spPr/>
    </dgm:pt>
    <dgm:pt modelId="{647F9774-E86D-42DC-96F3-4752240345A4}" type="pres">
      <dgm:prSet presAssocID="{B3F769E7-8F80-49E1-A52D-164A2AD4ED20}" presName="nodeText" presStyleLbl="bgAccFollowNode1" presStyleIdx="0" presStyleCnt="0">
        <dgm:presLayoutVars>
          <dgm:bulletEnabled val="1"/>
        </dgm:presLayoutVars>
      </dgm:prSet>
      <dgm:spPr/>
    </dgm:pt>
    <dgm:pt modelId="{7ECC6C08-EC91-4A04-8643-974672D5FDB1}" type="pres">
      <dgm:prSet presAssocID="{3AA20C1D-D19A-4952-8182-CBE9F5183B27}" presName="sibTrans" presStyleCnt="0"/>
      <dgm:spPr/>
    </dgm:pt>
    <dgm:pt modelId="{B020F597-CFBF-4669-A726-EF707AF93C63}" type="pres">
      <dgm:prSet presAssocID="{37A79EC0-058B-4529-BDAF-FF8BE53BCF21}" presName="compositeNode" presStyleCnt="0">
        <dgm:presLayoutVars>
          <dgm:bulletEnabled val="1"/>
        </dgm:presLayoutVars>
      </dgm:prSet>
      <dgm:spPr/>
    </dgm:pt>
    <dgm:pt modelId="{517FEF0A-2117-499A-8092-50F5B442AFB1}" type="pres">
      <dgm:prSet presAssocID="{37A79EC0-058B-4529-BDAF-FF8BE53BCF21}" presName="bgRect" presStyleLbl="fgAcc1" presStyleIdx="3" presStyleCnt="5"/>
      <dgm:spPr/>
    </dgm:pt>
    <dgm:pt modelId="{C4E69374-359D-4672-A273-217551FCB3DD}" type="pres">
      <dgm:prSet presAssocID="{B7AFE43E-2F79-4598-B48B-CC0B0607EFC9}" presName="sibTransNodeCircle" presStyleLbl="alignNode1" presStyleIdx="3" presStyleCnt="5">
        <dgm:presLayoutVars>
          <dgm:chMax val="0"/>
          <dgm:bulletEnabled/>
        </dgm:presLayoutVars>
      </dgm:prSet>
      <dgm:spPr/>
    </dgm:pt>
    <dgm:pt modelId="{E15B3143-E7BD-4BE1-8AEC-521F606987F6}" type="pres">
      <dgm:prSet presAssocID="{37A79EC0-058B-4529-BDAF-FF8BE53BCF21}" presName="nodeText" presStyleLbl="bgAccFollowNode1" presStyleIdx="0" presStyleCnt="0">
        <dgm:presLayoutVars>
          <dgm:bulletEnabled val="1"/>
        </dgm:presLayoutVars>
      </dgm:prSet>
      <dgm:spPr/>
    </dgm:pt>
    <dgm:pt modelId="{B5888B3A-4AB1-47E3-A7A2-7813D743E7A9}" type="pres">
      <dgm:prSet presAssocID="{B7AFE43E-2F79-4598-B48B-CC0B0607EFC9}" presName="sibTrans" presStyleCnt="0"/>
      <dgm:spPr/>
    </dgm:pt>
    <dgm:pt modelId="{B8579465-1937-477D-A483-06BD520923D8}" type="pres">
      <dgm:prSet presAssocID="{C0F599EC-26C4-44D3-BC30-C1EB84F7AE35}" presName="compositeNode" presStyleCnt="0">
        <dgm:presLayoutVars>
          <dgm:bulletEnabled val="1"/>
        </dgm:presLayoutVars>
      </dgm:prSet>
      <dgm:spPr/>
    </dgm:pt>
    <dgm:pt modelId="{66FC6E9B-F3EF-43E9-9943-58C1B6614E49}" type="pres">
      <dgm:prSet presAssocID="{C0F599EC-26C4-44D3-BC30-C1EB84F7AE35}" presName="bgRect" presStyleLbl="fgAcc1" presStyleIdx="4" presStyleCnt="5"/>
      <dgm:spPr/>
    </dgm:pt>
    <dgm:pt modelId="{A99D634C-8FA9-428D-B814-C095A27CCF98}" type="pres">
      <dgm:prSet presAssocID="{30371038-323B-4168-8708-A3632A9CE071}" presName="sibTransNodeCircle" presStyleLbl="alignNode1" presStyleIdx="4" presStyleCnt="5">
        <dgm:presLayoutVars>
          <dgm:chMax val="0"/>
          <dgm:bulletEnabled/>
        </dgm:presLayoutVars>
      </dgm:prSet>
      <dgm:spPr/>
    </dgm:pt>
    <dgm:pt modelId="{2C1045AB-0AE4-4A52-9C32-25EB09AF61E2}" type="pres">
      <dgm:prSet presAssocID="{C0F599EC-26C4-44D3-BC30-C1EB84F7AE35}" presName="nodeText" presStyleLbl="bgAccFollowNode1" presStyleIdx="0" presStyleCnt="0">
        <dgm:presLayoutVars>
          <dgm:bulletEnabled val="1"/>
        </dgm:presLayoutVars>
      </dgm:prSet>
      <dgm:spPr/>
    </dgm:pt>
  </dgm:ptLst>
  <dgm:cxnLst>
    <dgm:cxn modelId="{49DE7F04-ABD6-496B-8A1E-9A193660E0DE}" type="presOf" srcId="{3AA20C1D-D19A-4952-8182-CBE9F5183B27}" destId="{544809E0-7C37-4997-86B3-9C4E862C35A6}" srcOrd="0" destOrd="0" presId="urn:microsoft.com/office/officeart/2024/layout/NumberedTitleList"/>
    <dgm:cxn modelId="{B3B9EC04-976E-4362-9F8C-BE1CC3388E76}" type="presOf" srcId="{ADA204E9-1805-42F2-B630-13FA23A01478}" destId="{268B8406-A4F6-4848-8567-2DFDDECFC297}" srcOrd="0" destOrd="0" presId="urn:microsoft.com/office/officeart/2024/layout/NumberedTitleList"/>
    <dgm:cxn modelId="{A21F571A-5A84-4481-B555-6D7B3475D987}" srcId="{ADA204E9-1805-42F2-B630-13FA23A01478}" destId="{37A79EC0-058B-4529-BDAF-FF8BE53BCF21}" srcOrd="3" destOrd="0" parTransId="{38EE6B6D-020B-4203-90C3-08B83A67B8D1}" sibTransId="{B7AFE43E-2F79-4598-B48B-CC0B0607EFC9}"/>
    <dgm:cxn modelId="{54F22F2F-6FFE-488F-B049-1D348E529A89}" type="presOf" srcId="{1E49C81A-6DC7-43EE-8BC8-60695410DC4D}" destId="{671F1CE3-7F9A-47C5-B3EC-FF386957B445}" srcOrd="1" destOrd="0" presId="urn:microsoft.com/office/officeart/2024/layout/NumberedTitleList"/>
    <dgm:cxn modelId="{973BDD30-E4C5-4A57-840D-B8E58DBD5460}" type="presOf" srcId="{C0F599EC-26C4-44D3-BC30-C1EB84F7AE35}" destId="{66FC6E9B-F3EF-43E9-9943-58C1B6614E49}" srcOrd="0" destOrd="0" presId="urn:microsoft.com/office/officeart/2024/layout/NumberedTitleList"/>
    <dgm:cxn modelId="{61D23A51-E0A5-475A-AB2D-7D86CEA1F29E}" srcId="{ADA204E9-1805-42F2-B630-13FA23A01478}" destId="{B3F769E7-8F80-49E1-A52D-164A2AD4ED20}" srcOrd="2" destOrd="0" parTransId="{9B7706B7-8E3E-4DED-A789-295812FCE0EE}" sibTransId="{3AA20C1D-D19A-4952-8182-CBE9F5183B27}"/>
    <dgm:cxn modelId="{FC78187B-8C4A-45A1-AF42-CFAFBBA5466B}" type="presOf" srcId="{1E49C81A-6DC7-43EE-8BC8-60695410DC4D}" destId="{2C66531E-0408-4D51-8981-E50892E5C98F}" srcOrd="0" destOrd="0" presId="urn:microsoft.com/office/officeart/2024/layout/NumberedTitleList"/>
    <dgm:cxn modelId="{16CB618A-95DF-4FED-8771-1C936CE85705}" type="presOf" srcId="{F067F98A-AC83-43D6-A81B-947609820A58}" destId="{93C2D19F-9856-46F9-9A01-24F2FE34D1B9}" srcOrd="0" destOrd="0" presId="urn:microsoft.com/office/officeart/2024/layout/NumberedTitleList"/>
    <dgm:cxn modelId="{23CCD08A-69C2-4CA8-9681-83DEAAB43B74}" srcId="{ADA204E9-1805-42F2-B630-13FA23A01478}" destId="{1E49C81A-6DC7-43EE-8BC8-60695410DC4D}" srcOrd="1" destOrd="0" parTransId="{7A6175F3-BDE0-4B90-AF27-F731A5423B74}" sibTransId="{29CBE515-8938-4DDD-B9D0-D805D80B5DC7}"/>
    <dgm:cxn modelId="{2955CC91-276D-4FA4-9EBE-9E4BC05E3F13}" type="presOf" srcId="{4FC86902-EAE1-4C33-A11C-958EE27CD982}" destId="{CC9429F4-518B-46B1-880B-48E8FA8AD771}" srcOrd="1" destOrd="0" presId="urn:microsoft.com/office/officeart/2024/layout/NumberedTitleList"/>
    <dgm:cxn modelId="{B0F4C893-FF4E-41A3-8B53-A41F326D2ADD}" type="presOf" srcId="{4FC86902-EAE1-4C33-A11C-958EE27CD982}" destId="{0BB5F947-9585-4EE0-9EA7-664FE23CC481}" srcOrd="0" destOrd="0" presId="urn:microsoft.com/office/officeart/2024/layout/NumberedTitleList"/>
    <dgm:cxn modelId="{726C6F94-C453-48E6-87B4-FF0E5961C164}" type="presOf" srcId="{B3F769E7-8F80-49E1-A52D-164A2AD4ED20}" destId="{DE531CA8-7B74-45D7-8FAD-304025476BC8}" srcOrd="0" destOrd="0" presId="urn:microsoft.com/office/officeart/2024/layout/NumberedTitleList"/>
    <dgm:cxn modelId="{016BC595-70A7-4484-8461-76776782EB1A}" type="presOf" srcId="{30371038-323B-4168-8708-A3632A9CE071}" destId="{A99D634C-8FA9-428D-B814-C095A27CCF98}" srcOrd="0" destOrd="0" presId="urn:microsoft.com/office/officeart/2024/layout/NumberedTitleList"/>
    <dgm:cxn modelId="{29B3539F-BC3A-4780-BAE7-EE09653F9272}" type="presOf" srcId="{B7AFE43E-2F79-4598-B48B-CC0B0607EFC9}" destId="{C4E69374-359D-4672-A273-217551FCB3DD}" srcOrd="0" destOrd="0" presId="urn:microsoft.com/office/officeart/2024/layout/NumberedTitleList"/>
    <dgm:cxn modelId="{7F1441A0-ADF9-4057-B565-2C30733EAB2F}" type="presOf" srcId="{37A79EC0-058B-4529-BDAF-FF8BE53BCF21}" destId="{E15B3143-E7BD-4BE1-8AEC-521F606987F6}" srcOrd="1" destOrd="0" presId="urn:microsoft.com/office/officeart/2024/layout/NumberedTitleList"/>
    <dgm:cxn modelId="{8949A3C1-7B6F-4DF2-8AEA-CBF344B84CD2}" type="presOf" srcId="{37A79EC0-058B-4529-BDAF-FF8BE53BCF21}" destId="{517FEF0A-2117-499A-8092-50F5B442AFB1}" srcOrd="0" destOrd="0" presId="urn:microsoft.com/office/officeart/2024/layout/NumberedTitleList"/>
    <dgm:cxn modelId="{A40E38CD-21E0-4DC1-A874-B4400F911ACB}" type="presOf" srcId="{B3F769E7-8F80-49E1-A52D-164A2AD4ED20}" destId="{647F9774-E86D-42DC-96F3-4752240345A4}" srcOrd="1" destOrd="0" presId="urn:microsoft.com/office/officeart/2024/layout/NumberedTitleList"/>
    <dgm:cxn modelId="{3F7066EA-F1B4-4D96-8A11-D16E713A6C51}" type="presOf" srcId="{C0F599EC-26C4-44D3-BC30-C1EB84F7AE35}" destId="{2C1045AB-0AE4-4A52-9C32-25EB09AF61E2}" srcOrd="1" destOrd="0" presId="urn:microsoft.com/office/officeart/2024/layout/NumberedTitleList"/>
    <dgm:cxn modelId="{1F16C5F1-CC71-4B0E-ADEA-029E8481F9D3}" srcId="{ADA204E9-1805-42F2-B630-13FA23A01478}" destId="{4FC86902-EAE1-4C33-A11C-958EE27CD982}" srcOrd="0" destOrd="0" parTransId="{6BD5C2B1-41B2-49C0-BABD-D3AE4E854F02}" sibTransId="{F067F98A-AC83-43D6-A81B-947609820A58}"/>
    <dgm:cxn modelId="{1B7466F8-E338-4F44-8486-17F9C1F9F9C2}" type="presOf" srcId="{29CBE515-8938-4DDD-B9D0-D805D80B5DC7}" destId="{D97B48F9-EA4F-4525-A42E-E4E4EA87FFF3}" srcOrd="0" destOrd="0" presId="urn:microsoft.com/office/officeart/2024/layout/NumberedTitleList"/>
    <dgm:cxn modelId="{2B4635FA-270E-46C4-BF2F-6E94DA333862}" srcId="{ADA204E9-1805-42F2-B630-13FA23A01478}" destId="{C0F599EC-26C4-44D3-BC30-C1EB84F7AE35}" srcOrd="4" destOrd="0" parTransId="{960C32F0-2D61-4D60-B1D7-D5A38C5F6108}" sibTransId="{30371038-323B-4168-8708-A3632A9CE071}"/>
    <dgm:cxn modelId="{07DAD0BC-7A38-4C30-B583-49CC13898EFE}" type="presParOf" srcId="{268B8406-A4F6-4848-8567-2DFDDECFC297}" destId="{901791DB-90EF-493B-B248-4B339A40D4DA}" srcOrd="0" destOrd="0" presId="urn:microsoft.com/office/officeart/2024/layout/NumberedTitleList"/>
    <dgm:cxn modelId="{62A22B4B-DD18-49D7-9897-926FE8420F76}" type="presParOf" srcId="{901791DB-90EF-493B-B248-4B339A40D4DA}" destId="{0BB5F947-9585-4EE0-9EA7-664FE23CC481}" srcOrd="0" destOrd="0" presId="urn:microsoft.com/office/officeart/2024/layout/NumberedTitleList"/>
    <dgm:cxn modelId="{D07B4620-8153-45A7-82DD-22DD9C24DF60}" type="presParOf" srcId="{901791DB-90EF-493B-B248-4B339A40D4DA}" destId="{93C2D19F-9856-46F9-9A01-24F2FE34D1B9}" srcOrd="1" destOrd="0" presId="urn:microsoft.com/office/officeart/2024/layout/NumberedTitleList"/>
    <dgm:cxn modelId="{332C6807-D8F8-4C09-AF7A-247FB25787A8}" type="presParOf" srcId="{901791DB-90EF-493B-B248-4B339A40D4DA}" destId="{CC9429F4-518B-46B1-880B-48E8FA8AD771}" srcOrd="2" destOrd="0" presId="urn:microsoft.com/office/officeart/2024/layout/NumberedTitleList"/>
    <dgm:cxn modelId="{5F907FF2-BFE1-40DD-99DE-FF6126E6DBC7}" type="presParOf" srcId="{268B8406-A4F6-4848-8567-2DFDDECFC297}" destId="{20352205-365F-4423-9112-447E2960A7CC}" srcOrd="1" destOrd="0" presId="urn:microsoft.com/office/officeart/2024/layout/NumberedTitleList"/>
    <dgm:cxn modelId="{4F77AF80-3F23-4542-8C41-07767EC7B861}" type="presParOf" srcId="{268B8406-A4F6-4848-8567-2DFDDECFC297}" destId="{645423F1-E1A0-4D48-80DF-C9049F845300}" srcOrd="2" destOrd="0" presId="urn:microsoft.com/office/officeart/2024/layout/NumberedTitleList"/>
    <dgm:cxn modelId="{38D5AF22-13A9-481D-9A81-2578B0616C32}" type="presParOf" srcId="{645423F1-E1A0-4D48-80DF-C9049F845300}" destId="{2C66531E-0408-4D51-8981-E50892E5C98F}" srcOrd="0" destOrd="0" presId="urn:microsoft.com/office/officeart/2024/layout/NumberedTitleList"/>
    <dgm:cxn modelId="{F49E89F0-33C4-4126-8FC1-683BD88DBBF0}" type="presParOf" srcId="{645423F1-E1A0-4D48-80DF-C9049F845300}" destId="{D97B48F9-EA4F-4525-A42E-E4E4EA87FFF3}" srcOrd="1" destOrd="0" presId="urn:microsoft.com/office/officeart/2024/layout/NumberedTitleList"/>
    <dgm:cxn modelId="{C739A8D7-1624-46EE-8267-C8B035CFF824}" type="presParOf" srcId="{645423F1-E1A0-4D48-80DF-C9049F845300}" destId="{671F1CE3-7F9A-47C5-B3EC-FF386957B445}" srcOrd="2" destOrd="0" presId="urn:microsoft.com/office/officeart/2024/layout/NumberedTitleList"/>
    <dgm:cxn modelId="{33C8D7EB-E555-4D98-B4E6-3C68B533EEFB}" type="presParOf" srcId="{268B8406-A4F6-4848-8567-2DFDDECFC297}" destId="{491A381D-7AA9-478F-9821-7099F2BA3286}" srcOrd="3" destOrd="0" presId="urn:microsoft.com/office/officeart/2024/layout/NumberedTitleList"/>
    <dgm:cxn modelId="{8E4BCC10-6BE7-40FE-901F-68B402D3FB07}" type="presParOf" srcId="{268B8406-A4F6-4848-8567-2DFDDECFC297}" destId="{0F588DE2-FCA0-4914-8772-DA54C4B987D5}" srcOrd="4" destOrd="0" presId="urn:microsoft.com/office/officeart/2024/layout/NumberedTitleList"/>
    <dgm:cxn modelId="{1BF61BAF-A3CF-403F-8759-B93549D6BDC1}" type="presParOf" srcId="{0F588DE2-FCA0-4914-8772-DA54C4B987D5}" destId="{DE531CA8-7B74-45D7-8FAD-304025476BC8}" srcOrd="0" destOrd="0" presId="urn:microsoft.com/office/officeart/2024/layout/NumberedTitleList"/>
    <dgm:cxn modelId="{6F1054F3-6312-466D-9245-79098C4CD2D8}" type="presParOf" srcId="{0F588DE2-FCA0-4914-8772-DA54C4B987D5}" destId="{544809E0-7C37-4997-86B3-9C4E862C35A6}" srcOrd="1" destOrd="0" presId="urn:microsoft.com/office/officeart/2024/layout/NumberedTitleList"/>
    <dgm:cxn modelId="{7AD28967-9063-4D02-B036-3BEB998A58CB}" type="presParOf" srcId="{0F588DE2-FCA0-4914-8772-DA54C4B987D5}" destId="{647F9774-E86D-42DC-96F3-4752240345A4}" srcOrd="2" destOrd="0" presId="urn:microsoft.com/office/officeart/2024/layout/NumberedTitleList"/>
    <dgm:cxn modelId="{ABE1E93D-AA7E-4B8D-8709-E273364DE989}" type="presParOf" srcId="{268B8406-A4F6-4848-8567-2DFDDECFC297}" destId="{7ECC6C08-EC91-4A04-8643-974672D5FDB1}" srcOrd="5" destOrd="0" presId="urn:microsoft.com/office/officeart/2024/layout/NumberedTitleList"/>
    <dgm:cxn modelId="{32599646-39B6-4C54-AD81-76F541518A7D}" type="presParOf" srcId="{268B8406-A4F6-4848-8567-2DFDDECFC297}" destId="{B020F597-CFBF-4669-A726-EF707AF93C63}" srcOrd="6" destOrd="0" presId="urn:microsoft.com/office/officeart/2024/layout/NumberedTitleList"/>
    <dgm:cxn modelId="{0CFA2C03-D4D1-44EF-9874-AC7642C5BEEC}" type="presParOf" srcId="{B020F597-CFBF-4669-A726-EF707AF93C63}" destId="{517FEF0A-2117-499A-8092-50F5B442AFB1}" srcOrd="0" destOrd="0" presId="urn:microsoft.com/office/officeart/2024/layout/NumberedTitleList"/>
    <dgm:cxn modelId="{829E73E4-9E4F-499C-9E20-5AD2C9724178}" type="presParOf" srcId="{B020F597-CFBF-4669-A726-EF707AF93C63}" destId="{C4E69374-359D-4672-A273-217551FCB3DD}" srcOrd="1" destOrd="0" presId="urn:microsoft.com/office/officeart/2024/layout/NumberedTitleList"/>
    <dgm:cxn modelId="{01FEA666-0B0E-43F5-B5E8-C0F5A50451CC}" type="presParOf" srcId="{B020F597-CFBF-4669-A726-EF707AF93C63}" destId="{E15B3143-E7BD-4BE1-8AEC-521F606987F6}" srcOrd="2" destOrd="0" presId="urn:microsoft.com/office/officeart/2024/layout/NumberedTitleList"/>
    <dgm:cxn modelId="{74A24844-1A7A-4926-8FEC-573EE85DACD8}" type="presParOf" srcId="{268B8406-A4F6-4848-8567-2DFDDECFC297}" destId="{B5888B3A-4AB1-47E3-A7A2-7813D743E7A9}" srcOrd="7" destOrd="0" presId="urn:microsoft.com/office/officeart/2024/layout/NumberedTitleList"/>
    <dgm:cxn modelId="{FE85BD4B-DA7D-45FC-9630-F53814EA5962}" type="presParOf" srcId="{268B8406-A4F6-4848-8567-2DFDDECFC297}" destId="{B8579465-1937-477D-A483-06BD520923D8}" srcOrd="8" destOrd="0" presId="urn:microsoft.com/office/officeart/2024/layout/NumberedTitleList"/>
    <dgm:cxn modelId="{78996012-4FD3-4CA8-8F22-1918707FD70C}" type="presParOf" srcId="{B8579465-1937-477D-A483-06BD520923D8}" destId="{66FC6E9B-F3EF-43E9-9943-58C1B6614E49}" srcOrd="0" destOrd="0" presId="urn:microsoft.com/office/officeart/2024/layout/NumberedTitleList"/>
    <dgm:cxn modelId="{347B2282-F0D6-46FD-8701-637214A6B222}" type="presParOf" srcId="{B8579465-1937-477D-A483-06BD520923D8}" destId="{A99D634C-8FA9-428D-B814-C095A27CCF98}" srcOrd="1" destOrd="0" presId="urn:microsoft.com/office/officeart/2024/layout/NumberedTitleList"/>
    <dgm:cxn modelId="{565AA13F-C167-4DEA-A6B7-CBA7EF3F355C}" type="presParOf" srcId="{B8579465-1937-477D-A483-06BD520923D8}" destId="{2C1045AB-0AE4-4A52-9C32-25EB09AF61E2}" srcOrd="2" destOrd="0" presId="urn:microsoft.com/office/officeart/2024/layout/NumberedTit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1BAF782-D2C5-4EDF-ABDC-14C397F35B64}"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731A5938-10C6-49EF-A76F-9D165735C9A3}">
      <dgm:prSet/>
      <dgm:spPr/>
      <dgm:t>
        <a:bodyPr/>
        <a:lstStyle/>
        <a:p>
          <a:r>
            <a:rPr lang="en-US" dirty="0"/>
            <a:t>“New” records in Carrier Claims Post Migration</a:t>
          </a:r>
        </a:p>
      </dgm:t>
    </dgm:pt>
    <dgm:pt modelId="{D0F1BD9D-4DF1-41AB-B806-75D372F25EFF}" type="parTrans" cxnId="{3997A6FB-445B-45E5-815E-137CBB2259E9}">
      <dgm:prSet/>
      <dgm:spPr/>
      <dgm:t>
        <a:bodyPr/>
        <a:lstStyle/>
        <a:p>
          <a:endParaRPr lang="en-US"/>
        </a:p>
      </dgm:t>
    </dgm:pt>
    <dgm:pt modelId="{CF9B8650-6918-4F1B-B585-5A29BEF15EF8}" type="sibTrans" cxnId="{3997A6FB-445B-45E5-815E-137CBB2259E9}">
      <dgm:prSet/>
      <dgm:spPr/>
      <dgm:t>
        <a:bodyPr/>
        <a:lstStyle/>
        <a:p>
          <a:endParaRPr lang="en-US"/>
        </a:p>
      </dgm:t>
    </dgm:pt>
    <dgm:pt modelId="{058FE168-862A-489D-A928-EBCC574419B9}">
      <dgm:prSet custT="1"/>
      <dgm:spPr/>
      <dgm:t>
        <a:bodyPr/>
        <a:lstStyle/>
        <a:p>
          <a:r>
            <a:rPr lang="en-US" sz="1000" dirty="0"/>
            <a:t>4,777 orphans w/  2-key match </a:t>
          </a:r>
        </a:p>
        <a:p>
          <a:r>
            <a:rPr lang="en-US" sz="1000" dirty="0"/>
            <a:t>(DESYNPUF_ID | CLM_ID)</a:t>
          </a:r>
          <a:endParaRPr lang="en-US" sz="1200" dirty="0"/>
        </a:p>
      </dgm:t>
    </dgm:pt>
    <dgm:pt modelId="{3D649D39-1486-49AE-83CA-5EA662AFF09F}" type="parTrans" cxnId="{CB7C70CE-1C30-4C08-9D73-EFC6EC71BC30}">
      <dgm:prSet/>
      <dgm:spPr/>
      <dgm:t>
        <a:bodyPr/>
        <a:lstStyle/>
        <a:p>
          <a:endParaRPr lang="en-US"/>
        </a:p>
      </dgm:t>
    </dgm:pt>
    <dgm:pt modelId="{4751728D-93C8-40A3-BA51-766D89D269D7}" type="sibTrans" cxnId="{CB7C70CE-1C30-4C08-9D73-EFC6EC71BC30}">
      <dgm:prSet/>
      <dgm:spPr/>
      <dgm:t>
        <a:bodyPr/>
        <a:lstStyle/>
        <a:p>
          <a:endParaRPr lang="en-US"/>
        </a:p>
      </dgm:t>
    </dgm:pt>
    <dgm:pt modelId="{6CD61CEE-2794-4347-AFA4-79C7C242C7B3}">
      <dgm:prSet custT="1"/>
      <dgm:spPr/>
      <dgm:t>
        <a:bodyPr/>
        <a:lstStyle/>
        <a:p>
          <a:r>
            <a:rPr lang="en-US" sz="1000" dirty="0"/>
            <a:t>5,242 orphans w/ 4-key match</a:t>
          </a:r>
          <a:r>
            <a:rPr lang="en-US" sz="700" dirty="0"/>
            <a:t> </a:t>
          </a:r>
        </a:p>
        <a:p>
          <a:r>
            <a:rPr lang="en-US" sz="1000" dirty="0"/>
            <a:t>(DESYNPUF_ID | CLM_ID | CLM_FROM_DT | CLM_THRU_DT)</a:t>
          </a:r>
          <a:endParaRPr lang="en-US" sz="1200" dirty="0"/>
        </a:p>
      </dgm:t>
    </dgm:pt>
    <dgm:pt modelId="{FC190443-4A5E-4368-9341-408C03C79054}" type="parTrans" cxnId="{4AB7ACD6-4811-46FD-B075-6D936755581C}">
      <dgm:prSet/>
      <dgm:spPr/>
      <dgm:t>
        <a:bodyPr/>
        <a:lstStyle/>
        <a:p>
          <a:endParaRPr lang="en-US"/>
        </a:p>
      </dgm:t>
    </dgm:pt>
    <dgm:pt modelId="{30D352AA-61A5-469A-B81A-E897CDBA4212}" type="sibTrans" cxnId="{4AB7ACD6-4811-46FD-B075-6D936755581C}">
      <dgm:prSet/>
      <dgm:spPr/>
      <dgm:t>
        <a:bodyPr/>
        <a:lstStyle/>
        <a:p>
          <a:endParaRPr lang="en-US"/>
        </a:p>
      </dgm:t>
    </dgm:pt>
    <dgm:pt modelId="{43398807-A7B1-456E-AC85-F3F6546AD21B}" type="pres">
      <dgm:prSet presAssocID="{F1BAF782-D2C5-4EDF-ABDC-14C397F35B64}" presName="hierChild1" presStyleCnt="0">
        <dgm:presLayoutVars>
          <dgm:chPref val="1"/>
          <dgm:dir/>
          <dgm:animOne val="branch"/>
          <dgm:animLvl val="lvl"/>
          <dgm:resizeHandles/>
        </dgm:presLayoutVars>
      </dgm:prSet>
      <dgm:spPr/>
    </dgm:pt>
    <dgm:pt modelId="{434CE11D-0471-4380-A325-868C6B86F883}" type="pres">
      <dgm:prSet presAssocID="{731A5938-10C6-49EF-A76F-9D165735C9A3}" presName="hierRoot1" presStyleCnt="0"/>
      <dgm:spPr/>
    </dgm:pt>
    <dgm:pt modelId="{85A97221-79F2-4FC0-B42D-9A47F0BA0867}" type="pres">
      <dgm:prSet presAssocID="{731A5938-10C6-49EF-A76F-9D165735C9A3}" presName="composite" presStyleCnt="0"/>
      <dgm:spPr/>
    </dgm:pt>
    <dgm:pt modelId="{A822C619-C1B3-42B5-96E6-8D28EE037657}" type="pres">
      <dgm:prSet presAssocID="{731A5938-10C6-49EF-A76F-9D165735C9A3}" presName="background" presStyleLbl="node0" presStyleIdx="0" presStyleCnt="1"/>
      <dgm:spPr/>
    </dgm:pt>
    <dgm:pt modelId="{CF6DF9E7-AD26-47D0-A51C-917C62C1A9C2}" type="pres">
      <dgm:prSet presAssocID="{731A5938-10C6-49EF-A76F-9D165735C9A3}" presName="text" presStyleLbl="fgAcc0" presStyleIdx="0" presStyleCnt="1">
        <dgm:presLayoutVars>
          <dgm:chPref val="3"/>
        </dgm:presLayoutVars>
      </dgm:prSet>
      <dgm:spPr/>
    </dgm:pt>
    <dgm:pt modelId="{61037030-A901-440A-807B-DBD5F2C58693}" type="pres">
      <dgm:prSet presAssocID="{731A5938-10C6-49EF-A76F-9D165735C9A3}" presName="hierChild2" presStyleCnt="0"/>
      <dgm:spPr/>
    </dgm:pt>
    <dgm:pt modelId="{FCCDDD9C-2988-478F-AC31-6F15D736C1BD}" type="pres">
      <dgm:prSet presAssocID="{3D649D39-1486-49AE-83CA-5EA662AFF09F}" presName="Name10" presStyleLbl="parChTrans1D2" presStyleIdx="0" presStyleCnt="2"/>
      <dgm:spPr/>
    </dgm:pt>
    <dgm:pt modelId="{4BC8E425-97E2-4A2B-A871-CCEB9B093691}" type="pres">
      <dgm:prSet presAssocID="{058FE168-862A-489D-A928-EBCC574419B9}" presName="hierRoot2" presStyleCnt="0"/>
      <dgm:spPr/>
    </dgm:pt>
    <dgm:pt modelId="{10D62AC7-0099-4977-8330-826361C83B06}" type="pres">
      <dgm:prSet presAssocID="{058FE168-862A-489D-A928-EBCC574419B9}" presName="composite2" presStyleCnt="0"/>
      <dgm:spPr/>
    </dgm:pt>
    <dgm:pt modelId="{9CCD74D7-A081-4AB4-A18C-FBC4B1D5712E}" type="pres">
      <dgm:prSet presAssocID="{058FE168-862A-489D-A928-EBCC574419B9}" presName="background2" presStyleLbl="node2" presStyleIdx="0" presStyleCnt="2"/>
      <dgm:spPr/>
    </dgm:pt>
    <dgm:pt modelId="{01EEA055-7962-4AE7-B3BE-ABD9C2517D22}" type="pres">
      <dgm:prSet presAssocID="{058FE168-862A-489D-A928-EBCC574419B9}" presName="text2" presStyleLbl="fgAcc2" presStyleIdx="0" presStyleCnt="2">
        <dgm:presLayoutVars>
          <dgm:chPref val="3"/>
        </dgm:presLayoutVars>
      </dgm:prSet>
      <dgm:spPr/>
    </dgm:pt>
    <dgm:pt modelId="{A9F2FC12-31CF-403C-AFBA-505E41330AC0}" type="pres">
      <dgm:prSet presAssocID="{058FE168-862A-489D-A928-EBCC574419B9}" presName="hierChild3" presStyleCnt="0"/>
      <dgm:spPr/>
    </dgm:pt>
    <dgm:pt modelId="{7BBAB04E-94EC-4BE1-ACBF-E7FC0115A0F1}" type="pres">
      <dgm:prSet presAssocID="{FC190443-4A5E-4368-9341-408C03C79054}" presName="Name10" presStyleLbl="parChTrans1D2" presStyleIdx="1" presStyleCnt="2"/>
      <dgm:spPr/>
    </dgm:pt>
    <dgm:pt modelId="{110CC7A6-0069-4EBE-806B-B6595D055BA3}" type="pres">
      <dgm:prSet presAssocID="{6CD61CEE-2794-4347-AFA4-79C7C242C7B3}" presName="hierRoot2" presStyleCnt="0"/>
      <dgm:spPr/>
    </dgm:pt>
    <dgm:pt modelId="{D3E76DC4-627F-4ECB-AC7A-DF86557FD602}" type="pres">
      <dgm:prSet presAssocID="{6CD61CEE-2794-4347-AFA4-79C7C242C7B3}" presName="composite2" presStyleCnt="0"/>
      <dgm:spPr/>
    </dgm:pt>
    <dgm:pt modelId="{73F3B73A-45AD-4615-A413-051B2773216A}" type="pres">
      <dgm:prSet presAssocID="{6CD61CEE-2794-4347-AFA4-79C7C242C7B3}" presName="background2" presStyleLbl="node2" presStyleIdx="1" presStyleCnt="2"/>
      <dgm:spPr/>
    </dgm:pt>
    <dgm:pt modelId="{032AC25B-7898-4A7F-92FC-18DF4B9E28A6}" type="pres">
      <dgm:prSet presAssocID="{6CD61CEE-2794-4347-AFA4-79C7C242C7B3}" presName="text2" presStyleLbl="fgAcc2" presStyleIdx="1" presStyleCnt="2">
        <dgm:presLayoutVars>
          <dgm:chPref val="3"/>
        </dgm:presLayoutVars>
      </dgm:prSet>
      <dgm:spPr/>
    </dgm:pt>
    <dgm:pt modelId="{FA3EC74A-C242-437E-8152-D83942D3FA26}" type="pres">
      <dgm:prSet presAssocID="{6CD61CEE-2794-4347-AFA4-79C7C242C7B3}" presName="hierChild3" presStyleCnt="0"/>
      <dgm:spPr/>
    </dgm:pt>
  </dgm:ptLst>
  <dgm:cxnLst>
    <dgm:cxn modelId="{ED695D02-682E-467B-8380-BE5CC1AD0FFA}" type="presOf" srcId="{6CD61CEE-2794-4347-AFA4-79C7C242C7B3}" destId="{032AC25B-7898-4A7F-92FC-18DF4B9E28A6}" srcOrd="0" destOrd="0" presId="urn:microsoft.com/office/officeart/2005/8/layout/hierarchy1"/>
    <dgm:cxn modelId="{8680C53E-8AEE-4982-8D7D-98DC8C8788F9}" type="presOf" srcId="{F1BAF782-D2C5-4EDF-ABDC-14C397F35B64}" destId="{43398807-A7B1-456E-AC85-F3F6546AD21B}" srcOrd="0" destOrd="0" presId="urn:microsoft.com/office/officeart/2005/8/layout/hierarchy1"/>
    <dgm:cxn modelId="{B882CA65-1D16-4122-9871-FEE5CF545E9E}" type="presOf" srcId="{731A5938-10C6-49EF-A76F-9D165735C9A3}" destId="{CF6DF9E7-AD26-47D0-A51C-917C62C1A9C2}" srcOrd="0" destOrd="0" presId="urn:microsoft.com/office/officeart/2005/8/layout/hierarchy1"/>
    <dgm:cxn modelId="{5E182C81-19B8-441C-87FE-C745DC07A721}" type="presOf" srcId="{058FE168-862A-489D-A928-EBCC574419B9}" destId="{01EEA055-7962-4AE7-B3BE-ABD9C2517D22}" srcOrd="0" destOrd="0" presId="urn:microsoft.com/office/officeart/2005/8/layout/hierarchy1"/>
    <dgm:cxn modelId="{46F556A6-95CA-4F19-AD97-810AD95AEFFE}" type="presOf" srcId="{3D649D39-1486-49AE-83CA-5EA662AFF09F}" destId="{FCCDDD9C-2988-478F-AC31-6F15D736C1BD}" srcOrd="0" destOrd="0" presId="urn:microsoft.com/office/officeart/2005/8/layout/hierarchy1"/>
    <dgm:cxn modelId="{CB7C70CE-1C30-4C08-9D73-EFC6EC71BC30}" srcId="{731A5938-10C6-49EF-A76F-9D165735C9A3}" destId="{058FE168-862A-489D-A928-EBCC574419B9}" srcOrd="0" destOrd="0" parTransId="{3D649D39-1486-49AE-83CA-5EA662AFF09F}" sibTransId="{4751728D-93C8-40A3-BA51-766D89D269D7}"/>
    <dgm:cxn modelId="{4AB7ACD6-4811-46FD-B075-6D936755581C}" srcId="{731A5938-10C6-49EF-A76F-9D165735C9A3}" destId="{6CD61CEE-2794-4347-AFA4-79C7C242C7B3}" srcOrd="1" destOrd="0" parTransId="{FC190443-4A5E-4368-9341-408C03C79054}" sibTransId="{30D352AA-61A5-469A-B81A-E897CDBA4212}"/>
    <dgm:cxn modelId="{A08C07FA-51F6-4F7F-84CD-15301D5B0D23}" type="presOf" srcId="{FC190443-4A5E-4368-9341-408C03C79054}" destId="{7BBAB04E-94EC-4BE1-ACBF-E7FC0115A0F1}" srcOrd="0" destOrd="0" presId="urn:microsoft.com/office/officeart/2005/8/layout/hierarchy1"/>
    <dgm:cxn modelId="{3997A6FB-445B-45E5-815E-137CBB2259E9}" srcId="{F1BAF782-D2C5-4EDF-ABDC-14C397F35B64}" destId="{731A5938-10C6-49EF-A76F-9D165735C9A3}" srcOrd="0" destOrd="0" parTransId="{D0F1BD9D-4DF1-41AB-B806-75D372F25EFF}" sibTransId="{CF9B8650-6918-4F1B-B585-5A29BEF15EF8}"/>
    <dgm:cxn modelId="{A33EF183-2AC4-4452-A981-F1D3A05CE4BB}" type="presParOf" srcId="{43398807-A7B1-456E-AC85-F3F6546AD21B}" destId="{434CE11D-0471-4380-A325-868C6B86F883}" srcOrd="0" destOrd="0" presId="urn:microsoft.com/office/officeart/2005/8/layout/hierarchy1"/>
    <dgm:cxn modelId="{DEDF8FD4-7E23-42AD-AABE-195954D05C9B}" type="presParOf" srcId="{434CE11D-0471-4380-A325-868C6B86F883}" destId="{85A97221-79F2-4FC0-B42D-9A47F0BA0867}" srcOrd="0" destOrd="0" presId="urn:microsoft.com/office/officeart/2005/8/layout/hierarchy1"/>
    <dgm:cxn modelId="{773BB409-477D-4A70-853A-E45AA809808B}" type="presParOf" srcId="{85A97221-79F2-4FC0-B42D-9A47F0BA0867}" destId="{A822C619-C1B3-42B5-96E6-8D28EE037657}" srcOrd="0" destOrd="0" presId="urn:microsoft.com/office/officeart/2005/8/layout/hierarchy1"/>
    <dgm:cxn modelId="{82AE55EC-4AFD-40CE-9468-ABF440679C48}" type="presParOf" srcId="{85A97221-79F2-4FC0-B42D-9A47F0BA0867}" destId="{CF6DF9E7-AD26-47D0-A51C-917C62C1A9C2}" srcOrd="1" destOrd="0" presId="urn:microsoft.com/office/officeart/2005/8/layout/hierarchy1"/>
    <dgm:cxn modelId="{AECAC1A2-6B6C-48DC-AD16-EA44D8F62B1F}" type="presParOf" srcId="{434CE11D-0471-4380-A325-868C6B86F883}" destId="{61037030-A901-440A-807B-DBD5F2C58693}" srcOrd="1" destOrd="0" presId="urn:microsoft.com/office/officeart/2005/8/layout/hierarchy1"/>
    <dgm:cxn modelId="{C0249055-CDD3-4F4A-B8DF-F1C338F0F0E9}" type="presParOf" srcId="{61037030-A901-440A-807B-DBD5F2C58693}" destId="{FCCDDD9C-2988-478F-AC31-6F15D736C1BD}" srcOrd="0" destOrd="0" presId="urn:microsoft.com/office/officeart/2005/8/layout/hierarchy1"/>
    <dgm:cxn modelId="{D5CA45C8-29ED-44CA-9FF7-45555721578E}" type="presParOf" srcId="{61037030-A901-440A-807B-DBD5F2C58693}" destId="{4BC8E425-97E2-4A2B-A871-CCEB9B093691}" srcOrd="1" destOrd="0" presId="urn:microsoft.com/office/officeart/2005/8/layout/hierarchy1"/>
    <dgm:cxn modelId="{C9B0380E-0725-4173-A28C-6A30D655D1B2}" type="presParOf" srcId="{4BC8E425-97E2-4A2B-A871-CCEB9B093691}" destId="{10D62AC7-0099-4977-8330-826361C83B06}" srcOrd="0" destOrd="0" presId="urn:microsoft.com/office/officeart/2005/8/layout/hierarchy1"/>
    <dgm:cxn modelId="{100D78B6-A907-443A-84B9-10FE9DF58EDC}" type="presParOf" srcId="{10D62AC7-0099-4977-8330-826361C83B06}" destId="{9CCD74D7-A081-4AB4-A18C-FBC4B1D5712E}" srcOrd="0" destOrd="0" presId="urn:microsoft.com/office/officeart/2005/8/layout/hierarchy1"/>
    <dgm:cxn modelId="{1BD59936-0167-472D-B5A5-24F01FD0C3DF}" type="presParOf" srcId="{10D62AC7-0099-4977-8330-826361C83B06}" destId="{01EEA055-7962-4AE7-B3BE-ABD9C2517D22}" srcOrd="1" destOrd="0" presId="urn:microsoft.com/office/officeart/2005/8/layout/hierarchy1"/>
    <dgm:cxn modelId="{B439B693-73D2-49D1-BF6A-EFFE1E9214E7}" type="presParOf" srcId="{4BC8E425-97E2-4A2B-A871-CCEB9B093691}" destId="{A9F2FC12-31CF-403C-AFBA-505E41330AC0}" srcOrd="1" destOrd="0" presId="urn:microsoft.com/office/officeart/2005/8/layout/hierarchy1"/>
    <dgm:cxn modelId="{D5A92C0E-E8DE-4403-BB27-E85E266E2A00}" type="presParOf" srcId="{61037030-A901-440A-807B-DBD5F2C58693}" destId="{7BBAB04E-94EC-4BE1-ACBF-E7FC0115A0F1}" srcOrd="2" destOrd="0" presId="urn:microsoft.com/office/officeart/2005/8/layout/hierarchy1"/>
    <dgm:cxn modelId="{B739D4A1-AA91-43ED-A7A5-706843297537}" type="presParOf" srcId="{61037030-A901-440A-807B-DBD5F2C58693}" destId="{110CC7A6-0069-4EBE-806B-B6595D055BA3}" srcOrd="3" destOrd="0" presId="urn:microsoft.com/office/officeart/2005/8/layout/hierarchy1"/>
    <dgm:cxn modelId="{CA4BDB25-8024-49B5-B0AD-E765F945CB70}" type="presParOf" srcId="{110CC7A6-0069-4EBE-806B-B6595D055BA3}" destId="{D3E76DC4-627F-4ECB-AC7A-DF86557FD602}" srcOrd="0" destOrd="0" presId="urn:microsoft.com/office/officeart/2005/8/layout/hierarchy1"/>
    <dgm:cxn modelId="{51940E12-5377-4D53-BB8B-FC1EB6093EE6}" type="presParOf" srcId="{D3E76DC4-627F-4ECB-AC7A-DF86557FD602}" destId="{73F3B73A-45AD-4615-A413-051B2773216A}" srcOrd="0" destOrd="0" presId="urn:microsoft.com/office/officeart/2005/8/layout/hierarchy1"/>
    <dgm:cxn modelId="{288F3FDC-D011-4E61-8579-18934FD41E8D}" type="presParOf" srcId="{D3E76DC4-627F-4ECB-AC7A-DF86557FD602}" destId="{032AC25B-7898-4A7F-92FC-18DF4B9E28A6}" srcOrd="1" destOrd="0" presId="urn:microsoft.com/office/officeart/2005/8/layout/hierarchy1"/>
    <dgm:cxn modelId="{DF11A68F-D9C5-4565-8A00-196E290F9185}" type="presParOf" srcId="{110CC7A6-0069-4EBE-806B-B6595D055BA3}" destId="{FA3EC74A-C242-437E-8152-D83942D3FA2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51E068B-F3AA-4907-8942-A69A82F5A497}" type="doc">
      <dgm:prSet loTypeId="urn:microsoft.com/office/officeart/2005/8/layout/arrow5" loCatId="relationship" qsTypeId="urn:microsoft.com/office/officeart/2005/8/quickstyle/simple1" qsCatId="simple" csTypeId="urn:microsoft.com/office/officeart/2005/8/colors/accent1_2" csCatId="accent1" phldr="1"/>
      <dgm:spPr/>
      <dgm:t>
        <a:bodyPr/>
        <a:lstStyle/>
        <a:p>
          <a:endParaRPr lang="en-US"/>
        </a:p>
      </dgm:t>
    </dgm:pt>
    <dgm:pt modelId="{29E94DCE-E350-4479-AAAB-353CDD2B3A30}">
      <dgm:prSet phldrT="[Text]" phldr="0"/>
      <dgm:spPr/>
      <dgm:t>
        <a:bodyPr/>
        <a:lstStyle/>
        <a:p>
          <a:r>
            <a:rPr lang="en-US" dirty="0"/>
            <a:t>159 Missing in New File</a:t>
          </a:r>
        </a:p>
      </dgm:t>
    </dgm:pt>
    <dgm:pt modelId="{69156A9C-FAF7-4DD3-AA8A-3A8D474A8C4A}" type="parTrans" cxnId="{5E6829BC-4546-48FA-AC82-F0F76A01F488}">
      <dgm:prSet/>
      <dgm:spPr/>
      <dgm:t>
        <a:bodyPr/>
        <a:lstStyle/>
        <a:p>
          <a:endParaRPr lang="en-US"/>
        </a:p>
      </dgm:t>
    </dgm:pt>
    <dgm:pt modelId="{FF2DFAC0-C5D6-4068-A372-A7C58BC0091A}" type="sibTrans" cxnId="{5E6829BC-4546-48FA-AC82-F0F76A01F488}">
      <dgm:prSet/>
      <dgm:spPr/>
      <dgm:t>
        <a:bodyPr/>
        <a:lstStyle/>
        <a:p>
          <a:endParaRPr lang="en-US"/>
        </a:p>
      </dgm:t>
    </dgm:pt>
    <dgm:pt modelId="{AF094EF6-8633-456E-99D7-9B703F61D54B}">
      <dgm:prSet phldrT="[Text]" phldr="0"/>
      <dgm:spPr/>
      <dgm:t>
        <a:bodyPr/>
        <a:lstStyle/>
        <a:p>
          <a:r>
            <a:rPr lang="en-US" dirty="0"/>
            <a:t>159 Missing in Original file</a:t>
          </a:r>
        </a:p>
      </dgm:t>
    </dgm:pt>
    <dgm:pt modelId="{6BA52176-F306-4B12-A77A-66AE2163E981}" type="parTrans" cxnId="{2063CE93-610E-499A-A318-E11802380DF6}">
      <dgm:prSet/>
      <dgm:spPr/>
      <dgm:t>
        <a:bodyPr/>
        <a:lstStyle/>
        <a:p>
          <a:endParaRPr lang="en-US"/>
        </a:p>
      </dgm:t>
    </dgm:pt>
    <dgm:pt modelId="{5F31A5E3-E719-47E9-A82A-AE19C8C385AF}" type="sibTrans" cxnId="{2063CE93-610E-499A-A318-E11802380DF6}">
      <dgm:prSet/>
      <dgm:spPr/>
      <dgm:t>
        <a:bodyPr/>
        <a:lstStyle/>
        <a:p>
          <a:endParaRPr lang="en-US"/>
        </a:p>
      </dgm:t>
    </dgm:pt>
    <dgm:pt modelId="{4053D8D8-082D-4FF8-8253-DBE74E752B58}" type="pres">
      <dgm:prSet presAssocID="{951E068B-F3AA-4907-8942-A69A82F5A497}" presName="diagram" presStyleCnt="0">
        <dgm:presLayoutVars>
          <dgm:dir/>
          <dgm:resizeHandles val="exact"/>
        </dgm:presLayoutVars>
      </dgm:prSet>
      <dgm:spPr/>
    </dgm:pt>
    <dgm:pt modelId="{FD91C2ED-252C-4124-BBDB-F1BE4F7B8688}" type="pres">
      <dgm:prSet presAssocID="{29E94DCE-E350-4479-AAAB-353CDD2B3A30}" presName="arrow" presStyleLbl="node1" presStyleIdx="0" presStyleCnt="2">
        <dgm:presLayoutVars>
          <dgm:bulletEnabled val="1"/>
        </dgm:presLayoutVars>
      </dgm:prSet>
      <dgm:spPr/>
    </dgm:pt>
    <dgm:pt modelId="{FCC8B91E-1D3A-49C0-A6A0-7FAB1042BB49}" type="pres">
      <dgm:prSet presAssocID="{AF094EF6-8633-456E-99D7-9B703F61D54B}" presName="arrow" presStyleLbl="node1" presStyleIdx="1" presStyleCnt="2">
        <dgm:presLayoutVars>
          <dgm:bulletEnabled val="1"/>
        </dgm:presLayoutVars>
      </dgm:prSet>
      <dgm:spPr/>
    </dgm:pt>
  </dgm:ptLst>
  <dgm:cxnLst>
    <dgm:cxn modelId="{CB86FA02-BA20-461E-A0C3-125AC4989893}" type="presOf" srcId="{AF094EF6-8633-456E-99D7-9B703F61D54B}" destId="{FCC8B91E-1D3A-49C0-A6A0-7FAB1042BB49}" srcOrd="0" destOrd="0" presId="urn:microsoft.com/office/officeart/2005/8/layout/arrow5"/>
    <dgm:cxn modelId="{93D7CA4C-11C2-47CA-86F0-F1A04E9712B8}" type="presOf" srcId="{951E068B-F3AA-4907-8942-A69A82F5A497}" destId="{4053D8D8-082D-4FF8-8253-DBE74E752B58}" srcOrd="0" destOrd="0" presId="urn:microsoft.com/office/officeart/2005/8/layout/arrow5"/>
    <dgm:cxn modelId="{94F35193-316E-4B4D-AB63-E45A37A0B5A9}" type="presOf" srcId="{29E94DCE-E350-4479-AAAB-353CDD2B3A30}" destId="{FD91C2ED-252C-4124-BBDB-F1BE4F7B8688}" srcOrd="0" destOrd="0" presId="urn:microsoft.com/office/officeart/2005/8/layout/arrow5"/>
    <dgm:cxn modelId="{2063CE93-610E-499A-A318-E11802380DF6}" srcId="{951E068B-F3AA-4907-8942-A69A82F5A497}" destId="{AF094EF6-8633-456E-99D7-9B703F61D54B}" srcOrd="1" destOrd="0" parTransId="{6BA52176-F306-4B12-A77A-66AE2163E981}" sibTransId="{5F31A5E3-E719-47E9-A82A-AE19C8C385AF}"/>
    <dgm:cxn modelId="{5E6829BC-4546-48FA-AC82-F0F76A01F488}" srcId="{951E068B-F3AA-4907-8942-A69A82F5A497}" destId="{29E94DCE-E350-4479-AAAB-353CDD2B3A30}" srcOrd="0" destOrd="0" parTransId="{69156A9C-FAF7-4DD3-AA8A-3A8D474A8C4A}" sibTransId="{FF2DFAC0-C5D6-4068-A372-A7C58BC0091A}"/>
    <dgm:cxn modelId="{DB71CE0E-4AE4-4F3C-AC72-562CA5A8596D}" type="presParOf" srcId="{4053D8D8-082D-4FF8-8253-DBE74E752B58}" destId="{FD91C2ED-252C-4124-BBDB-F1BE4F7B8688}" srcOrd="0" destOrd="0" presId="urn:microsoft.com/office/officeart/2005/8/layout/arrow5"/>
    <dgm:cxn modelId="{EA25B764-ACA3-4C0D-8CBF-0BDDCF301E0C}" type="presParOf" srcId="{4053D8D8-082D-4FF8-8253-DBE74E752B58}" destId="{FCC8B91E-1D3A-49C0-A6A0-7FAB1042BB49}"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B5F947-9585-4EE0-9EA7-664FE23CC481}">
      <dsp:nvSpPr>
        <dsp:cNvPr id="0" name=""/>
        <dsp:cNvSpPr/>
      </dsp:nvSpPr>
      <dsp:spPr>
        <a:xfrm>
          <a:off x="2778" y="1656424"/>
          <a:ext cx="1504156" cy="2105818"/>
        </a:xfrm>
        <a:prstGeom prst="roundRect">
          <a:avLst>
            <a:gd name="adj" fmla="val 10000"/>
          </a:avLst>
        </a:prstGeom>
        <a:solidFill>
          <a:schemeClr val="lt1">
            <a:alpha val="9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9595" tIns="330200" rIns="79595" bIns="330200" numCol="1" spcCol="1270" anchor="ctr" anchorCtr="0">
          <a:noAutofit/>
        </a:bodyPr>
        <a:lstStyle/>
        <a:p>
          <a:pPr marL="0" lvl="0" indent="0" algn="ctr" defTabSz="622300">
            <a:lnSpc>
              <a:spcPct val="100000"/>
            </a:lnSpc>
            <a:spcBef>
              <a:spcPct val="0"/>
            </a:spcBef>
            <a:spcAft>
              <a:spcPct val="35000"/>
            </a:spcAft>
            <a:buNone/>
          </a:pPr>
          <a:r>
            <a:rPr lang="en-US" sz="1400" kern="1200" dirty="0"/>
            <a:t>Ingest</a:t>
          </a:r>
        </a:p>
      </dsp:txBody>
      <dsp:txXfrm>
        <a:off x="2778" y="2667217"/>
        <a:ext cx="1504156" cy="1095025"/>
      </dsp:txXfrm>
    </dsp:sp>
    <dsp:sp modelId="{93C2D19F-9856-46F9-9A01-24F2FE34D1B9}">
      <dsp:nvSpPr>
        <dsp:cNvPr id="0" name=""/>
        <dsp:cNvSpPr/>
      </dsp:nvSpPr>
      <dsp:spPr>
        <a:xfrm>
          <a:off x="333692" y="1814360"/>
          <a:ext cx="842327" cy="842327"/>
        </a:xfrm>
        <a:prstGeom prst="ellipse">
          <a:avLst/>
        </a:prstGeom>
        <a:solidFill>
          <a:schemeClr val="accent1">
            <a:alpha val="9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573" tIns="12700" rIns="44573" bIns="12700" numCol="1" spcCol="1270" anchor="ctr" anchorCtr="0">
          <a:noAutofit/>
        </a:bodyPr>
        <a:lstStyle/>
        <a:p>
          <a:pPr marL="0" lvl="0" indent="0" algn="ctr" defTabSz="1778000">
            <a:lnSpc>
              <a:spcPct val="90000"/>
            </a:lnSpc>
            <a:spcBef>
              <a:spcPct val="0"/>
            </a:spcBef>
            <a:spcAft>
              <a:spcPct val="35000"/>
            </a:spcAft>
            <a:buNone/>
          </a:pPr>
          <a:r>
            <a:rPr lang="en-US" sz="4000" kern="1200"/>
            <a:t>1</a:t>
          </a:r>
        </a:p>
      </dsp:txBody>
      <dsp:txXfrm>
        <a:off x="457048" y="1937716"/>
        <a:ext cx="595615" cy="595615"/>
      </dsp:txXfrm>
    </dsp:sp>
    <dsp:sp modelId="{2C66531E-0408-4D51-8981-E50892E5C98F}">
      <dsp:nvSpPr>
        <dsp:cNvPr id="0" name=""/>
        <dsp:cNvSpPr/>
      </dsp:nvSpPr>
      <dsp:spPr>
        <a:xfrm>
          <a:off x="1657350" y="1656424"/>
          <a:ext cx="1504156" cy="2105818"/>
        </a:xfrm>
        <a:prstGeom prst="roundRect">
          <a:avLst>
            <a:gd name="adj" fmla="val 10000"/>
          </a:avLst>
        </a:prstGeom>
        <a:solidFill>
          <a:schemeClr val="lt1">
            <a:alpha val="90000"/>
            <a:hueOff val="0"/>
            <a:satOff val="0"/>
            <a:lumOff val="0"/>
            <a:alphaOff val="0"/>
          </a:schemeClr>
        </a:solidFill>
        <a:ln w="19050" cap="flat" cmpd="sng" algn="ctr">
          <a:solidFill>
            <a:schemeClr val="accent1">
              <a:alpha val="90000"/>
              <a:hueOff val="0"/>
              <a:satOff val="0"/>
              <a:lumOff val="0"/>
              <a:alphaOff val="-1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9595" tIns="330200" rIns="79595" bIns="330200" numCol="1" spcCol="1270" anchor="ctr" anchorCtr="0">
          <a:noAutofit/>
        </a:bodyPr>
        <a:lstStyle/>
        <a:p>
          <a:pPr marL="0" lvl="0" indent="0" algn="ctr" defTabSz="622300">
            <a:lnSpc>
              <a:spcPct val="100000"/>
            </a:lnSpc>
            <a:spcBef>
              <a:spcPct val="0"/>
            </a:spcBef>
            <a:spcAft>
              <a:spcPct val="35000"/>
            </a:spcAft>
            <a:buNone/>
          </a:pPr>
          <a:r>
            <a:rPr lang="en-US" sz="1400" kern="1200" dirty="0"/>
            <a:t>Validate &amp; Transform</a:t>
          </a:r>
        </a:p>
      </dsp:txBody>
      <dsp:txXfrm>
        <a:off x="1657350" y="2667217"/>
        <a:ext cx="1504156" cy="1095025"/>
      </dsp:txXfrm>
    </dsp:sp>
    <dsp:sp modelId="{D97B48F9-EA4F-4525-A42E-E4E4EA87FFF3}">
      <dsp:nvSpPr>
        <dsp:cNvPr id="0" name=""/>
        <dsp:cNvSpPr/>
      </dsp:nvSpPr>
      <dsp:spPr>
        <a:xfrm>
          <a:off x="1988264" y="1814360"/>
          <a:ext cx="842327" cy="842327"/>
        </a:xfrm>
        <a:prstGeom prst="ellipse">
          <a:avLst/>
        </a:prstGeom>
        <a:solidFill>
          <a:schemeClr val="accent1">
            <a:alpha val="90000"/>
            <a:hueOff val="0"/>
            <a:satOff val="0"/>
            <a:lumOff val="0"/>
            <a:alphaOff val="-10000"/>
          </a:schemeClr>
        </a:solidFill>
        <a:ln w="19050" cap="flat" cmpd="sng" algn="ctr">
          <a:solidFill>
            <a:schemeClr val="accent1">
              <a:alpha val="90000"/>
              <a:hueOff val="0"/>
              <a:satOff val="0"/>
              <a:lumOff val="0"/>
              <a:alphaOff val="-1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573" tIns="12700" rIns="44573" bIns="12700" numCol="1" spcCol="1270" anchor="ctr" anchorCtr="0">
          <a:noAutofit/>
        </a:bodyPr>
        <a:lstStyle/>
        <a:p>
          <a:pPr marL="0" lvl="0" indent="0" algn="ctr" defTabSz="1778000">
            <a:lnSpc>
              <a:spcPct val="90000"/>
            </a:lnSpc>
            <a:spcBef>
              <a:spcPct val="0"/>
            </a:spcBef>
            <a:spcAft>
              <a:spcPct val="35000"/>
            </a:spcAft>
            <a:buNone/>
          </a:pPr>
          <a:r>
            <a:rPr lang="en-US" sz="4000" kern="1200"/>
            <a:t>2</a:t>
          </a:r>
        </a:p>
      </dsp:txBody>
      <dsp:txXfrm>
        <a:off x="2111620" y="1937716"/>
        <a:ext cx="595615" cy="595615"/>
      </dsp:txXfrm>
    </dsp:sp>
    <dsp:sp modelId="{DE531CA8-7B74-45D7-8FAD-304025476BC8}">
      <dsp:nvSpPr>
        <dsp:cNvPr id="0" name=""/>
        <dsp:cNvSpPr/>
      </dsp:nvSpPr>
      <dsp:spPr>
        <a:xfrm>
          <a:off x="3311921" y="1656424"/>
          <a:ext cx="1504156" cy="2105818"/>
        </a:xfrm>
        <a:prstGeom prst="roundRect">
          <a:avLst>
            <a:gd name="adj" fmla="val 10000"/>
          </a:avLst>
        </a:prstGeom>
        <a:solidFill>
          <a:schemeClr val="lt1">
            <a:alpha val="90000"/>
            <a:hueOff val="0"/>
            <a:satOff val="0"/>
            <a:lumOff val="0"/>
            <a:alphaOff val="0"/>
          </a:schemeClr>
        </a:solidFill>
        <a:ln w="19050" cap="flat" cmpd="sng" algn="ctr">
          <a:solidFill>
            <a:schemeClr val="accent1">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9595" tIns="330200" rIns="79595" bIns="330200" numCol="1" spcCol="1270" anchor="ctr" anchorCtr="0">
          <a:noAutofit/>
        </a:bodyPr>
        <a:lstStyle/>
        <a:p>
          <a:pPr marL="0" lvl="0" indent="0" algn="ctr" defTabSz="622300">
            <a:lnSpc>
              <a:spcPct val="100000"/>
            </a:lnSpc>
            <a:spcBef>
              <a:spcPct val="0"/>
            </a:spcBef>
            <a:spcAft>
              <a:spcPct val="35000"/>
            </a:spcAft>
            <a:buNone/>
          </a:pPr>
          <a:r>
            <a:rPr lang="en-US" sz="1400" kern="1200" dirty="0"/>
            <a:t>Analyze</a:t>
          </a:r>
        </a:p>
      </dsp:txBody>
      <dsp:txXfrm>
        <a:off x="3311921" y="2667217"/>
        <a:ext cx="1504156" cy="1095025"/>
      </dsp:txXfrm>
    </dsp:sp>
    <dsp:sp modelId="{544809E0-7C37-4997-86B3-9C4E862C35A6}">
      <dsp:nvSpPr>
        <dsp:cNvPr id="0" name=""/>
        <dsp:cNvSpPr/>
      </dsp:nvSpPr>
      <dsp:spPr>
        <a:xfrm>
          <a:off x="3642836" y="1814360"/>
          <a:ext cx="842327" cy="842327"/>
        </a:xfrm>
        <a:prstGeom prst="ellipse">
          <a:avLst/>
        </a:prstGeom>
        <a:solidFill>
          <a:schemeClr val="accent1">
            <a:alpha val="90000"/>
            <a:hueOff val="0"/>
            <a:satOff val="0"/>
            <a:lumOff val="0"/>
            <a:alphaOff val="-20000"/>
          </a:schemeClr>
        </a:solidFill>
        <a:ln w="19050" cap="flat" cmpd="sng" algn="ctr">
          <a:solidFill>
            <a:schemeClr val="accent1">
              <a:alpha val="90000"/>
              <a:hueOff val="0"/>
              <a:satOff val="0"/>
              <a:lumOff val="0"/>
              <a:alphaOff val="-2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573" tIns="12700" rIns="44573" bIns="12700" numCol="1" spcCol="1270" anchor="ctr" anchorCtr="0">
          <a:noAutofit/>
        </a:bodyPr>
        <a:lstStyle/>
        <a:p>
          <a:pPr marL="0" lvl="0" indent="0" algn="ctr" defTabSz="1778000">
            <a:lnSpc>
              <a:spcPct val="90000"/>
            </a:lnSpc>
            <a:spcBef>
              <a:spcPct val="0"/>
            </a:spcBef>
            <a:spcAft>
              <a:spcPct val="35000"/>
            </a:spcAft>
            <a:buNone/>
          </a:pPr>
          <a:r>
            <a:rPr lang="en-US" sz="4000" kern="1200"/>
            <a:t>3</a:t>
          </a:r>
        </a:p>
      </dsp:txBody>
      <dsp:txXfrm>
        <a:off x="3766192" y="1937716"/>
        <a:ext cx="595615" cy="595615"/>
      </dsp:txXfrm>
    </dsp:sp>
    <dsp:sp modelId="{517FEF0A-2117-499A-8092-50F5B442AFB1}">
      <dsp:nvSpPr>
        <dsp:cNvPr id="0" name=""/>
        <dsp:cNvSpPr/>
      </dsp:nvSpPr>
      <dsp:spPr>
        <a:xfrm>
          <a:off x="4966493" y="1656424"/>
          <a:ext cx="1504156" cy="2105818"/>
        </a:xfrm>
        <a:prstGeom prst="roundRect">
          <a:avLst>
            <a:gd name="adj" fmla="val 10000"/>
          </a:avLst>
        </a:prstGeom>
        <a:solidFill>
          <a:schemeClr val="lt1">
            <a:alpha val="90000"/>
            <a:hueOff val="0"/>
            <a:satOff val="0"/>
            <a:lumOff val="0"/>
            <a:alphaOff val="0"/>
          </a:schemeClr>
        </a:solidFill>
        <a:ln w="19050" cap="flat" cmpd="sng" algn="ctr">
          <a:solidFill>
            <a:schemeClr val="accent1">
              <a:alpha val="90000"/>
              <a:hueOff val="0"/>
              <a:satOff val="0"/>
              <a:lumOff val="0"/>
              <a:alphaOff val="-3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9595" tIns="330200" rIns="79595" bIns="330200" numCol="1" spcCol="1270" anchor="ctr" anchorCtr="0">
          <a:noAutofit/>
        </a:bodyPr>
        <a:lstStyle/>
        <a:p>
          <a:pPr marL="0" lvl="0" indent="0" algn="ctr" defTabSz="622300">
            <a:lnSpc>
              <a:spcPct val="100000"/>
            </a:lnSpc>
            <a:spcBef>
              <a:spcPct val="0"/>
            </a:spcBef>
            <a:spcAft>
              <a:spcPct val="35000"/>
            </a:spcAft>
            <a:buNone/>
          </a:pPr>
          <a:r>
            <a:rPr lang="en-US" sz="1400" kern="1200"/>
            <a:t>Quantify</a:t>
          </a:r>
          <a:endParaRPr lang="en-US" sz="1400" kern="1200" dirty="0"/>
        </a:p>
      </dsp:txBody>
      <dsp:txXfrm>
        <a:off x="4966493" y="2667217"/>
        <a:ext cx="1504156" cy="1095025"/>
      </dsp:txXfrm>
    </dsp:sp>
    <dsp:sp modelId="{C4E69374-359D-4672-A273-217551FCB3DD}">
      <dsp:nvSpPr>
        <dsp:cNvPr id="0" name=""/>
        <dsp:cNvSpPr/>
      </dsp:nvSpPr>
      <dsp:spPr>
        <a:xfrm>
          <a:off x="5297408" y="1814360"/>
          <a:ext cx="842327" cy="842327"/>
        </a:xfrm>
        <a:prstGeom prst="ellipse">
          <a:avLst/>
        </a:prstGeom>
        <a:solidFill>
          <a:schemeClr val="accent1">
            <a:alpha val="90000"/>
            <a:hueOff val="0"/>
            <a:satOff val="0"/>
            <a:lumOff val="0"/>
            <a:alphaOff val="-30000"/>
          </a:schemeClr>
        </a:solidFill>
        <a:ln w="19050" cap="flat" cmpd="sng" algn="ctr">
          <a:solidFill>
            <a:schemeClr val="accent1">
              <a:alpha val="90000"/>
              <a:hueOff val="0"/>
              <a:satOff val="0"/>
              <a:lumOff val="0"/>
              <a:alphaOff val="-3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573" tIns="12700" rIns="44573" bIns="12700" numCol="1" spcCol="1270" anchor="ctr" anchorCtr="0">
          <a:noAutofit/>
        </a:bodyPr>
        <a:lstStyle/>
        <a:p>
          <a:pPr marL="0" lvl="0" indent="0" algn="ctr" defTabSz="1778000">
            <a:lnSpc>
              <a:spcPct val="90000"/>
            </a:lnSpc>
            <a:spcBef>
              <a:spcPct val="0"/>
            </a:spcBef>
            <a:spcAft>
              <a:spcPct val="35000"/>
            </a:spcAft>
            <a:buNone/>
          </a:pPr>
          <a:r>
            <a:rPr lang="en-US" sz="4000" kern="1200"/>
            <a:t>4</a:t>
          </a:r>
        </a:p>
      </dsp:txBody>
      <dsp:txXfrm>
        <a:off x="5420764" y="1937716"/>
        <a:ext cx="595615" cy="595615"/>
      </dsp:txXfrm>
    </dsp:sp>
    <dsp:sp modelId="{66FC6E9B-F3EF-43E9-9943-58C1B6614E49}">
      <dsp:nvSpPr>
        <dsp:cNvPr id="0" name=""/>
        <dsp:cNvSpPr/>
      </dsp:nvSpPr>
      <dsp:spPr>
        <a:xfrm>
          <a:off x="6621065" y="1656424"/>
          <a:ext cx="1504156" cy="2105818"/>
        </a:xfrm>
        <a:prstGeom prst="roundRect">
          <a:avLst>
            <a:gd name="adj" fmla="val 10000"/>
          </a:avLst>
        </a:prstGeom>
        <a:solidFill>
          <a:schemeClr val="lt1">
            <a:alpha val="90000"/>
            <a:hueOff val="0"/>
            <a:satOff val="0"/>
            <a:lumOff val="0"/>
            <a:alphaOff val="0"/>
          </a:schemeClr>
        </a:solidFill>
        <a:ln w="19050" cap="flat" cmpd="sng" algn="ctr">
          <a:solidFill>
            <a:schemeClr val="accent1">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9595" tIns="330200" rIns="79595" bIns="330200" numCol="1" spcCol="1270" anchor="ctr" anchorCtr="0">
          <a:noAutofit/>
        </a:bodyPr>
        <a:lstStyle/>
        <a:p>
          <a:pPr marL="0" lvl="0" indent="0" algn="ctr" defTabSz="622300">
            <a:lnSpc>
              <a:spcPct val="100000"/>
            </a:lnSpc>
            <a:spcBef>
              <a:spcPct val="0"/>
            </a:spcBef>
            <a:spcAft>
              <a:spcPct val="35000"/>
            </a:spcAft>
            <a:buNone/>
          </a:pPr>
          <a:r>
            <a:rPr lang="en-US" sz="1400" kern="1200" dirty="0"/>
            <a:t>Summarize</a:t>
          </a:r>
        </a:p>
      </dsp:txBody>
      <dsp:txXfrm>
        <a:off x="6621065" y="2667217"/>
        <a:ext cx="1504156" cy="1095025"/>
      </dsp:txXfrm>
    </dsp:sp>
    <dsp:sp modelId="{A99D634C-8FA9-428D-B814-C095A27CCF98}">
      <dsp:nvSpPr>
        <dsp:cNvPr id="0" name=""/>
        <dsp:cNvSpPr/>
      </dsp:nvSpPr>
      <dsp:spPr>
        <a:xfrm>
          <a:off x="6951980" y="1814360"/>
          <a:ext cx="842327" cy="842327"/>
        </a:xfrm>
        <a:prstGeom prst="ellipse">
          <a:avLst/>
        </a:prstGeom>
        <a:solidFill>
          <a:schemeClr val="accent1">
            <a:alpha val="90000"/>
            <a:hueOff val="0"/>
            <a:satOff val="0"/>
            <a:lumOff val="0"/>
            <a:alphaOff val="-40000"/>
          </a:schemeClr>
        </a:solidFill>
        <a:ln w="19050" cap="flat" cmpd="sng" algn="ctr">
          <a:solidFill>
            <a:schemeClr val="accent1">
              <a:alpha val="90000"/>
              <a:hueOff val="0"/>
              <a:satOff val="0"/>
              <a:lumOff val="0"/>
              <a:alpha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573" tIns="12700" rIns="44573" bIns="12700" numCol="1" spcCol="1270" anchor="ctr" anchorCtr="0">
          <a:noAutofit/>
        </a:bodyPr>
        <a:lstStyle/>
        <a:p>
          <a:pPr marL="0" lvl="0" indent="0" algn="ctr" defTabSz="1778000">
            <a:lnSpc>
              <a:spcPct val="90000"/>
            </a:lnSpc>
            <a:spcBef>
              <a:spcPct val="0"/>
            </a:spcBef>
            <a:spcAft>
              <a:spcPct val="35000"/>
            </a:spcAft>
            <a:buNone/>
          </a:pPr>
          <a:r>
            <a:rPr lang="en-US" sz="4000" kern="1200"/>
            <a:t>5</a:t>
          </a:r>
        </a:p>
      </dsp:txBody>
      <dsp:txXfrm>
        <a:off x="7075336" y="1937716"/>
        <a:ext cx="595615" cy="5956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BAB04E-94EC-4BE1-ACBF-E7FC0115A0F1}">
      <dsp:nvSpPr>
        <dsp:cNvPr id="0" name=""/>
        <dsp:cNvSpPr/>
      </dsp:nvSpPr>
      <dsp:spPr>
        <a:xfrm>
          <a:off x="3607527" y="1223190"/>
          <a:ext cx="1177116" cy="560200"/>
        </a:xfrm>
        <a:custGeom>
          <a:avLst/>
          <a:gdLst/>
          <a:ahLst/>
          <a:cxnLst/>
          <a:rect l="0" t="0" r="0" b="0"/>
          <a:pathLst>
            <a:path>
              <a:moveTo>
                <a:pt x="0" y="0"/>
              </a:moveTo>
              <a:lnTo>
                <a:pt x="0" y="381760"/>
              </a:lnTo>
              <a:lnTo>
                <a:pt x="1177116" y="381760"/>
              </a:lnTo>
              <a:lnTo>
                <a:pt x="1177116" y="560200"/>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CDDD9C-2988-478F-AC31-6F15D736C1BD}">
      <dsp:nvSpPr>
        <dsp:cNvPr id="0" name=""/>
        <dsp:cNvSpPr/>
      </dsp:nvSpPr>
      <dsp:spPr>
        <a:xfrm>
          <a:off x="2430410" y="1223190"/>
          <a:ext cx="1177116" cy="560200"/>
        </a:xfrm>
        <a:custGeom>
          <a:avLst/>
          <a:gdLst/>
          <a:ahLst/>
          <a:cxnLst/>
          <a:rect l="0" t="0" r="0" b="0"/>
          <a:pathLst>
            <a:path>
              <a:moveTo>
                <a:pt x="1177116" y="0"/>
              </a:moveTo>
              <a:lnTo>
                <a:pt x="1177116" y="381760"/>
              </a:lnTo>
              <a:lnTo>
                <a:pt x="0" y="381760"/>
              </a:lnTo>
              <a:lnTo>
                <a:pt x="0" y="560200"/>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22C619-C1B3-42B5-96E6-8D28EE037657}">
      <dsp:nvSpPr>
        <dsp:cNvPr id="0" name=""/>
        <dsp:cNvSpPr/>
      </dsp:nvSpPr>
      <dsp:spPr>
        <a:xfrm>
          <a:off x="2644431" y="59"/>
          <a:ext cx="1926191" cy="122313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6DF9E7-AD26-47D0-A51C-917C62C1A9C2}">
      <dsp:nvSpPr>
        <dsp:cNvPr id="0" name=""/>
        <dsp:cNvSpPr/>
      </dsp:nvSpPr>
      <dsp:spPr>
        <a:xfrm>
          <a:off x="2858453" y="203379"/>
          <a:ext cx="1926191" cy="122313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“New” records in Carrier Claims Post Migration</a:t>
          </a:r>
        </a:p>
      </dsp:txBody>
      <dsp:txXfrm>
        <a:off x="2894277" y="239203"/>
        <a:ext cx="1854543" cy="1151483"/>
      </dsp:txXfrm>
    </dsp:sp>
    <dsp:sp modelId="{9CCD74D7-A081-4AB4-A18C-FBC4B1D5712E}">
      <dsp:nvSpPr>
        <dsp:cNvPr id="0" name=""/>
        <dsp:cNvSpPr/>
      </dsp:nvSpPr>
      <dsp:spPr>
        <a:xfrm>
          <a:off x="1467315" y="1783391"/>
          <a:ext cx="1926191" cy="122313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EEA055-7962-4AE7-B3BE-ABD9C2517D22}">
      <dsp:nvSpPr>
        <dsp:cNvPr id="0" name=""/>
        <dsp:cNvSpPr/>
      </dsp:nvSpPr>
      <dsp:spPr>
        <a:xfrm>
          <a:off x="1681336" y="1986711"/>
          <a:ext cx="1926191" cy="122313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4,777 orphans w/  2-key match </a:t>
          </a:r>
        </a:p>
        <a:p>
          <a:pPr marL="0" lvl="0" indent="0" algn="ctr" defTabSz="444500">
            <a:lnSpc>
              <a:spcPct val="90000"/>
            </a:lnSpc>
            <a:spcBef>
              <a:spcPct val="0"/>
            </a:spcBef>
            <a:spcAft>
              <a:spcPct val="35000"/>
            </a:spcAft>
            <a:buNone/>
          </a:pPr>
          <a:r>
            <a:rPr lang="en-US" sz="1000" kern="1200" dirty="0"/>
            <a:t>(DESYNPUF_ID | CLM_ID)</a:t>
          </a:r>
          <a:endParaRPr lang="en-US" sz="1200" kern="1200" dirty="0"/>
        </a:p>
      </dsp:txBody>
      <dsp:txXfrm>
        <a:off x="1717160" y="2022535"/>
        <a:ext cx="1854543" cy="1151483"/>
      </dsp:txXfrm>
    </dsp:sp>
    <dsp:sp modelId="{73F3B73A-45AD-4615-A413-051B2773216A}">
      <dsp:nvSpPr>
        <dsp:cNvPr id="0" name=""/>
        <dsp:cNvSpPr/>
      </dsp:nvSpPr>
      <dsp:spPr>
        <a:xfrm>
          <a:off x="3821548" y="1783391"/>
          <a:ext cx="1926191" cy="1223131"/>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2AC25B-7898-4A7F-92FC-18DF4B9E28A6}">
      <dsp:nvSpPr>
        <dsp:cNvPr id="0" name=""/>
        <dsp:cNvSpPr/>
      </dsp:nvSpPr>
      <dsp:spPr>
        <a:xfrm>
          <a:off x="4035569" y="1986711"/>
          <a:ext cx="1926191" cy="1223131"/>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5,242 orphans w/ 4-key match</a:t>
          </a:r>
          <a:r>
            <a:rPr lang="en-US" sz="700" kern="1200" dirty="0"/>
            <a:t> </a:t>
          </a:r>
        </a:p>
        <a:p>
          <a:pPr marL="0" lvl="0" indent="0" algn="ctr" defTabSz="444500">
            <a:lnSpc>
              <a:spcPct val="90000"/>
            </a:lnSpc>
            <a:spcBef>
              <a:spcPct val="0"/>
            </a:spcBef>
            <a:spcAft>
              <a:spcPct val="35000"/>
            </a:spcAft>
            <a:buNone/>
          </a:pPr>
          <a:r>
            <a:rPr lang="en-US" sz="1000" kern="1200" dirty="0"/>
            <a:t>(DESYNPUF_ID | CLM_ID | CLM_FROM_DT | CLM_THRU_DT)</a:t>
          </a:r>
          <a:endParaRPr lang="en-US" sz="1200" kern="1200" dirty="0"/>
        </a:p>
      </dsp:txBody>
      <dsp:txXfrm>
        <a:off x="4071393" y="2022535"/>
        <a:ext cx="1854543" cy="11514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91C2ED-252C-4124-BBDB-F1BE4F7B8688}">
      <dsp:nvSpPr>
        <dsp:cNvPr id="0" name=""/>
        <dsp:cNvSpPr/>
      </dsp:nvSpPr>
      <dsp:spPr>
        <a:xfrm rot="16200000">
          <a:off x="2338" y="1178"/>
          <a:ext cx="4348981" cy="4348981"/>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r>
            <a:rPr lang="en-US" sz="4000" kern="1200" dirty="0"/>
            <a:t>159 Missing in New File</a:t>
          </a:r>
        </a:p>
      </dsp:txBody>
      <dsp:txXfrm rot="5400000">
        <a:off x="2338" y="1088423"/>
        <a:ext cx="3587909" cy="2174491"/>
      </dsp:txXfrm>
    </dsp:sp>
    <dsp:sp modelId="{FCC8B91E-1D3A-49C0-A6A0-7FAB1042BB49}">
      <dsp:nvSpPr>
        <dsp:cNvPr id="0" name=""/>
        <dsp:cNvSpPr/>
      </dsp:nvSpPr>
      <dsp:spPr>
        <a:xfrm rot="5400000">
          <a:off x="6164280" y="1178"/>
          <a:ext cx="4348981" cy="4348981"/>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r>
            <a:rPr lang="en-US" sz="4000" kern="1200" dirty="0"/>
            <a:t>159 Missing in Original file</a:t>
          </a:r>
        </a:p>
      </dsp:txBody>
      <dsp:txXfrm rot="-5400000">
        <a:off x="6925352" y="1088423"/>
        <a:ext cx="3587909" cy="2174491"/>
      </dsp:txXfrm>
    </dsp:sp>
  </dsp:spTree>
</dsp:drawing>
</file>

<file path=ppt/diagrams/layout1.xml><?xml version="1.0" encoding="utf-8"?>
<dgm:layoutDef xmlns:dgm="http://schemas.openxmlformats.org/drawingml/2006/diagram" xmlns:a="http://schemas.openxmlformats.org/drawingml/2006/main" uniqueId="urn:microsoft.com/office/officeart/2024/layout/NumberedTitleList">
  <dgm:title val=""/>
  <dgm:desc val=""/>
  <dgm:catLst>
    <dgm:cat type="list" pri="8150"/>
  </dgm:catLst>
  <dgm:sampData>
    <dgm:dataModel>
      <dgm:ptLst>
        <dgm:pt modelId="0" type="doc"/>
        <dgm:pt modelId="1">
          <dgm:prSet phldr="1"/>
        </dgm:pt>
        <dgm:pt modelId="2">
          <dgm:prSet phldr="1"/>
        </dgm:pt>
        <dgm:pt modelId="3">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L"/>
          <dgm:param type="nodeVertAlign" val="t"/>
        </dgm:alg>
      </dgm:if>
      <dgm:else name="dirRev">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4"/>
          <dgm:constr type="w" for="ch" forName="sibTransNodeCircle" refType="h" refFor="ch" refForName="sibTransNodeCircle"/>
          <dgm:constr type="ctrX" for="ch" forName="sibTransNodeCircle" refType="w" fact="0.5"/>
          <dgm:constr type="ctrY" for="ch" forName="sibTransNodeCircle" refType="h" fact="0.275"/>
          <dgm:constr type="r" for="ch" forName="nodeText" refType="r" refFor="ch" refForName="bgRect"/>
          <dgm:constr type="h" for="ch" forName="nodeText" refType="h" refFor="ch" refForName="bgRect" fact="0.52"/>
          <dgm:constr type="t" for="ch" forName="nodeText" refType="h" refFor="ch" refForName="bgRect" fact="0.48"/>
        </dgm:constrLst>
        <dgm:ruleLst/>
        <dgm:layoutNode name="bgRect" styleLbl="fgAcc1">
          <dgm:alg type="sp"/>
          <dgm:shape xmlns:r="http://schemas.openxmlformats.org/officeDocument/2006/relationships" type="roundRect" r:blip="">
            <dgm:adjLst>
              <dgm:adj idx="1" val="0.1"/>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15"/>
              <dgm:constr type="rMarg" refType="w" fact="0.15"/>
              <dgm:constr type="bMarg" val="1"/>
            </dgm:constrLst>
            <dgm:ruleLst>
              <dgm:rule type="primFontSz" val="14" fact="NaN" max="NaN"/>
            </dgm:ruleLst>
          </dgm:layoutNode>
        </dgm:forEach>
        <dgm:layoutNode name="nodeText" styleLbl="bgAccFollowNode1" moveWith="bgRect">
          <dgm:varLst>
            <dgm:bulletEnabled val="1"/>
          </dgm:varLst>
          <dgm:alg type="tx">
            <dgm:param type="parTxLTRAlign" val="ctr"/>
            <dgm:param type="parTxRTLAlign" val="r"/>
            <dgm:param type="txAnchorVert" val="mid"/>
          </dgm:alg>
          <dgm:shape xmlns:r="http://schemas.openxmlformats.org/officeDocument/2006/relationships" type="rect" r:blip="" zOrderOff="-1" hideGeom="1">
            <dgm:adjLst/>
          </dgm:shape>
          <dgm:presOf axis="desOrSelf" ptType="node"/>
          <dgm:constrLst>
            <dgm:constr type="primFontSz" val="32"/>
            <dgm:constr type="tMarg" val="26"/>
            <dgm:constr type="lMarg" refType="w" fact="0.15"/>
            <dgm:constr type="rMarg" refType="w" fact="0.15"/>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97C371-377D-42B4-B603-96E3B3AFE44E}"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BF846D-1B31-4DC0-9BDF-7C7FAF0322F3}" type="slidenum">
              <a:rPr lang="en-US" smtClean="0"/>
              <a:t>‹#›</a:t>
            </a:fld>
            <a:endParaRPr lang="en-US"/>
          </a:p>
        </p:txBody>
      </p:sp>
    </p:spTree>
    <p:extLst>
      <p:ext uri="{BB962C8B-B14F-4D97-AF65-F5344CB8AC3E}">
        <p14:creationId xmlns:p14="http://schemas.microsoft.com/office/powerpoint/2010/main" val="1918959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Ingested CSV files into </a:t>
            </a:r>
            <a:r>
              <a:rPr lang="en-US" dirty="0" err="1"/>
              <a:t>duckdb</a:t>
            </a:r>
            <a:r>
              <a:rPr lang="en-US" dirty="0"/>
              <a:t> database utilizing python.</a:t>
            </a:r>
          </a:p>
          <a:p>
            <a:r>
              <a:rPr lang="en-US" dirty="0"/>
              <a:t>Validated row counts and row sums matched between CSV and ingested data, validating ingestion quality.</a:t>
            </a:r>
          </a:p>
          <a:p>
            <a:r>
              <a:rPr lang="en-US" dirty="0"/>
              <a:t>Performed deep dive analysis utilizing python and SQL:</a:t>
            </a:r>
          </a:p>
          <a:p>
            <a:pPr lvl="1"/>
            <a:r>
              <a:rPr lang="en-US" dirty="0"/>
              <a:t>Identified every row and column that does not match between the legacy “source” and the “new” data.</a:t>
            </a:r>
          </a:p>
          <a:p>
            <a:pPr lvl="1"/>
            <a:r>
              <a:rPr lang="en-US" dirty="0"/>
              <a:t>Produced lists of variances.</a:t>
            </a:r>
          </a:p>
          <a:p>
            <a:pPr lvl="1"/>
            <a:r>
              <a:rPr lang="en-US" dirty="0"/>
              <a:t>Analyzed the PDF files for key themes. </a:t>
            </a:r>
          </a:p>
          <a:p>
            <a:pPr lvl="1"/>
            <a:r>
              <a:rPr lang="en-US" dirty="0"/>
              <a:t>Analyzed financial impact variances by column.</a:t>
            </a:r>
          </a:p>
        </p:txBody>
      </p:sp>
      <p:sp>
        <p:nvSpPr>
          <p:cNvPr id="4" name="Slide Number Placeholder 3"/>
          <p:cNvSpPr>
            <a:spLocks noGrp="1"/>
          </p:cNvSpPr>
          <p:nvPr>
            <p:ph type="sldNum" sz="quarter" idx="5"/>
          </p:nvPr>
        </p:nvSpPr>
        <p:spPr/>
        <p:txBody>
          <a:bodyPr/>
          <a:lstStyle/>
          <a:p>
            <a:fld id="{A9BF846D-1B31-4DC0-9BDF-7C7FAF0322F3}" type="slidenum">
              <a:rPr lang="en-US" smtClean="0"/>
              <a:t>3</a:t>
            </a:fld>
            <a:endParaRPr lang="en-US"/>
          </a:p>
        </p:txBody>
      </p:sp>
    </p:spTree>
    <p:extLst>
      <p:ext uri="{BB962C8B-B14F-4D97-AF65-F5344CB8AC3E}">
        <p14:creationId xmlns:p14="http://schemas.microsoft.com/office/powerpoint/2010/main" val="900972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611A1-464D-BCDF-A8C9-CD8C57D98D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98FC22-6441-74E7-0E60-51A9A19185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171006-42E3-1A00-4BA6-10BC4E1C1DF3}"/>
              </a:ext>
            </a:extLst>
          </p:cNvPr>
          <p:cNvSpPr>
            <a:spLocks noGrp="1"/>
          </p:cNvSpPr>
          <p:nvPr>
            <p:ph type="dt" sz="half" idx="10"/>
          </p:nvPr>
        </p:nvSpPr>
        <p:spPr/>
        <p:txBody>
          <a:bodyPr/>
          <a:lstStyle/>
          <a:p>
            <a:fld id="{82141ACE-BD5A-498F-9D25-459E6F8C94AF}" type="datetimeFigureOut">
              <a:rPr lang="en-US" smtClean="0"/>
              <a:t>6/3/2026</a:t>
            </a:fld>
            <a:endParaRPr lang="en-US"/>
          </a:p>
        </p:txBody>
      </p:sp>
      <p:sp>
        <p:nvSpPr>
          <p:cNvPr id="5" name="Footer Placeholder 4">
            <a:extLst>
              <a:ext uri="{FF2B5EF4-FFF2-40B4-BE49-F238E27FC236}">
                <a16:creationId xmlns:a16="http://schemas.microsoft.com/office/drawing/2014/main" id="{49F48D7A-F2EA-1299-4D21-6609CD2EFB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68BB1-10FC-9A99-1116-F0A26DA5170C}"/>
              </a:ext>
            </a:extLst>
          </p:cNvPr>
          <p:cNvSpPr>
            <a:spLocks noGrp="1"/>
          </p:cNvSpPr>
          <p:nvPr>
            <p:ph type="sldNum" sz="quarter" idx="12"/>
          </p:nvPr>
        </p:nvSpPr>
        <p:spPr/>
        <p:txBody>
          <a:bodyPr/>
          <a:lstStyle/>
          <a:p>
            <a:fld id="{44AA4AD6-C39B-427F-B3B4-28FEEEBC3167}" type="slidenum">
              <a:rPr lang="en-US" smtClean="0"/>
              <a:t>‹#›</a:t>
            </a:fld>
            <a:endParaRPr lang="en-US"/>
          </a:p>
        </p:txBody>
      </p:sp>
    </p:spTree>
    <p:extLst>
      <p:ext uri="{BB962C8B-B14F-4D97-AF65-F5344CB8AC3E}">
        <p14:creationId xmlns:p14="http://schemas.microsoft.com/office/powerpoint/2010/main" val="2265471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82FA9-D8B4-9E12-DC0E-5A46DC5FE0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4C7315-D709-4F1C-4DF5-76FFD1DA77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0453B8-77B4-23F5-1271-55A5EFA882CA}"/>
              </a:ext>
            </a:extLst>
          </p:cNvPr>
          <p:cNvSpPr>
            <a:spLocks noGrp="1"/>
          </p:cNvSpPr>
          <p:nvPr>
            <p:ph type="dt" sz="half" idx="10"/>
          </p:nvPr>
        </p:nvSpPr>
        <p:spPr/>
        <p:txBody>
          <a:bodyPr/>
          <a:lstStyle/>
          <a:p>
            <a:fld id="{82141ACE-BD5A-498F-9D25-459E6F8C94AF}" type="datetimeFigureOut">
              <a:rPr lang="en-US" smtClean="0"/>
              <a:t>6/3/2026</a:t>
            </a:fld>
            <a:endParaRPr lang="en-US"/>
          </a:p>
        </p:txBody>
      </p:sp>
      <p:sp>
        <p:nvSpPr>
          <p:cNvPr id="5" name="Footer Placeholder 4">
            <a:extLst>
              <a:ext uri="{FF2B5EF4-FFF2-40B4-BE49-F238E27FC236}">
                <a16:creationId xmlns:a16="http://schemas.microsoft.com/office/drawing/2014/main" id="{2545CE20-3B07-A26A-71E4-1F86F0CD61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EA8F44-8B6B-DDDB-9137-C3FA9E7CC5EB}"/>
              </a:ext>
            </a:extLst>
          </p:cNvPr>
          <p:cNvSpPr>
            <a:spLocks noGrp="1"/>
          </p:cNvSpPr>
          <p:nvPr>
            <p:ph type="sldNum" sz="quarter" idx="12"/>
          </p:nvPr>
        </p:nvSpPr>
        <p:spPr/>
        <p:txBody>
          <a:bodyPr/>
          <a:lstStyle/>
          <a:p>
            <a:fld id="{44AA4AD6-C39B-427F-B3B4-28FEEEBC3167}" type="slidenum">
              <a:rPr lang="en-US" smtClean="0"/>
              <a:t>‹#›</a:t>
            </a:fld>
            <a:endParaRPr lang="en-US"/>
          </a:p>
        </p:txBody>
      </p:sp>
    </p:spTree>
    <p:extLst>
      <p:ext uri="{BB962C8B-B14F-4D97-AF65-F5344CB8AC3E}">
        <p14:creationId xmlns:p14="http://schemas.microsoft.com/office/powerpoint/2010/main" val="2442872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95097-ACB8-45BE-79BC-88FF0F9DC6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4D337E-C55E-3920-B058-3750CD070E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58A04C-80D3-0EF7-3CE4-96FBAF7C06B4}"/>
              </a:ext>
            </a:extLst>
          </p:cNvPr>
          <p:cNvSpPr>
            <a:spLocks noGrp="1"/>
          </p:cNvSpPr>
          <p:nvPr>
            <p:ph type="dt" sz="half" idx="10"/>
          </p:nvPr>
        </p:nvSpPr>
        <p:spPr/>
        <p:txBody>
          <a:bodyPr/>
          <a:lstStyle/>
          <a:p>
            <a:fld id="{82141ACE-BD5A-498F-9D25-459E6F8C94AF}" type="datetimeFigureOut">
              <a:rPr lang="en-US" smtClean="0"/>
              <a:t>6/3/2026</a:t>
            </a:fld>
            <a:endParaRPr lang="en-US"/>
          </a:p>
        </p:txBody>
      </p:sp>
      <p:sp>
        <p:nvSpPr>
          <p:cNvPr id="5" name="Footer Placeholder 4">
            <a:extLst>
              <a:ext uri="{FF2B5EF4-FFF2-40B4-BE49-F238E27FC236}">
                <a16:creationId xmlns:a16="http://schemas.microsoft.com/office/drawing/2014/main" id="{3F5A60C1-8009-7564-36EF-CE00DDA988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84F84B-4D46-0AA9-C735-0AC18E43E915}"/>
              </a:ext>
            </a:extLst>
          </p:cNvPr>
          <p:cNvSpPr>
            <a:spLocks noGrp="1"/>
          </p:cNvSpPr>
          <p:nvPr>
            <p:ph type="sldNum" sz="quarter" idx="12"/>
          </p:nvPr>
        </p:nvSpPr>
        <p:spPr/>
        <p:txBody>
          <a:bodyPr/>
          <a:lstStyle/>
          <a:p>
            <a:fld id="{44AA4AD6-C39B-427F-B3B4-28FEEEBC3167}" type="slidenum">
              <a:rPr lang="en-US" smtClean="0"/>
              <a:t>‹#›</a:t>
            </a:fld>
            <a:endParaRPr lang="en-US"/>
          </a:p>
        </p:txBody>
      </p:sp>
    </p:spTree>
    <p:extLst>
      <p:ext uri="{BB962C8B-B14F-4D97-AF65-F5344CB8AC3E}">
        <p14:creationId xmlns:p14="http://schemas.microsoft.com/office/powerpoint/2010/main" val="1890332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43E3D-83AF-00B4-ECF5-65325190EA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47F581-B9FC-0878-2182-ABB9678744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2865BC-08C0-B984-92AC-8867176123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0259F6-6C09-E617-6F20-055B9848B552}"/>
              </a:ext>
            </a:extLst>
          </p:cNvPr>
          <p:cNvSpPr>
            <a:spLocks noGrp="1"/>
          </p:cNvSpPr>
          <p:nvPr>
            <p:ph type="dt" sz="half" idx="10"/>
          </p:nvPr>
        </p:nvSpPr>
        <p:spPr/>
        <p:txBody>
          <a:bodyPr/>
          <a:lstStyle/>
          <a:p>
            <a:fld id="{82141ACE-BD5A-498F-9D25-459E6F8C94AF}" type="datetimeFigureOut">
              <a:rPr lang="en-US" smtClean="0"/>
              <a:t>6/3/2026</a:t>
            </a:fld>
            <a:endParaRPr lang="en-US"/>
          </a:p>
        </p:txBody>
      </p:sp>
      <p:sp>
        <p:nvSpPr>
          <p:cNvPr id="6" name="Footer Placeholder 5">
            <a:extLst>
              <a:ext uri="{FF2B5EF4-FFF2-40B4-BE49-F238E27FC236}">
                <a16:creationId xmlns:a16="http://schemas.microsoft.com/office/drawing/2014/main" id="{0A285142-C767-6B41-5379-2FC1C5231A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B5800F-88DB-C529-4ED6-8E293A0B52BC}"/>
              </a:ext>
            </a:extLst>
          </p:cNvPr>
          <p:cNvSpPr>
            <a:spLocks noGrp="1"/>
          </p:cNvSpPr>
          <p:nvPr>
            <p:ph type="sldNum" sz="quarter" idx="12"/>
          </p:nvPr>
        </p:nvSpPr>
        <p:spPr/>
        <p:txBody>
          <a:bodyPr/>
          <a:lstStyle/>
          <a:p>
            <a:fld id="{44AA4AD6-C39B-427F-B3B4-28FEEEBC3167}" type="slidenum">
              <a:rPr lang="en-US" smtClean="0"/>
              <a:t>‹#›</a:t>
            </a:fld>
            <a:endParaRPr lang="en-US"/>
          </a:p>
        </p:txBody>
      </p:sp>
    </p:spTree>
    <p:extLst>
      <p:ext uri="{BB962C8B-B14F-4D97-AF65-F5344CB8AC3E}">
        <p14:creationId xmlns:p14="http://schemas.microsoft.com/office/powerpoint/2010/main" val="3239011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174FE-7A48-3C05-E647-65650FC9C4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53E861-F5B1-CD5D-E3F4-216486666C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DF7B72-B12C-5591-F0C1-19CBB4B3E4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21C4E5-907F-076B-8DD3-D5FAE347CE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974338-F26F-C05F-93C5-B6C2A7A6F4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BDD588-C4EC-DAAA-F438-62C072DF12F1}"/>
              </a:ext>
            </a:extLst>
          </p:cNvPr>
          <p:cNvSpPr>
            <a:spLocks noGrp="1"/>
          </p:cNvSpPr>
          <p:nvPr>
            <p:ph type="dt" sz="half" idx="10"/>
          </p:nvPr>
        </p:nvSpPr>
        <p:spPr/>
        <p:txBody>
          <a:bodyPr/>
          <a:lstStyle/>
          <a:p>
            <a:fld id="{82141ACE-BD5A-498F-9D25-459E6F8C94AF}" type="datetimeFigureOut">
              <a:rPr lang="en-US" smtClean="0"/>
              <a:t>6/3/2026</a:t>
            </a:fld>
            <a:endParaRPr lang="en-US"/>
          </a:p>
        </p:txBody>
      </p:sp>
      <p:sp>
        <p:nvSpPr>
          <p:cNvPr id="8" name="Footer Placeholder 7">
            <a:extLst>
              <a:ext uri="{FF2B5EF4-FFF2-40B4-BE49-F238E27FC236}">
                <a16:creationId xmlns:a16="http://schemas.microsoft.com/office/drawing/2014/main" id="{79F9CCCF-6E6A-74A5-0F39-FA6244E417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F7D432-77E7-BA03-2C44-CE81A3F25434}"/>
              </a:ext>
            </a:extLst>
          </p:cNvPr>
          <p:cNvSpPr>
            <a:spLocks noGrp="1"/>
          </p:cNvSpPr>
          <p:nvPr>
            <p:ph type="sldNum" sz="quarter" idx="12"/>
          </p:nvPr>
        </p:nvSpPr>
        <p:spPr/>
        <p:txBody>
          <a:bodyPr/>
          <a:lstStyle/>
          <a:p>
            <a:fld id="{44AA4AD6-C39B-427F-B3B4-28FEEEBC3167}" type="slidenum">
              <a:rPr lang="en-US" smtClean="0"/>
              <a:t>‹#›</a:t>
            </a:fld>
            <a:endParaRPr lang="en-US"/>
          </a:p>
        </p:txBody>
      </p:sp>
    </p:spTree>
    <p:extLst>
      <p:ext uri="{BB962C8B-B14F-4D97-AF65-F5344CB8AC3E}">
        <p14:creationId xmlns:p14="http://schemas.microsoft.com/office/powerpoint/2010/main" val="3455029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6442-1FFD-8297-7FD1-07470C2F3A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B91DDEC-AE61-1D48-1F0E-9DE45CFB6E3D}"/>
              </a:ext>
            </a:extLst>
          </p:cNvPr>
          <p:cNvSpPr>
            <a:spLocks noGrp="1"/>
          </p:cNvSpPr>
          <p:nvPr>
            <p:ph type="dt" sz="half" idx="10"/>
          </p:nvPr>
        </p:nvSpPr>
        <p:spPr/>
        <p:txBody>
          <a:bodyPr/>
          <a:lstStyle/>
          <a:p>
            <a:fld id="{82141ACE-BD5A-498F-9D25-459E6F8C94AF}" type="datetimeFigureOut">
              <a:rPr lang="en-US" smtClean="0"/>
              <a:t>6/3/2026</a:t>
            </a:fld>
            <a:endParaRPr lang="en-US"/>
          </a:p>
        </p:txBody>
      </p:sp>
      <p:sp>
        <p:nvSpPr>
          <p:cNvPr id="4" name="Footer Placeholder 3">
            <a:extLst>
              <a:ext uri="{FF2B5EF4-FFF2-40B4-BE49-F238E27FC236}">
                <a16:creationId xmlns:a16="http://schemas.microsoft.com/office/drawing/2014/main" id="{78290989-A46A-B2C3-BE52-AC203E2214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F0BE70-04D0-0883-2BDA-AC769EA0916B}"/>
              </a:ext>
            </a:extLst>
          </p:cNvPr>
          <p:cNvSpPr>
            <a:spLocks noGrp="1"/>
          </p:cNvSpPr>
          <p:nvPr>
            <p:ph type="sldNum" sz="quarter" idx="12"/>
          </p:nvPr>
        </p:nvSpPr>
        <p:spPr/>
        <p:txBody>
          <a:bodyPr/>
          <a:lstStyle/>
          <a:p>
            <a:fld id="{44AA4AD6-C39B-427F-B3B4-28FEEEBC3167}" type="slidenum">
              <a:rPr lang="en-US" smtClean="0"/>
              <a:t>‹#›</a:t>
            </a:fld>
            <a:endParaRPr lang="en-US"/>
          </a:p>
        </p:txBody>
      </p:sp>
    </p:spTree>
    <p:extLst>
      <p:ext uri="{BB962C8B-B14F-4D97-AF65-F5344CB8AC3E}">
        <p14:creationId xmlns:p14="http://schemas.microsoft.com/office/powerpoint/2010/main" val="2390176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B5C5B1-CFED-25F1-6C76-687598F8DBBF}"/>
              </a:ext>
            </a:extLst>
          </p:cNvPr>
          <p:cNvSpPr>
            <a:spLocks noGrp="1"/>
          </p:cNvSpPr>
          <p:nvPr>
            <p:ph type="dt" sz="half" idx="10"/>
          </p:nvPr>
        </p:nvSpPr>
        <p:spPr/>
        <p:txBody>
          <a:bodyPr/>
          <a:lstStyle/>
          <a:p>
            <a:fld id="{82141ACE-BD5A-498F-9D25-459E6F8C94AF}" type="datetimeFigureOut">
              <a:rPr lang="en-US" smtClean="0"/>
              <a:t>6/3/2026</a:t>
            </a:fld>
            <a:endParaRPr lang="en-US"/>
          </a:p>
        </p:txBody>
      </p:sp>
      <p:sp>
        <p:nvSpPr>
          <p:cNvPr id="3" name="Footer Placeholder 2">
            <a:extLst>
              <a:ext uri="{FF2B5EF4-FFF2-40B4-BE49-F238E27FC236}">
                <a16:creationId xmlns:a16="http://schemas.microsoft.com/office/drawing/2014/main" id="{2670FB64-2244-435A-1E71-509B95E831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0CCAAB-27D1-D57A-28F3-E9E928490C8E}"/>
              </a:ext>
            </a:extLst>
          </p:cNvPr>
          <p:cNvSpPr>
            <a:spLocks noGrp="1"/>
          </p:cNvSpPr>
          <p:nvPr>
            <p:ph type="sldNum" sz="quarter" idx="12"/>
          </p:nvPr>
        </p:nvSpPr>
        <p:spPr/>
        <p:txBody>
          <a:bodyPr/>
          <a:lstStyle/>
          <a:p>
            <a:fld id="{44AA4AD6-C39B-427F-B3B4-28FEEEBC3167}" type="slidenum">
              <a:rPr lang="en-US" smtClean="0"/>
              <a:t>‹#›</a:t>
            </a:fld>
            <a:endParaRPr lang="en-US"/>
          </a:p>
        </p:txBody>
      </p:sp>
    </p:spTree>
    <p:extLst>
      <p:ext uri="{BB962C8B-B14F-4D97-AF65-F5344CB8AC3E}">
        <p14:creationId xmlns:p14="http://schemas.microsoft.com/office/powerpoint/2010/main" val="1408533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0F0BC-6851-8EBF-F448-C1EF86FC66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25B10F-211B-4F73-4DB6-62E8014150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2A3B35-B6A5-E30A-F1F6-6A1049D118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F31589-1F4A-2AA5-1EC6-2241860FC43F}"/>
              </a:ext>
            </a:extLst>
          </p:cNvPr>
          <p:cNvSpPr>
            <a:spLocks noGrp="1"/>
          </p:cNvSpPr>
          <p:nvPr>
            <p:ph type="dt" sz="half" idx="10"/>
          </p:nvPr>
        </p:nvSpPr>
        <p:spPr/>
        <p:txBody>
          <a:bodyPr/>
          <a:lstStyle/>
          <a:p>
            <a:fld id="{82141ACE-BD5A-498F-9D25-459E6F8C94AF}" type="datetimeFigureOut">
              <a:rPr lang="en-US" smtClean="0"/>
              <a:t>6/3/2026</a:t>
            </a:fld>
            <a:endParaRPr lang="en-US"/>
          </a:p>
        </p:txBody>
      </p:sp>
      <p:sp>
        <p:nvSpPr>
          <p:cNvPr id="6" name="Footer Placeholder 5">
            <a:extLst>
              <a:ext uri="{FF2B5EF4-FFF2-40B4-BE49-F238E27FC236}">
                <a16:creationId xmlns:a16="http://schemas.microsoft.com/office/drawing/2014/main" id="{2155852E-5E15-8FFD-DDAB-5F5A8DA47D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C36DED-B9E0-5395-CFC3-462D36163FC9}"/>
              </a:ext>
            </a:extLst>
          </p:cNvPr>
          <p:cNvSpPr>
            <a:spLocks noGrp="1"/>
          </p:cNvSpPr>
          <p:nvPr>
            <p:ph type="sldNum" sz="quarter" idx="12"/>
          </p:nvPr>
        </p:nvSpPr>
        <p:spPr/>
        <p:txBody>
          <a:bodyPr/>
          <a:lstStyle/>
          <a:p>
            <a:fld id="{44AA4AD6-C39B-427F-B3B4-28FEEEBC3167}" type="slidenum">
              <a:rPr lang="en-US" smtClean="0"/>
              <a:t>‹#›</a:t>
            </a:fld>
            <a:endParaRPr lang="en-US"/>
          </a:p>
        </p:txBody>
      </p:sp>
    </p:spTree>
    <p:extLst>
      <p:ext uri="{BB962C8B-B14F-4D97-AF65-F5344CB8AC3E}">
        <p14:creationId xmlns:p14="http://schemas.microsoft.com/office/powerpoint/2010/main" val="156152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E0088-483F-B7FD-68F2-5800831244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C4707C-6B3E-8B8B-99ED-15A4F73311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7E5642-4885-18D4-492B-B0BAB3293F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CE829F-D788-058C-023C-F90E651E2A6E}"/>
              </a:ext>
            </a:extLst>
          </p:cNvPr>
          <p:cNvSpPr>
            <a:spLocks noGrp="1"/>
          </p:cNvSpPr>
          <p:nvPr>
            <p:ph type="dt" sz="half" idx="10"/>
          </p:nvPr>
        </p:nvSpPr>
        <p:spPr/>
        <p:txBody>
          <a:bodyPr/>
          <a:lstStyle/>
          <a:p>
            <a:fld id="{82141ACE-BD5A-498F-9D25-459E6F8C94AF}" type="datetimeFigureOut">
              <a:rPr lang="en-US" smtClean="0"/>
              <a:t>6/3/2026</a:t>
            </a:fld>
            <a:endParaRPr lang="en-US"/>
          </a:p>
        </p:txBody>
      </p:sp>
      <p:sp>
        <p:nvSpPr>
          <p:cNvPr id="6" name="Footer Placeholder 5">
            <a:extLst>
              <a:ext uri="{FF2B5EF4-FFF2-40B4-BE49-F238E27FC236}">
                <a16:creationId xmlns:a16="http://schemas.microsoft.com/office/drawing/2014/main" id="{2688F9C1-8577-9ED0-85C1-070CC2B776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AB0139-E37F-A284-5225-5B8261B8319F}"/>
              </a:ext>
            </a:extLst>
          </p:cNvPr>
          <p:cNvSpPr>
            <a:spLocks noGrp="1"/>
          </p:cNvSpPr>
          <p:nvPr>
            <p:ph type="sldNum" sz="quarter" idx="12"/>
          </p:nvPr>
        </p:nvSpPr>
        <p:spPr/>
        <p:txBody>
          <a:bodyPr/>
          <a:lstStyle/>
          <a:p>
            <a:fld id="{44AA4AD6-C39B-427F-B3B4-28FEEEBC3167}" type="slidenum">
              <a:rPr lang="en-US" smtClean="0"/>
              <a:t>‹#›</a:t>
            </a:fld>
            <a:endParaRPr lang="en-US"/>
          </a:p>
        </p:txBody>
      </p:sp>
    </p:spTree>
    <p:extLst>
      <p:ext uri="{BB962C8B-B14F-4D97-AF65-F5344CB8AC3E}">
        <p14:creationId xmlns:p14="http://schemas.microsoft.com/office/powerpoint/2010/main" val="1429571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17BD7-E224-7492-406B-CDF3126FB8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5F4B33-857B-A655-F4CD-A243C9EBF7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23791D-763E-8147-BC45-E60F9BD23B54}"/>
              </a:ext>
            </a:extLst>
          </p:cNvPr>
          <p:cNvSpPr>
            <a:spLocks noGrp="1"/>
          </p:cNvSpPr>
          <p:nvPr>
            <p:ph type="dt" sz="half" idx="10"/>
          </p:nvPr>
        </p:nvSpPr>
        <p:spPr/>
        <p:txBody>
          <a:bodyPr/>
          <a:lstStyle/>
          <a:p>
            <a:fld id="{82141ACE-BD5A-498F-9D25-459E6F8C94AF}" type="datetimeFigureOut">
              <a:rPr lang="en-US" smtClean="0"/>
              <a:t>6/3/2026</a:t>
            </a:fld>
            <a:endParaRPr lang="en-US"/>
          </a:p>
        </p:txBody>
      </p:sp>
      <p:sp>
        <p:nvSpPr>
          <p:cNvPr id="5" name="Footer Placeholder 4">
            <a:extLst>
              <a:ext uri="{FF2B5EF4-FFF2-40B4-BE49-F238E27FC236}">
                <a16:creationId xmlns:a16="http://schemas.microsoft.com/office/drawing/2014/main" id="{6DEDCC3C-38B2-AE09-DF2F-C0E50D66A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3209F3-4582-B4A9-EE02-36BAF0256D2D}"/>
              </a:ext>
            </a:extLst>
          </p:cNvPr>
          <p:cNvSpPr>
            <a:spLocks noGrp="1"/>
          </p:cNvSpPr>
          <p:nvPr>
            <p:ph type="sldNum" sz="quarter" idx="12"/>
          </p:nvPr>
        </p:nvSpPr>
        <p:spPr/>
        <p:txBody>
          <a:bodyPr/>
          <a:lstStyle/>
          <a:p>
            <a:fld id="{44AA4AD6-C39B-427F-B3B4-28FEEEBC3167}" type="slidenum">
              <a:rPr lang="en-US" smtClean="0"/>
              <a:t>‹#›</a:t>
            </a:fld>
            <a:endParaRPr lang="en-US"/>
          </a:p>
        </p:txBody>
      </p:sp>
    </p:spTree>
    <p:extLst>
      <p:ext uri="{BB962C8B-B14F-4D97-AF65-F5344CB8AC3E}">
        <p14:creationId xmlns:p14="http://schemas.microsoft.com/office/powerpoint/2010/main" val="2187821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9FE796-FDD8-0F6C-875F-B432A24E82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BA343F-E4F3-635B-5C17-8D01D09AB0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E7B937-7754-8D9A-8ADC-95AA4617DF70}"/>
              </a:ext>
            </a:extLst>
          </p:cNvPr>
          <p:cNvSpPr>
            <a:spLocks noGrp="1"/>
          </p:cNvSpPr>
          <p:nvPr>
            <p:ph type="dt" sz="half" idx="10"/>
          </p:nvPr>
        </p:nvSpPr>
        <p:spPr/>
        <p:txBody>
          <a:bodyPr/>
          <a:lstStyle/>
          <a:p>
            <a:fld id="{82141ACE-BD5A-498F-9D25-459E6F8C94AF}" type="datetimeFigureOut">
              <a:rPr lang="en-US" smtClean="0"/>
              <a:t>6/3/2026</a:t>
            </a:fld>
            <a:endParaRPr lang="en-US"/>
          </a:p>
        </p:txBody>
      </p:sp>
      <p:sp>
        <p:nvSpPr>
          <p:cNvPr id="5" name="Footer Placeholder 4">
            <a:extLst>
              <a:ext uri="{FF2B5EF4-FFF2-40B4-BE49-F238E27FC236}">
                <a16:creationId xmlns:a16="http://schemas.microsoft.com/office/drawing/2014/main" id="{4A0D2800-A8A8-5EAA-8015-F8EB32591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4F7ECD-4FEE-91F3-A19C-8B9D3473835D}"/>
              </a:ext>
            </a:extLst>
          </p:cNvPr>
          <p:cNvSpPr>
            <a:spLocks noGrp="1"/>
          </p:cNvSpPr>
          <p:nvPr>
            <p:ph type="sldNum" sz="quarter" idx="12"/>
          </p:nvPr>
        </p:nvSpPr>
        <p:spPr/>
        <p:txBody>
          <a:bodyPr/>
          <a:lstStyle/>
          <a:p>
            <a:fld id="{44AA4AD6-C39B-427F-B3B4-28FEEEBC3167}" type="slidenum">
              <a:rPr lang="en-US" smtClean="0"/>
              <a:t>‹#›</a:t>
            </a:fld>
            <a:endParaRPr lang="en-US"/>
          </a:p>
        </p:txBody>
      </p:sp>
    </p:spTree>
    <p:extLst>
      <p:ext uri="{BB962C8B-B14F-4D97-AF65-F5344CB8AC3E}">
        <p14:creationId xmlns:p14="http://schemas.microsoft.com/office/powerpoint/2010/main" val="1092545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C57983-2B97-0CBC-0AF6-A90232297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C1D507-809E-8FC5-4245-396D55A2C9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1CC415-EA71-E13F-32E9-94875592D6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141ACE-BD5A-498F-9D25-459E6F8C94AF}" type="datetimeFigureOut">
              <a:rPr lang="en-US" smtClean="0"/>
              <a:t>6/3/2026</a:t>
            </a:fld>
            <a:endParaRPr lang="en-US"/>
          </a:p>
        </p:txBody>
      </p:sp>
      <p:sp>
        <p:nvSpPr>
          <p:cNvPr id="5" name="Footer Placeholder 4">
            <a:extLst>
              <a:ext uri="{FF2B5EF4-FFF2-40B4-BE49-F238E27FC236}">
                <a16:creationId xmlns:a16="http://schemas.microsoft.com/office/drawing/2014/main" id="{19D27E73-93E8-3AE9-27CB-22109521F5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196C896-0602-2350-B67F-C546E69238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AA4AD6-C39B-427F-B3B4-28FEEEBC3167}" type="slidenum">
              <a:rPr lang="en-US" smtClean="0"/>
              <a:t>‹#›</a:t>
            </a:fld>
            <a:endParaRPr lang="en-US"/>
          </a:p>
        </p:txBody>
      </p:sp>
    </p:spTree>
    <p:extLst>
      <p:ext uri="{BB962C8B-B14F-4D97-AF65-F5344CB8AC3E}">
        <p14:creationId xmlns:p14="http://schemas.microsoft.com/office/powerpoint/2010/main" val="3890414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4/relationships/chartEx" Target="../charts/chartEx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4/relationships/chartEx" Target="../charts/chartEx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424CBA3-DB0C-7EF0-CAE8-AC3C090DB8F8}"/>
              </a:ext>
            </a:extLst>
          </p:cNvPr>
          <p:cNvSpPr>
            <a:spLocks noGrp="1"/>
          </p:cNvSpPr>
          <p:nvPr>
            <p:ph type="ctrTitle"/>
          </p:nvPr>
        </p:nvSpPr>
        <p:spPr>
          <a:xfrm>
            <a:off x="1127208" y="857251"/>
            <a:ext cx="4747280" cy="3098061"/>
          </a:xfrm>
        </p:spPr>
        <p:txBody>
          <a:bodyPr anchor="b">
            <a:normAutofit/>
          </a:bodyPr>
          <a:lstStyle/>
          <a:p>
            <a:pPr algn="l"/>
            <a:r>
              <a:rPr lang="en-US" sz="4800">
                <a:solidFill>
                  <a:srgbClr val="FFFFFF"/>
                </a:solidFill>
              </a:rPr>
              <a:t>Data Migration Quality Analysis</a:t>
            </a:r>
          </a:p>
        </p:txBody>
      </p:sp>
      <p:sp>
        <p:nvSpPr>
          <p:cNvPr id="30" name="Rectangle 29">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CD32BC7D-F2A7-1D14-1F28-3FFFFCF9650D}"/>
              </a:ext>
            </a:extLst>
          </p:cNvPr>
          <p:cNvSpPr>
            <a:spLocks noGrp="1"/>
          </p:cNvSpPr>
          <p:nvPr>
            <p:ph type="subTitle" idx="1"/>
          </p:nvPr>
        </p:nvSpPr>
        <p:spPr>
          <a:xfrm>
            <a:off x="1127208" y="4756265"/>
            <a:ext cx="4393278" cy="1244483"/>
          </a:xfrm>
        </p:spPr>
        <p:txBody>
          <a:bodyPr anchor="t">
            <a:normAutofit/>
          </a:bodyPr>
          <a:lstStyle/>
          <a:p>
            <a:pPr algn="l"/>
            <a:r>
              <a:rPr lang="en-US" dirty="0">
                <a:solidFill>
                  <a:srgbClr val="FFFFFF"/>
                </a:solidFill>
              </a:rPr>
              <a:t>Presented by Jeffrey Benson</a:t>
            </a:r>
          </a:p>
        </p:txBody>
      </p:sp>
      <p:sp>
        <p:nvSpPr>
          <p:cNvPr id="32" name="Oval 31">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Database">
            <a:extLst>
              <a:ext uri="{FF2B5EF4-FFF2-40B4-BE49-F238E27FC236}">
                <a16:creationId xmlns:a16="http://schemas.microsoft.com/office/drawing/2014/main" id="{C7D1F939-B143-89A3-DC38-6A01397C29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61874" y="2108877"/>
            <a:ext cx="2654533" cy="2654533"/>
          </a:xfrm>
          <a:prstGeom prst="rect">
            <a:avLst/>
          </a:prstGeom>
        </p:spPr>
      </p:pic>
      <p:sp>
        <p:nvSpPr>
          <p:cNvPr id="4" name="Subtitle 2">
            <a:extLst>
              <a:ext uri="{FF2B5EF4-FFF2-40B4-BE49-F238E27FC236}">
                <a16:creationId xmlns:a16="http://schemas.microsoft.com/office/drawing/2014/main" id="{C8410DDE-C85F-22F9-6AFA-7A4526D3CA53}"/>
              </a:ext>
            </a:extLst>
          </p:cNvPr>
          <p:cNvSpPr txBox="1">
            <a:spLocks/>
          </p:cNvSpPr>
          <p:nvPr/>
        </p:nvSpPr>
        <p:spPr>
          <a:xfrm>
            <a:off x="6574587" y="5145532"/>
            <a:ext cx="4805691" cy="838831"/>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2000" dirty="0">
              <a:solidFill>
                <a:schemeClr val="tx2"/>
              </a:solidFill>
            </a:endParaRPr>
          </a:p>
        </p:txBody>
      </p:sp>
    </p:spTree>
    <p:extLst>
      <p:ext uri="{BB962C8B-B14F-4D97-AF65-F5344CB8AC3E}">
        <p14:creationId xmlns:p14="http://schemas.microsoft.com/office/powerpoint/2010/main" val="2793761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180DE06-7362-4888-AADA-7AADD57AC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E6014F-CE75-45AD-E5E6-4B6834518038}"/>
              </a:ext>
            </a:extLst>
          </p:cNvPr>
          <p:cNvSpPr>
            <a:spLocks noGrp="1"/>
          </p:cNvSpPr>
          <p:nvPr>
            <p:ph type="title"/>
          </p:nvPr>
        </p:nvSpPr>
        <p:spPr>
          <a:xfrm>
            <a:off x="7331384" y="679730"/>
            <a:ext cx="4171994" cy="3932729"/>
          </a:xfrm>
        </p:spPr>
        <p:txBody>
          <a:bodyPr vert="horz" lIns="91440" tIns="45720" rIns="91440" bIns="45720" rtlCol="0" anchor="b">
            <a:normAutofit/>
          </a:bodyPr>
          <a:lstStyle/>
          <a:p>
            <a:r>
              <a:rPr lang="en-US" sz="6000" kern="1200">
                <a:solidFill>
                  <a:schemeClr val="tx1"/>
                </a:solidFill>
                <a:latin typeface="+mj-lt"/>
                <a:ea typeface="+mj-ea"/>
                <a:cs typeface="+mj-cs"/>
              </a:rPr>
              <a:t>Agenda</a:t>
            </a:r>
          </a:p>
        </p:txBody>
      </p:sp>
      <p:grpSp>
        <p:nvGrpSpPr>
          <p:cNvPr id="17" name="Group 16">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18" name="Straight Connector 17">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Rectangle 20">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3" y="372533"/>
            <a:ext cx="6116779" cy="606872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A8DF96B7-5617-423D-9667-27EE0B8C1BCC}"/>
              </a:ext>
            </a:extLst>
          </p:cNvPr>
          <p:cNvGraphicFramePr>
            <a:graphicFrameLocks noGrp="1"/>
          </p:cNvGraphicFramePr>
          <p:nvPr>
            <p:ph idx="1"/>
            <p:extLst>
              <p:ext uri="{D42A27DB-BD31-4B8C-83A1-F6EECF244321}">
                <p14:modId xmlns:p14="http://schemas.microsoft.com/office/powerpoint/2010/main" val="2141485091"/>
              </p:ext>
              <p:ext uri="{E7BDC344-281C-4309-B0C6-D0EE65EED2A8}">
                <p202:designPr xmlns:p202="http://schemas.microsoft.com/office/powerpoint/2020/02/main">
                  <p202:designTagLst>
                    <p202:designTag name="ARCH:1:CLS" val="StackedSequentialRowTable"/>
                  </p202:designTagLst>
                </p202:designPr>
              </p:ext>
            </p:extLst>
          </p:nvPr>
        </p:nvGraphicFramePr>
        <p:xfrm>
          <a:off x="2338280" y="1809081"/>
          <a:ext cx="2698968" cy="3393568"/>
        </p:xfrm>
        <a:graphic>
          <a:graphicData uri="http://schemas.openxmlformats.org/drawingml/2006/table">
            <a:tbl>
              <a:tblPr bandRow="1">
                <a:noFill/>
                <a:tableStyleId>{5C22544A-7EE6-4342-B048-85BDC9FD1C3A}</a:tableStyleId>
              </a:tblPr>
              <a:tblGrid>
                <a:gridCol w="816292">
                  <a:extLst>
                    <a:ext uri="{9D8B030D-6E8A-4147-A177-3AD203B41FA5}">
                      <a16:colId xmlns:a16="http://schemas.microsoft.com/office/drawing/2014/main" val="1461183545"/>
                    </a:ext>
                  </a:extLst>
                </a:gridCol>
                <a:gridCol w="1882676">
                  <a:extLst>
                    <a:ext uri="{9D8B030D-6E8A-4147-A177-3AD203B41FA5}">
                      <a16:colId xmlns:a16="http://schemas.microsoft.com/office/drawing/2014/main" val="1631821869"/>
                    </a:ext>
                  </a:extLst>
                </a:gridCol>
              </a:tblGrid>
              <a:tr h="823532">
                <a:tc>
                  <a:txBody>
                    <a:bodyPr/>
                    <a:lstStyle/>
                    <a:p>
                      <a:pPr algn="ctr">
                        <a:buNone/>
                      </a:pPr>
                      <a:r>
                        <a:rPr lang="en-US" sz="3300" b="1" cap="none" spc="0" dirty="0">
                          <a:solidFill>
                            <a:schemeClr val="tx1"/>
                          </a:solidFill>
                        </a:rPr>
                        <a:t>01</a:t>
                      </a:r>
                    </a:p>
                  </a:txBody>
                  <a:tcPr marL="141446" marR="141446" marT="141446" marB="141446" anchor="ctr">
                    <a:lnL w="12700" cmpd="sng">
                      <a:noFill/>
                      <a:prstDash val="solid"/>
                    </a:lnL>
                    <a:lnR w="12700" cmpd="sng">
                      <a:noFill/>
                      <a:prstDash val="solid"/>
                    </a:lnR>
                    <a:lnT w="6350" cap="flat" cmpd="sng" algn="ctr">
                      <a:solidFill>
                        <a:schemeClr val="accent1"/>
                      </a:solidFill>
                      <a:prstDash val="solid"/>
                    </a:lnT>
                    <a:lnB w="6350" cap="flat" cmpd="sng" algn="ctr">
                      <a:solidFill>
                        <a:schemeClr val="accent1"/>
                      </a:solidFill>
                      <a:prstDash val="solid"/>
                    </a:lnB>
                    <a:solidFill>
                      <a:schemeClr val="accent1">
                        <a:lumMod val="20000"/>
                        <a:lumOff val="80000"/>
                      </a:schemeClr>
                    </a:solidFill>
                  </a:tcPr>
                </a:tc>
                <a:tc>
                  <a:txBody>
                    <a:bodyPr/>
                    <a:lstStyle/>
                    <a:p>
                      <a:pPr algn="l">
                        <a:buNone/>
                      </a:pPr>
                      <a:r>
                        <a:rPr lang="en-US" sz="2100" b="0" cap="none" spc="0" dirty="0">
                          <a:solidFill>
                            <a:schemeClr val="tx1"/>
                          </a:solidFill>
                        </a:rPr>
                        <a:t>Process</a:t>
                      </a:r>
                    </a:p>
                  </a:txBody>
                  <a:tcPr marL="141446" marR="141446" marT="141446" marB="141446" anchor="ctr">
                    <a:lnL w="12700" cmpd="sng">
                      <a:noFill/>
                      <a:prstDash val="solid"/>
                    </a:lnL>
                    <a:lnR w="12700" cmpd="sng">
                      <a:noFill/>
                      <a:prstDash val="solid"/>
                    </a:lnR>
                    <a:lnT w="6350" cap="flat" cmpd="sng" algn="ctr">
                      <a:solidFill>
                        <a:schemeClr val="accent1"/>
                      </a:solidFill>
                      <a:prstDash val="solid"/>
                    </a:lnT>
                    <a:lnB w="6350" cap="flat" cmpd="sng" algn="ctr">
                      <a:solidFill>
                        <a:schemeClr val="accent1"/>
                      </a:solidFill>
                      <a:prstDash val="solid"/>
                    </a:lnB>
                    <a:noFill/>
                  </a:tcPr>
                </a:tc>
                <a:extLst>
                  <a:ext uri="{0D108BD9-81ED-4DB2-BD59-A6C34878D82A}">
                    <a16:rowId xmlns:a16="http://schemas.microsoft.com/office/drawing/2014/main" val="1821199230"/>
                  </a:ext>
                </a:extLst>
              </a:tr>
              <a:tr h="823532">
                <a:tc>
                  <a:txBody>
                    <a:bodyPr/>
                    <a:lstStyle/>
                    <a:p>
                      <a:pPr algn="ctr">
                        <a:buNone/>
                      </a:pPr>
                      <a:r>
                        <a:rPr lang="en-US" sz="3300" b="1" cap="none" spc="0">
                          <a:solidFill>
                            <a:schemeClr val="tx1"/>
                          </a:solidFill>
                        </a:rPr>
                        <a:t>02</a:t>
                      </a:r>
                    </a:p>
                  </a:txBody>
                  <a:tcPr marL="141446" marR="141446" marT="141446" marB="141446" anchor="ctr">
                    <a:lnL w="12700" cmpd="sng">
                      <a:noFill/>
                      <a:prstDash val="solid"/>
                    </a:lnL>
                    <a:lnR w="12700" cmpd="sng">
                      <a:noFill/>
                      <a:prstDash val="solid"/>
                    </a:lnR>
                    <a:lnT w="6350" cap="flat" cmpd="sng" algn="ctr">
                      <a:solidFill>
                        <a:schemeClr val="accent1"/>
                      </a:solidFill>
                      <a:prstDash val="solid"/>
                    </a:lnT>
                    <a:lnB w="6350" cap="flat" cmpd="sng" algn="ctr">
                      <a:solidFill>
                        <a:schemeClr val="accent1"/>
                      </a:solidFill>
                      <a:prstDash val="solid"/>
                    </a:lnB>
                    <a:solidFill>
                      <a:schemeClr val="accent1">
                        <a:lumMod val="20000"/>
                        <a:lumOff val="80000"/>
                      </a:schemeClr>
                    </a:solidFill>
                  </a:tcPr>
                </a:tc>
                <a:tc>
                  <a:txBody>
                    <a:bodyPr/>
                    <a:lstStyle/>
                    <a:p>
                      <a:pPr algn="l">
                        <a:buNone/>
                      </a:pPr>
                      <a:r>
                        <a:rPr lang="en-US" sz="2100" b="0" cap="none" spc="0" dirty="0">
                          <a:solidFill>
                            <a:schemeClr val="tx1"/>
                          </a:solidFill>
                        </a:rPr>
                        <a:t>Findings</a:t>
                      </a:r>
                    </a:p>
                  </a:txBody>
                  <a:tcPr marL="141446" marR="141446" marT="141446" marB="141446" anchor="ctr">
                    <a:lnL w="12700" cmpd="sng">
                      <a:noFill/>
                      <a:prstDash val="solid"/>
                    </a:lnL>
                    <a:lnR w="12700" cmpd="sng">
                      <a:noFill/>
                      <a:prstDash val="solid"/>
                    </a:lnR>
                    <a:lnT w="6350" cap="flat" cmpd="sng" algn="ctr">
                      <a:solidFill>
                        <a:schemeClr val="accent1"/>
                      </a:solidFill>
                      <a:prstDash val="solid"/>
                    </a:lnT>
                    <a:lnB w="6350" cap="flat" cmpd="sng" algn="ctr">
                      <a:solidFill>
                        <a:schemeClr val="accent1"/>
                      </a:solidFill>
                      <a:prstDash val="solid"/>
                    </a:lnB>
                    <a:noFill/>
                  </a:tcPr>
                </a:tc>
                <a:extLst>
                  <a:ext uri="{0D108BD9-81ED-4DB2-BD59-A6C34878D82A}">
                    <a16:rowId xmlns:a16="http://schemas.microsoft.com/office/drawing/2014/main" val="3984042088"/>
                  </a:ext>
                </a:extLst>
              </a:tr>
              <a:tr h="823532">
                <a:tc>
                  <a:txBody>
                    <a:bodyPr/>
                    <a:lstStyle/>
                    <a:p>
                      <a:pPr algn="ctr">
                        <a:buNone/>
                      </a:pPr>
                      <a:r>
                        <a:rPr lang="en-US" sz="3300" b="1" cap="none" spc="0">
                          <a:solidFill>
                            <a:schemeClr val="tx1"/>
                          </a:solidFill>
                        </a:rPr>
                        <a:t>03</a:t>
                      </a:r>
                    </a:p>
                  </a:txBody>
                  <a:tcPr marL="141446" marR="141446" marT="141446" marB="141446" anchor="ctr">
                    <a:lnL w="12700" cmpd="sng">
                      <a:noFill/>
                      <a:prstDash val="solid"/>
                    </a:lnL>
                    <a:lnR w="12700" cmpd="sng">
                      <a:noFill/>
                      <a:prstDash val="solid"/>
                    </a:lnR>
                    <a:lnT w="6350" cap="flat" cmpd="sng" algn="ctr">
                      <a:solidFill>
                        <a:schemeClr val="accent1"/>
                      </a:solidFill>
                      <a:prstDash val="solid"/>
                    </a:lnT>
                    <a:lnB w="6350" cap="flat" cmpd="sng" algn="ctr">
                      <a:solidFill>
                        <a:schemeClr val="accent1"/>
                      </a:solidFill>
                      <a:prstDash val="soli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b="0" cap="none" spc="0" dirty="0">
                          <a:solidFill>
                            <a:schemeClr val="tx1"/>
                          </a:solidFill>
                        </a:rPr>
                        <a:t>Interactive Samples</a:t>
                      </a:r>
                    </a:p>
                  </a:txBody>
                  <a:tcPr marL="141446" marR="141446" marT="141446" marB="141446" anchor="ctr">
                    <a:lnL w="12700" cmpd="sng">
                      <a:noFill/>
                      <a:prstDash val="solid"/>
                    </a:lnL>
                    <a:lnR w="12700" cmpd="sng">
                      <a:noFill/>
                      <a:prstDash val="solid"/>
                    </a:lnR>
                    <a:lnT w="6350" cap="flat" cmpd="sng" algn="ctr">
                      <a:solidFill>
                        <a:schemeClr val="accent1"/>
                      </a:solidFill>
                      <a:prstDash val="solid"/>
                    </a:lnT>
                    <a:lnB w="6350" cap="flat" cmpd="sng" algn="ctr">
                      <a:solidFill>
                        <a:schemeClr val="accent1"/>
                      </a:solidFill>
                      <a:prstDash val="solid"/>
                    </a:lnB>
                    <a:noFill/>
                  </a:tcPr>
                </a:tc>
                <a:extLst>
                  <a:ext uri="{0D108BD9-81ED-4DB2-BD59-A6C34878D82A}">
                    <a16:rowId xmlns:a16="http://schemas.microsoft.com/office/drawing/2014/main" val="3046751709"/>
                  </a:ext>
                </a:extLst>
              </a:tr>
              <a:tr h="823532">
                <a:tc>
                  <a:txBody>
                    <a:bodyPr/>
                    <a:lstStyle/>
                    <a:p>
                      <a:pPr algn="ctr">
                        <a:buNone/>
                      </a:pPr>
                      <a:r>
                        <a:rPr lang="en-US" sz="3300" b="1" cap="none" spc="0" dirty="0">
                          <a:solidFill>
                            <a:schemeClr val="tx1"/>
                          </a:solidFill>
                        </a:rPr>
                        <a:t>04</a:t>
                      </a:r>
                    </a:p>
                  </a:txBody>
                  <a:tcPr marL="141446" marR="141446" marT="141446" marB="141446" anchor="ctr">
                    <a:lnL w="12700" cmpd="sng">
                      <a:noFill/>
                      <a:prstDash val="solid"/>
                    </a:lnL>
                    <a:lnR w="12700" cmpd="sng">
                      <a:noFill/>
                      <a:prstDash val="solid"/>
                    </a:lnR>
                    <a:lnT w="6350" cap="flat" cmpd="sng" algn="ctr">
                      <a:solidFill>
                        <a:schemeClr val="accent1"/>
                      </a:solidFill>
                      <a:prstDash val="solid"/>
                    </a:lnT>
                    <a:lnB w="6350" cap="flat" cmpd="sng" algn="ctr">
                      <a:solidFill>
                        <a:schemeClr val="accent1"/>
                      </a:solidFill>
                      <a:prstDash val="soli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b="0" cap="none" spc="0" dirty="0">
                          <a:solidFill>
                            <a:schemeClr val="tx1"/>
                          </a:solidFill>
                        </a:rPr>
                        <a:t>Next Steps</a:t>
                      </a:r>
                    </a:p>
                  </a:txBody>
                  <a:tcPr marL="141446" marR="141446" marT="141446" marB="141446" anchor="ctr">
                    <a:lnL w="12700" cmpd="sng">
                      <a:noFill/>
                      <a:prstDash val="solid"/>
                    </a:lnL>
                    <a:lnR w="12700" cmpd="sng">
                      <a:noFill/>
                      <a:prstDash val="solid"/>
                    </a:lnR>
                    <a:lnT w="6350" cap="flat" cmpd="sng" algn="ctr">
                      <a:solidFill>
                        <a:schemeClr val="accent1"/>
                      </a:solidFill>
                      <a:prstDash val="solid"/>
                    </a:lnT>
                    <a:lnB w="6350" cap="flat" cmpd="sng" algn="ctr">
                      <a:solidFill>
                        <a:schemeClr val="accent1"/>
                      </a:solidFill>
                      <a:prstDash val="solid"/>
                    </a:lnB>
                    <a:noFill/>
                  </a:tcPr>
                </a:tc>
                <a:extLst>
                  <a:ext uri="{0D108BD9-81ED-4DB2-BD59-A6C34878D82A}">
                    <a16:rowId xmlns:a16="http://schemas.microsoft.com/office/drawing/2014/main" val="797915879"/>
                  </a:ext>
                </a:extLst>
              </a:tr>
            </a:tbl>
          </a:graphicData>
        </a:graphic>
      </p:graphicFrame>
    </p:spTree>
    <p:extLst>
      <p:ext uri="{BB962C8B-B14F-4D97-AF65-F5344CB8AC3E}">
        <p14:creationId xmlns:p14="http://schemas.microsoft.com/office/powerpoint/2010/main" val="991636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92820-9F59-661B-65F8-1A9805E6C86D}"/>
              </a:ext>
            </a:extLst>
          </p:cNvPr>
          <p:cNvSpPr>
            <a:spLocks noGrp="1"/>
          </p:cNvSpPr>
          <p:nvPr>
            <p:ph type="title"/>
          </p:nvPr>
        </p:nvSpPr>
        <p:spPr/>
        <p:txBody>
          <a:bodyPr/>
          <a:lstStyle/>
          <a:p>
            <a:r>
              <a:rPr lang="en-US" dirty="0"/>
              <a:t>Data Pipeline Process (ELT)</a:t>
            </a:r>
          </a:p>
        </p:txBody>
      </p:sp>
      <p:graphicFrame>
        <p:nvGraphicFramePr>
          <p:cNvPr id="5" name="Diagram 4">
            <a:extLst>
              <a:ext uri="{FF2B5EF4-FFF2-40B4-BE49-F238E27FC236}">
                <a16:creationId xmlns:a16="http://schemas.microsoft.com/office/drawing/2014/main" id="{5F05D404-B907-81D0-8BDC-2CED7B5FDC20}"/>
              </a:ext>
            </a:extLst>
          </p:cNvPr>
          <p:cNvGraphicFramePr/>
          <p:nvPr>
            <p:extLst>
              <p:ext uri="{D42A27DB-BD31-4B8C-83A1-F6EECF244321}">
                <p14:modId xmlns:p14="http://schemas.microsoft.com/office/powerpoint/2010/main" val="954897666"/>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Table 7">
            <a:extLst>
              <a:ext uri="{FF2B5EF4-FFF2-40B4-BE49-F238E27FC236}">
                <a16:creationId xmlns:a16="http://schemas.microsoft.com/office/drawing/2014/main" id="{683D9D35-4AEA-B56B-A024-4020B5CEA7F8}"/>
              </a:ext>
            </a:extLst>
          </p:cNvPr>
          <p:cNvGraphicFramePr>
            <a:graphicFrameLocks noGrp="1"/>
          </p:cNvGraphicFramePr>
          <p:nvPr>
            <p:extLst>
              <p:ext uri="{D42A27DB-BD31-4B8C-83A1-F6EECF244321}">
                <p14:modId xmlns:p14="http://schemas.microsoft.com/office/powerpoint/2010/main" val="1105257138"/>
              </p:ext>
            </p:extLst>
          </p:nvPr>
        </p:nvGraphicFramePr>
        <p:xfrm>
          <a:off x="3798914" y="4752446"/>
          <a:ext cx="4594171" cy="1272198"/>
        </p:xfrm>
        <a:graphic>
          <a:graphicData uri="http://schemas.openxmlformats.org/drawingml/2006/table">
            <a:tbl>
              <a:tblPr>
                <a:tableStyleId>{5940675A-B579-460E-94D1-54222C63F5DA}</a:tableStyleId>
              </a:tblPr>
              <a:tblGrid>
                <a:gridCol w="2101435">
                  <a:extLst>
                    <a:ext uri="{9D8B030D-6E8A-4147-A177-3AD203B41FA5}">
                      <a16:colId xmlns:a16="http://schemas.microsoft.com/office/drawing/2014/main" val="2172742319"/>
                    </a:ext>
                  </a:extLst>
                </a:gridCol>
                <a:gridCol w="999993">
                  <a:extLst>
                    <a:ext uri="{9D8B030D-6E8A-4147-A177-3AD203B41FA5}">
                      <a16:colId xmlns:a16="http://schemas.microsoft.com/office/drawing/2014/main" val="3926910574"/>
                    </a:ext>
                  </a:extLst>
                </a:gridCol>
                <a:gridCol w="695647">
                  <a:extLst>
                    <a:ext uri="{9D8B030D-6E8A-4147-A177-3AD203B41FA5}">
                      <a16:colId xmlns:a16="http://schemas.microsoft.com/office/drawing/2014/main" val="2184462179"/>
                    </a:ext>
                  </a:extLst>
                </a:gridCol>
                <a:gridCol w="797096">
                  <a:extLst>
                    <a:ext uri="{9D8B030D-6E8A-4147-A177-3AD203B41FA5}">
                      <a16:colId xmlns:a16="http://schemas.microsoft.com/office/drawing/2014/main" val="2515138331"/>
                    </a:ext>
                  </a:extLst>
                </a:gridCol>
              </a:tblGrid>
              <a:tr h="594922">
                <a:tc>
                  <a:txBody>
                    <a:bodyPr/>
                    <a:lstStyle/>
                    <a:p>
                      <a:pPr algn="ctr" fontAlgn="ctr">
                        <a:buNone/>
                      </a:pPr>
                      <a:r>
                        <a:rPr lang="en-US" sz="1200" b="1" u="none" strike="noStrike" dirty="0">
                          <a:effectLst/>
                        </a:rPr>
                        <a:t>Sources</a:t>
                      </a:r>
                      <a:endParaRPr lang="en-US" sz="12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n-US" sz="1200" b="1" u="none" strike="noStrike" dirty="0">
                          <a:effectLst/>
                        </a:rPr>
                        <a:t>Pre-Migration</a:t>
                      </a:r>
                      <a:br>
                        <a:rPr lang="en-US" sz="1200" b="1" u="none" strike="noStrike" dirty="0">
                          <a:effectLst/>
                        </a:rPr>
                      </a:br>
                      <a:r>
                        <a:rPr lang="en-US" sz="1200" b="1" u="none" strike="noStrike" dirty="0">
                          <a:effectLst/>
                        </a:rPr>
                        <a:t>Source</a:t>
                      </a:r>
                      <a:endParaRPr lang="en-US" sz="12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n-US" sz="1200" b="1" u="none" strike="noStrike" dirty="0">
                          <a:effectLst/>
                        </a:rPr>
                        <a:t>Delta</a:t>
                      </a:r>
                      <a:endParaRPr lang="en-US" sz="1200" b="1" i="0" u="none" strike="noStrike" dirty="0">
                        <a:solidFill>
                          <a:srgbClr val="000000"/>
                        </a:solidFill>
                        <a:effectLst/>
                        <a:latin typeface="Aptos Narrow" panose="020B0004020202020204" pitchFamily="34" charset="0"/>
                      </a:endParaRPr>
                    </a:p>
                  </a:txBody>
                  <a:tcPr marL="9525" marR="9525" marT="9525" marB="0" anchor="ctr"/>
                </a:tc>
                <a:tc>
                  <a:txBody>
                    <a:bodyPr/>
                    <a:lstStyle/>
                    <a:p>
                      <a:pPr algn="ctr" fontAlgn="ctr">
                        <a:buNone/>
                      </a:pPr>
                      <a:r>
                        <a:rPr lang="en-US" sz="1200" b="1" u="none" strike="noStrike" dirty="0">
                          <a:effectLst/>
                        </a:rPr>
                        <a:t>Post-Migration </a:t>
                      </a:r>
                      <a:br>
                        <a:rPr lang="en-US" sz="1200" b="1" u="none" strike="noStrike" dirty="0">
                          <a:effectLst/>
                        </a:rPr>
                      </a:br>
                      <a:r>
                        <a:rPr lang="en-US" sz="1200" b="1" u="none" strike="noStrike" dirty="0">
                          <a:effectLst/>
                        </a:rPr>
                        <a:t>New</a:t>
                      </a:r>
                      <a:endParaRPr lang="en-US" sz="1200" b="1" i="0" u="none" strike="noStrike" dirty="0">
                        <a:solidFill>
                          <a:srgbClr val="000000"/>
                        </a:solidFill>
                        <a:effectLst/>
                        <a:latin typeface="Aptos Narrow" panose="020B0004020202020204" pitchFamily="34" charset="0"/>
                      </a:endParaRPr>
                    </a:p>
                  </a:txBody>
                  <a:tcPr marL="9525" marR="9525" marT="9525" marB="0" anchor="ctr"/>
                </a:tc>
                <a:extLst>
                  <a:ext uri="{0D108BD9-81ED-4DB2-BD59-A6C34878D82A}">
                    <a16:rowId xmlns:a16="http://schemas.microsoft.com/office/drawing/2014/main" val="3815603353"/>
                  </a:ext>
                </a:extLst>
              </a:tr>
              <a:tr h="301991">
                <a:tc>
                  <a:txBody>
                    <a:bodyPr/>
                    <a:lstStyle/>
                    <a:p>
                      <a:pPr algn="r" fontAlgn="b">
                        <a:buNone/>
                      </a:pPr>
                      <a:r>
                        <a:rPr lang="en-US" sz="1200" b="1" u="none" strike="noStrike" dirty="0">
                          <a:effectLst/>
                        </a:rPr>
                        <a:t>Beneficiary Summary Records</a:t>
                      </a:r>
                      <a:endParaRPr lang="en-US" sz="12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b="1" u="none" strike="noStrike" dirty="0">
                          <a:effectLst/>
                        </a:rPr>
                        <a:t>343,644</a:t>
                      </a:r>
                      <a:endParaRPr lang="en-US" sz="12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b="1" u="none" strike="noStrike" dirty="0">
                          <a:effectLst/>
                        </a:rPr>
                        <a:t>0</a:t>
                      </a:r>
                      <a:endParaRPr lang="en-US" sz="12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b="1" u="none" strike="noStrike" dirty="0">
                          <a:effectLst/>
                        </a:rPr>
                        <a:t>343,644</a:t>
                      </a:r>
                      <a:endParaRPr lang="en-US" sz="12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907522999"/>
                  </a:ext>
                </a:extLst>
              </a:tr>
              <a:tr h="301991">
                <a:tc>
                  <a:txBody>
                    <a:bodyPr/>
                    <a:lstStyle/>
                    <a:p>
                      <a:pPr algn="r" fontAlgn="b">
                        <a:buNone/>
                      </a:pPr>
                      <a:r>
                        <a:rPr lang="en-US" sz="1200" b="1" u="none" strike="noStrike">
                          <a:effectLst/>
                        </a:rPr>
                        <a:t>Carrier Claim Records</a:t>
                      </a:r>
                      <a:endParaRPr lang="en-US" sz="12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b="1" u="none" strike="noStrike">
                          <a:effectLst/>
                        </a:rPr>
                        <a:t>4,741,335</a:t>
                      </a:r>
                      <a:endParaRPr lang="en-US" sz="1200" b="1"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b="1" u="none" strike="noStrike" dirty="0">
                          <a:effectLst/>
                        </a:rPr>
                        <a:t>+4,777</a:t>
                      </a:r>
                      <a:endParaRPr lang="en-US" sz="1200" b="1" i="0" u="none" strike="noStrike" dirty="0">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US" sz="1200" b="1" u="none" strike="noStrike" dirty="0">
                          <a:effectLst/>
                        </a:rPr>
                        <a:t>4,746,112</a:t>
                      </a:r>
                      <a:endParaRPr lang="en-US" sz="1200" b="1"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023919347"/>
                  </a:ext>
                </a:extLst>
              </a:tr>
            </a:tbl>
          </a:graphicData>
        </a:graphic>
      </p:graphicFrame>
    </p:spTree>
    <p:extLst>
      <p:ext uri="{BB962C8B-B14F-4D97-AF65-F5344CB8AC3E}">
        <p14:creationId xmlns:p14="http://schemas.microsoft.com/office/powerpoint/2010/main" val="4246472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DFE3C-3BBE-E2FF-1E3B-D6CFE4AE4E73}"/>
              </a:ext>
            </a:extLst>
          </p:cNvPr>
          <p:cNvSpPr>
            <a:spLocks noGrp="1"/>
          </p:cNvSpPr>
          <p:nvPr>
            <p:ph type="title"/>
          </p:nvPr>
        </p:nvSpPr>
        <p:spPr/>
        <p:txBody>
          <a:bodyPr/>
          <a:lstStyle/>
          <a:p>
            <a:r>
              <a:rPr lang="en-US" dirty="0"/>
              <a:t>Capability of Migration Process</a:t>
            </a:r>
          </a:p>
        </p:txBody>
      </p:sp>
      <p:graphicFrame>
        <p:nvGraphicFramePr>
          <p:cNvPr id="4" name="Content Placeholder 3">
            <a:extLst>
              <a:ext uri="{FF2B5EF4-FFF2-40B4-BE49-F238E27FC236}">
                <a16:creationId xmlns:a16="http://schemas.microsoft.com/office/drawing/2014/main" id="{AFF517B0-FFFB-5413-BAC6-3EB9EF02BF28}"/>
              </a:ext>
            </a:extLst>
          </p:cNvPr>
          <p:cNvGraphicFramePr>
            <a:graphicFrameLocks noGrp="1"/>
          </p:cNvGraphicFramePr>
          <p:nvPr>
            <p:ph idx="1"/>
            <p:extLst>
              <p:ext uri="{D42A27DB-BD31-4B8C-83A1-F6EECF244321}">
                <p14:modId xmlns:p14="http://schemas.microsoft.com/office/powerpoint/2010/main" val="1393848989"/>
              </p:ext>
            </p:extLst>
          </p:nvPr>
        </p:nvGraphicFramePr>
        <p:xfrm>
          <a:off x="838200" y="1825625"/>
          <a:ext cx="10515596" cy="2194560"/>
        </p:xfrm>
        <a:graphic>
          <a:graphicData uri="http://schemas.openxmlformats.org/drawingml/2006/table">
            <a:tbl>
              <a:tblPr firstRow="1" bandRow="1">
                <a:tableStyleId>{5C22544A-7EE6-4342-B048-85BDC9FD1C3A}</a:tableStyleId>
              </a:tblPr>
              <a:tblGrid>
                <a:gridCol w="1502228">
                  <a:extLst>
                    <a:ext uri="{9D8B030D-6E8A-4147-A177-3AD203B41FA5}">
                      <a16:colId xmlns:a16="http://schemas.microsoft.com/office/drawing/2014/main" val="1224699945"/>
                    </a:ext>
                  </a:extLst>
                </a:gridCol>
                <a:gridCol w="1502228">
                  <a:extLst>
                    <a:ext uri="{9D8B030D-6E8A-4147-A177-3AD203B41FA5}">
                      <a16:colId xmlns:a16="http://schemas.microsoft.com/office/drawing/2014/main" val="4043549251"/>
                    </a:ext>
                  </a:extLst>
                </a:gridCol>
                <a:gridCol w="1502228">
                  <a:extLst>
                    <a:ext uri="{9D8B030D-6E8A-4147-A177-3AD203B41FA5}">
                      <a16:colId xmlns:a16="http://schemas.microsoft.com/office/drawing/2014/main" val="652096944"/>
                    </a:ext>
                  </a:extLst>
                </a:gridCol>
                <a:gridCol w="1502228">
                  <a:extLst>
                    <a:ext uri="{9D8B030D-6E8A-4147-A177-3AD203B41FA5}">
                      <a16:colId xmlns:a16="http://schemas.microsoft.com/office/drawing/2014/main" val="265825846"/>
                    </a:ext>
                  </a:extLst>
                </a:gridCol>
                <a:gridCol w="1502228">
                  <a:extLst>
                    <a:ext uri="{9D8B030D-6E8A-4147-A177-3AD203B41FA5}">
                      <a16:colId xmlns:a16="http://schemas.microsoft.com/office/drawing/2014/main" val="8069605"/>
                    </a:ext>
                  </a:extLst>
                </a:gridCol>
                <a:gridCol w="1502228">
                  <a:extLst>
                    <a:ext uri="{9D8B030D-6E8A-4147-A177-3AD203B41FA5}">
                      <a16:colId xmlns:a16="http://schemas.microsoft.com/office/drawing/2014/main" val="919248071"/>
                    </a:ext>
                  </a:extLst>
                </a:gridCol>
                <a:gridCol w="1502228">
                  <a:extLst>
                    <a:ext uri="{9D8B030D-6E8A-4147-A177-3AD203B41FA5}">
                      <a16:colId xmlns:a16="http://schemas.microsoft.com/office/drawing/2014/main" val="4162129249"/>
                    </a:ext>
                  </a:extLst>
                </a:gridCol>
              </a:tblGrid>
              <a:tr h="370840">
                <a:tc>
                  <a:txBody>
                    <a:bodyPr/>
                    <a:lstStyle/>
                    <a:p>
                      <a:pPr algn="ctr"/>
                      <a:r>
                        <a:rPr lang="en-US" dirty="0"/>
                        <a:t>Data Set</a:t>
                      </a:r>
                    </a:p>
                  </a:txBody>
                  <a:tcPr/>
                </a:tc>
                <a:tc>
                  <a:txBody>
                    <a:bodyPr/>
                    <a:lstStyle/>
                    <a:p>
                      <a:pPr algn="ctr"/>
                      <a:r>
                        <a:rPr lang="en-US" dirty="0"/>
                        <a:t>Total Rows</a:t>
                      </a:r>
                    </a:p>
                  </a:txBody>
                  <a:tcPr/>
                </a:tc>
                <a:tc>
                  <a:txBody>
                    <a:bodyPr/>
                    <a:lstStyle/>
                    <a:p>
                      <a:pPr algn="ctr"/>
                      <a:r>
                        <a:rPr lang="en-US" dirty="0"/>
                        <a:t>Defective Data Elements</a:t>
                      </a:r>
                    </a:p>
                  </a:txBody>
                  <a:tcPr/>
                </a:tc>
                <a:tc>
                  <a:txBody>
                    <a:bodyPr/>
                    <a:lstStyle/>
                    <a:p>
                      <a:pPr algn="ctr"/>
                      <a:r>
                        <a:rPr lang="en-US" dirty="0"/>
                        <a:t>Total Data Elements</a:t>
                      </a:r>
                    </a:p>
                  </a:txBody>
                  <a:tcPr/>
                </a:tc>
                <a:tc>
                  <a:txBody>
                    <a:bodyPr/>
                    <a:lstStyle/>
                    <a:p>
                      <a:pPr algn="ctr"/>
                      <a:r>
                        <a:rPr lang="en-US" dirty="0"/>
                        <a:t>DPMO*</a:t>
                      </a:r>
                    </a:p>
                  </a:txBody>
                  <a:tcPr/>
                </a:tc>
                <a:tc>
                  <a:txBody>
                    <a:bodyPr/>
                    <a:lstStyle/>
                    <a:p>
                      <a:pPr algn="ctr"/>
                      <a:r>
                        <a:rPr lang="en-US" dirty="0"/>
                        <a:t>Process Yield</a:t>
                      </a:r>
                    </a:p>
                  </a:txBody>
                  <a:tcPr/>
                </a:tc>
                <a:tc>
                  <a:txBody>
                    <a:bodyPr/>
                    <a:lstStyle/>
                    <a:p>
                      <a:pPr algn="ctr"/>
                      <a:r>
                        <a:rPr lang="en-US" dirty="0"/>
                        <a:t>Sigma</a:t>
                      </a:r>
                    </a:p>
                  </a:txBody>
                  <a:tcPr/>
                </a:tc>
                <a:extLst>
                  <a:ext uri="{0D108BD9-81ED-4DB2-BD59-A6C34878D82A}">
                    <a16:rowId xmlns:a16="http://schemas.microsoft.com/office/drawing/2014/main" val="2652846029"/>
                  </a:ext>
                </a:extLst>
              </a:tr>
              <a:tr h="370840">
                <a:tc>
                  <a:txBody>
                    <a:bodyPr/>
                    <a:lstStyle/>
                    <a:p>
                      <a:r>
                        <a:rPr lang="en-US" dirty="0"/>
                        <a:t>Carrier Claims</a:t>
                      </a:r>
                    </a:p>
                  </a:txBody>
                  <a:tcPr/>
                </a:tc>
                <a:tc>
                  <a:txBody>
                    <a:bodyPr/>
                    <a:lstStyle/>
                    <a:p>
                      <a:pPr algn="r"/>
                      <a:r>
                        <a:rPr lang="en-US" dirty="0"/>
                        <a:t>4,746.1K</a:t>
                      </a:r>
                    </a:p>
                  </a:txBody>
                  <a:tcPr/>
                </a:tc>
                <a:tc>
                  <a:txBody>
                    <a:bodyPr/>
                    <a:lstStyle/>
                    <a:p>
                      <a:pPr algn="r"/>
                      <a:r>
                        <a:rPr lang="en-US" dirty="0"/>
                        <a:t>530.4K</a:t>
                      </a:r>
                    </a:p>
                  </a:txBody>
                  <a:tcPr/>
                </a:tc>
                <a:tc>
                  <a:txBody>
                    <a:bodyPr/>
                    <a:lstStyle/>
                    <a:p>
                      <a:pPr algn="r"/>
                      <a:r>
                        <a:rPr lang="en-US" dirty="0"/>
                        <a:t>484,150.9K</a:t>
                      </a:r>
                    </a:p>
                  </a:txBody>
                  <a:tcPr/>
                </a:tc>
                <a:tc>
                  <a:txBody>
                    <a:bodyPr/>
                    <a:lstStyle/>
                    <a:p>
                      <a:pPr algn="r"/>
                      <a:r>
                        <a:rPr lang="en-US" dirty="0"/>
                        <a:t>1095.5</a:t>
                      </a:r>
                    </a:p>
                  </a:txBody>
                  <a:tcPr/>
                </a:tc>
                <a:tc>
                  <a:txBody>
                    <a:bodyPr/>
                    <a:lstStyle/>
                    <a:p>
                      <a:pPr algn="r"/>
                      <a:r>
                        <a:rPr lang="en-US" dirty="0"/>
                        <a:t>99.89045%</a:t>
                      </a:r>
                    </a:p>
                  </a:txBody>
                  <a:tcPr/>
                </a:tc>
                <a:tc>
                  <a:txBody>
                    <a:bodyPr/>
                    <a:lstStyle/>
                    <a:p>
                      <a:pPr algn="r"/>
                      <a:r>
                        <a:rPr lang="en-US" dirty="0"/>
                        <a:t>~4.56</a:t>
                      </a:r>
                    </a:p>
                  </a:txBody>
                  <a:tcPr/>
                </a:tc>
                <a:extLst>
                  <a:ext uri="{0D108BD9-81ED-4DB2-BD59-A6C34878D82A}">
                    <a16:rowId xmlns:a16="http://schemas.microsoft.com/office/drawing/2014/main" val="3888968175"/>
                  </a:ext>
                </a:extLst>
              </a:tr>
              <a:tr h="370840">
                <a:tc>
                  <a:txBody>
                    <a:bodyPr/>
                    <a:lstStyle/>
                    <a:p>
                      <a:r>
                        <a:rPr lang="en-US" dirty="0"/>
                        <a:t>Beneficiary Summary</a:t>
                      </a:r>
                    </a:p>
                  </a:txBody>
                  <a:tcPr/>
                </a:tc>
                <a:tc>
                  <a:txBody>
                    <a:bodyPr/>
                    <a:lstStyle/>
                    <a:p>
                      <a:pPr algn="r"/>
                      <a:r>
                        <a:rPr lang="en-US" dirty="0"/>
                        <a:t>343.6K</a:t>
                      </a:r>
                    </a:p>
                  </a:txBody>
                  <a:tcPr/>
                </a:tc>
                <a:tc>
                  <a:txBody>
                    <a:bodyPr/>
                    <a:lstStyle/>
                    <a:p>
                      <a:pPr algn="r"/>
                      <a:r>
                        <a:rPr lang="en-US" dirty="0"/>
                        <a:t>8.2K</a:t>
                      </a:r>
                    </a:p>
                  </a:txBody>
                  <a:tcPr/>
                </a:tc>
                <a:tc>
                  <a:txBody>
                    <a:bodyPr/>
                    <a:lstStyle/>
                    <a:p>
                      <a:pPr algn="r"/>
                      <a:r>
                        <a:rPr lang="en-US" dirty="0"/>
                        <a:t>10,657.9K</a:t>
                      </a:r>
                    </a:p>
                  </a:txBody>
                  <a:tcPr/>
                </a:tc>
                <a:tc>
                  <a:txBody>
                    <a:bodyPr/>
                    <a:lstStyle/>
                    <a:p>
                      <a:pPr algn="r"/>
                      <a:r>
                        <a:rPr lang="en-US" dirty="0"/>
                        <a:t>768.7</a:t>
                      </a:r>
                    </a:p>
                  </a:txBody>
                  <a:tcPr/>
                </a:tc>
                <a:tc>
                  <a:txBody>
                    <a:bodyPr/>
                    <a:lstStyle/>
                    <a:p>
                      <a:pPr algn="r"/>
                      <a:r>
                        <a:rPr lang="en-US" dirty="0"/>
                        <a:t>99.92313%</a:t>
                      </a:r>
                    </a:p>
                  </a:txBody>
                  <a:tcPr/>
                </a:tc>
                <a:tc>
                  <a:txBody>
                    <a:bodyPr/>
                    <a:lstStyle/>
                    <a:p>
                      <a:pPr algn="r"/>
                      <a:r>
                        <a:rPr lang="en-US" dirty="0"/>
                        <a:t>~4.67</a:t>
                      </a:r>
                    </a:p>
                  </a:txBody>
                  <a:tcPr/>
                </a:tc>
                <a:extLst>
                  <a:ext uri="{0D108BD9-81ED-4DB2-BD59-A6C34878D82A}">
                    <a16:rowId xmlns:a16="http://schemas.microsoft.com/office/drawing/2014/main" val="1215746761"/>
                  </a:ext>
                </a:extLst>
              </a:tr>
            </a:tbl>
          </a:graphicData>
        </a:graphic>
      </p:graphicFrame>
      <p:sp>
        <p:nvSpPr>
          <p:cNvPr id="7" name="TextBox 6">
            <a:extLst>
              <a:ext uri="{FF2B5EF4-FFF2-40B4-BE49-F238E27FC236}">
                <a16:creationId xmlns:a16="http://schemas.microsoft.com/office/drawing/2014/main" id="{FB4E4F64-0241-8B16-A3DB-2C01EA9E5AF5}"/>
              </a:ext>
            </a:extLst>
          </p:cNvPr>
          <p:cNvSpPr txBox="1"/>
          <p:nvPr/>
        </p:nvSpPr>
        <p:spPr>
          <a:xfrm>
            <a:off x="838199" y="4155122"/>
            <a:ext cx="10515595" cy="1754326"/>
          </a:xfrm>
          <a:prstGeom prst="rect">
            <a:avLst/>
          </a:prstGeom>
          <a:noFill/>
        </p:spPr>
        <p:txBody>
          <a:bodyPr wrap="square">
            <a:spAutoFit/>
          </a:bodyPr>
          <a:lstStyle/>
          <a:p>
            <a:r>
              <a:rPr lang="en-US" b="0" i="0" dirty="0">
                <a:effectLst/>
                <a:latin typeface="fkGroteskNeue"/>
              </a:rPr>
              <a:t>“Six Sigma” represents a process capability with a 99.99966% yield, or 3.4 defects per million opportunities.</a:t>
            </a:r>
          </a:p>
          <a:p>
            <a:endParaRPr lang="en-US" dirty="0">
              <a:latin typeface="fkGroteskNeue"/>
            </a:endParaRPr>
          </a:p>
          <a:p>
            <a:r>
              <a:rPr lang="en-US" i="1" u="sng" dirty="0">
                <a:latin typeface="fkGroteskNeue"/>
              </a:rPr>
              <a:t>Data Migration Process Capability:</a:t>
            </a:r>
          </a:p>
          <a:p>
            <a:endParaRPr lang="en-US" dirty="0"/>
          </a:p>
          <a:p>
            <a:pPr marL="285750" indent="-285750">
              <a:buFont typeface="Arial" panose="020B0604020202020204" pitchFamily="34" charset="0"/>
              <a:buChar char="•"/>
            </a:pPr>
            <a:r>
              <a:rPr lang="en-US" dirty="0">
                <a:latin typeface="fkGroteskNeue"/>
              </a:rPr>
              <a:t>Carrier Claims:                </a:t>
            </a:r>
            <a:r>
              <a:rPr lang="en-US" dirty="0"/>
              <a:t>99.89045%   yield, or 1,095.5 defects per million opportunities*.</a:t>
            </a:r>
          </a:p>
          <a:p>
            <a:pPr marL="285750" indent="-285750">
              <a:buFont typeface="Arial" panose="020B0604020202020204" pitchFamily="34" charset="0"/>
              <a:buChar char="•"/>
            </a:pPr>
            <a:r>
              <a:rPr lang="en-US" dirty="0"/>
              <a:t>Beneficiary Summary: 99.92313%   yield, or     768.7 defects per million opportunities*.</a:t>
            </a:r>
          </a:p>
        </p:txBody>
      </p:sp>
    </p:spTree>
    <p:extLst>
      <p:ext uri="{BB962C8B-B14F-4D97-AF65-F5344CB8AC3E}">
        <p14:creationId xmlns:p14="http://schemas.microsoft.com/office/powerpoint/2010/main" val="418525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62B8C6-830B-FE83-2608-0652904740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540" y="872923"/>
            <a:ext cx="11740919" cy="5518415"/>
          </a:xfrm>
          <a:prstGeom prst="rect">
            <a:avLst/>
          </a:prstGeom>
        </p:spPr>
      </p:pic>
    </p:spTree>
    <p:extLst>
      <p:ext uri="{BB962C8B-B14F-4D97-AF65-F5344CB8AC3E}">
        <p14:creationId xmlns:p14="http://schemas.microsoft.com/office/powerpoint/2010/main" val="4290721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180DE06-7362-4888-AADA-7AADD57AC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65928F-2374-9CF7-1273-DD6F1C6F4505}"/>
              </a:ext>
            </a:extLst>
          </p:cNvPr>
          <p:cNvSpPr>
            <a:spLocks noGrp="1"/>
          </p:cNvSpPr>
          <p:nvPr>
            <p:ph type="title"/>
          </p:nvPr>
        </p:nvSpPr>
        <p:spPr>
          <a:xfrm>
            <a:off x="7331384" y="679730"/>
            <a:ext cx="4171994" cy="3932729"/>
          </a:xfrm>
        </p:spPr>
        <p:txBody>
          <a:bodyPr vert="horz" lIns="91440" tIns="45720" rIns="91440" bIns="45720" rtlCol="0" anchor="b">
            <a:normAutofit/>
          </a:bodyPr>
          <a:lstStyle/>
          <a:p>
            <a:r>
              <a:rPr lang="en-US" sz="4800" kern="1200" dirty="0">
                <a:solidFill>
                  <a:schemeClr val="tx1"/>
                </a:solidFill>
                <a:latin typeface="+mj-lt"/>
                <a:ea typeface="+mj-ea"/>
                <a:cs typeface="+mj-cs"/>
              </a:rPr>
              <a:t>Pareto Analysis of Claims Data Defects</a:t>
            </a:r>
          </a:p>
        </p:txBody>
      </p:sp>
      <p:grpSp>
        <p:nvGrpSpPr>
          <p:cNvPr id="11" name="Group 10">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12" name="Straight Connector 11">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3" y="372533"/>
            <a:ext cx="6116779" cy="606872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B34CC932-FBCF-33B2-17CA-C771B8DACDD0}"/>
              </a:ext>
            </a:extLst>
          </p:cNvPr>
          <p:cNvGraphicFramePr>
            <a:graphicFrameLocks noGrp="1"/>
          </p:cNvGraphicFramePr>
          <p:nvPr>
            <p:extLst>
              <p:ext uri="{D42A27DB-BD31-4B8C-83A1-F6EECF244321}">
                <p14:modId xmlns:p14="http://schemas.microsoft.com/office/powerpoint/2010/main" val="842900808"/>
              </p:ext>
            </p:extLst>
          </p:nvPr>
        </p:nvGraphicFramePr>
        <p:xfrm>
          <a:off x="942597" y="1381714"/>
          <a:ext cx="5608832" cy="4094580"/>
        </p:xfrm>
        <a:graphic>
          <a:graphicData uri="http://schemas.openxmlformats.org/drawingml/2006/table">
            <a:tbl>
              <a:tblPr firstRow="1" bandRow="1">
                <a:tableStyleId>{5C22544A-7EE6-4342-B048-85BDC9FD1C3A}</a:tableStyleId>
              </a:tblPr>
              <a:tblGrid>
                <a:gridCol w="546859">
                  <a:extLst>
                    <a:ext uri="{9D8B030D-6E8A-4147-A177-3AD203B41FA5}">
                      <a16:colId xmlns:a16="http://schemas.microsoft.com/office/drawing/2014/main" val="195526942"/>
                    </a:ext>
                  </a:extLst>
                </a:gridCol>
                <a:gridCol w="1724090">
                  <a:extLst>
                    <a:ext uri="{9D8B030D-6E8A-4147-A177-3AD203B41FA5}">
                      <a16:colId xmlns:a16="http://schemas.microsoft.com/office/drawing/2014/main" val="4104102122"/>
                    </a:ext>
                  </a:extLst>
                </a:gridCol>
                <a:gridCol w="867036">
                  <a:extLst>
                    <a:ext uri="{9D8B030D-6E8A-4147-A177-3AD203B41FA5}">
                      <a16:colId xmlns:a16="http://schemas.microsoft.com/office/drawing/2014/main" val="4123215931"/>
                    </a:ext>
                  </a:extLst>
                </a:gridCol>
                <a:gridCol w="1318694">
                  <a:extLst>
                    <a:ext uri="{9D8B030D-6E8A-4147-A177-3AD203B41FA5}">
                      <a16:colId xmlns:a16="http://schemas.microsoft.com/office/drawing/2014/main" val="1879242443"/>
                    </a:ext>
                  </a:extLst>
                </a:gridCol>
                <a:gridCol w="414162">
                  <a:extLst>
                    <a:ext uri="{9D8B030D-6E8A-4147-A177-3AD203B41FA5}">
                      <a16:colId xmlns:a16="http://schemas.microsoft.com/office/drawing/2014/main" val="2991373655"/>
                    </a:ext>
                  </a:extLst>
                </a:gridCol>
                <a:gridCol w="737991">
                  <a:extLst>
                    <a:ext uri="{9D8B030D-6E8A-4147-A177-3AD203B41FA5}">
                      <a16:colId xmlns:a16="http://schemas.microsoft.com/office/drawing/2014/main" val="751102839"/>
                    </a:ext>
                  </a:extLst>
                </a:gridCol>
              </a:tblGrid>
              <a:tr h="292470">
                <a:tc>
                  <a:txBody>
                    <a:bodyPr/>
                    <a:lstStyle/>
                    <a:p>
                      <a:pPr algn="ctr" fontAlgn="b">
                        <a:buNone/>
                      </a:pPr>
                      <a:r>
                        <a:rPr lang="en-US" sz="800" u="none" strike="noStrike" dirty="0">
                          <a:effectLst/>
                        </a:rPr>
                        <a:t>SOURCE</a:t>
                      </a:r>
                      <a:endParaRPr lang="en-US" sz="800" b="0" i="0" u="none" strike="noStrike" dirty="0">
                        <a:solidFill>
                          <a:srgbClr val="000000"/>
                        </a:solidFill>
                        <a:effectLst/>
                        <a:latin typeface="Aptos Narrow" panose="020B0004020202020204" pitchFamily="34" charset="0"/>
                      </a:endParaRPr>
                    </a:p>
                  </a:txBody>
                  <a:tcPr marL="5233" marR="5233" marT="5233" marB="0" anchor="ctr"/>
                </a:tc>
                <a:tc>
                  <a:txBody>
                    <a:bodyPr/>
                    <a:lstStyle/>
                    <a:p>
                      <a:pPr algn="ctr" fontAlgn="b">
                        <a:buNone/>
                      </a:pPr>
                      <a:r>
                        <a:rPr lang="en-US" sz="800" u="none" strike="noStrike" dirty="0">
                          <a:effectLst/>
                        </a:rPr>
                        <a:t>DATA SET</a:t>
                      </a:r>
                      <a:endParaRPr lang="en-US" sz="800" b="0" i="0" u="none" strike="noStrike" dirty="0">
                        <a:solidFill>
                          <a:srgbClr val="000000"/>
                        </a:solidFill>
                        <a:effectLst/>
                        <a:latin typeface="Aptos Narrow" panose="020B0004020202020204" pitchFamily="34" charset="0"/>
                      </a:endParaRPr>
                    </a:p>
                  </a:txBody>
                  <a:tcPr marL="5233" marR="5233" marT="5233" marB="0" anchor="ctr"/>
                </a:tc>
                <a:tc>
                  <a:txBody>
                    <a:bodyPr/>
                    <a:lstStyle/>
                    <a:p>
                      <a:pPr algn="ctr" fontAlgn="b">
                        <a:buNone/>
                      </a:pPr>
                      <a:r>
                        <a:rPr lang="en-US" sz="800" u="none" strike="noStrike" dirty="0">
                          <a:effectLst/>
                        </a:rPr>
                        <a:t>TOTAL DEFECTS</a:t>
                      </a:r>
                      <a:endParaRPr lang="en-US" sz="800" b="0" i="0" u="none" strike="noStrike" dirty="0">
                        <a:solidFill>
                          <a:srgbClr val="000000"/>
                        </a:solidFill>
                        <a:effectLst/>
                        <a:latin typeface="Aptos Narrow" panose="020B0004020202020204" pitchFamily="34" charset="0"/>
                      </a:endParaRPr>
                    </a:p>
                  </a:txBody>
                  <a:tcPr marL="5233" marR="5233" marT="5233" marB="0" anchor="ctr"/>
                </a:tc>
                <a:tc>
                  <a:txBody>
                    <a:bodyPr/>
                    <a:lstStyle/>
                    <a:p>
                      <a:pPr algn="ctr" fontAlgn="b">
                        <a:buNone/>
                      </a:pPr>
                      <a:r>
                        <a:rPr lang="en-US" sz="800" u="none" strike="noStrike" dirty="0">
                          <a:effectLst/>
                        </a:rPr>
                        <a:t>RUNNING PCT</a:t>
                      </a:r>
                      <a:endParaRPr lang="en-US" sz="800" b="0" i="0" u="none" strike="noStrike" dirty="0">
                        <a:solidFill>
                          <a:srgbClr val="000000"/>
                        </a:solidFill>
                        <a:effectLst/>
                        <a:latin typeface="Aptos Narrow" panose="020B0004020202020204" pitchFamily="34" charset="0"/>
                      </a:endParaRPr>
                    </a:p>
                  </a:txBody>
                  <a:tcPr marL="5233" marR="5233" marT="5233" marB="0" anchor="ctr"/>
                </a:tc>
                <a:tc>
                  <a:txBody>
                    <a:bodyPr/>
                    <a:lstStyle/>
                    <a:p>
                      <a:pPr algn="ctr" fontAlgn="b">
                        <a:buNone/>
                      </a:pPr>
                      <a:r>
                        <a:rPr lang="en-US" sz="800" u="none" strike="noStrike" dirty="0">
                          <a:effectLst/>
                        </a:rPr>
                        <a:t>DPMO</a:t>
                      </a:r>
                      <a:endParaRPr lang="en-US" sz="800" b="0" i="0" u="none" strike="noStrike" dirty="0">
                        <a:solidFill>
                          <a:srgbClr val="000000"/>
                        </a:solidFill>
                        <a:effectLst/>
                        <a:latin typeface="Aptos Narrow" panose="020B0004020202020204" pitchFamily="34" charset="0"/>
                      </a:endParaRPr>
                    </a:p>
                  </a:txBody>
                  <a:tcPr marL="5233" marR="5233" marT="5233" marB="0" anchor="ctr"/>
                </a:tc>
                <a:tc>
                  <a:txBody>
                    <a:bodyPr/>
                    <a:lstStyle/>
                    <a:p>
                      <a:pPr algn="ctr" fontAlgn="b">
                        <a:buNone/>
                      </a:pPr>
                      <a:r>
                        <a:rPr lang="en-US" sz="800" u="none" strike="noStrike" dirty="0">
                          <a:effectLst/>
                        </a:rPr>
                        <a:t>SIGMA LEVEL</a:t>
                      </a:r>
                      <a:endParaRPr lang="en-US" sz="800" b="0" i="0" u="none" strike="noStrike" dirty="0">
                        <a:solidFill>
                          <a:srgbClr val="000000"/>
                        </a:solidFill>
                        <a:effectLst/>
                        <a:latin typeface="Aptos Narrow" panose="020B0004020202020204" pitchFamily="34" charset="0"/>
                      </a:endParaRPr>
                    </a:p>
                  </a:txBody>
                  <a:tcPr marL="5233" marR="5233" marT="5233" marB="0" anchor="ctr"/>
                </a:tc>
                <a:extLst>
                  <a:ext uri="{0D108BD9-81ED-4DB2-BD59-A6C34878D82A}">
                    <a16:rowId xmlns:a16="http://schemas.microsoft.com/office/drawing/2014/main" val="4049756915"/>
                  </a:ext>
                </a:extLst>
              </a:tr>
              <a:tr h="292470">
                <a:tc>
                  <a:txBody>
                    <a:bodyPr/>
                    <a:lstStyle/>
                    <a:p>
                      <a:pPr algn="l" fontAlgn="b">
                        <a:buNone/>
                      </a:pPr>
                      <a:r>
                        <a:rPr lang="en-US" sz="800" u="none" strike="noStrike" dirty="0">
                          <a:effectLst/>
                        </a:rPr>
                        <a:t>Carrier Claims</a:t>
                      </a:r>
                      <a:endParaRPr lang="en-US" sz="800" b="0" i="0" u="none" strike="noStrike" dirty="0">
                        <a:solidFill>
                          <a:srgbClr val="000000"/>
                        </a:solidFill>
                        <a:effectLst/>
                        <a:latin typeface="Aptos Narrow" panose="020B0004020202020204" pitchFamily="34" charset="0"/>
                      </a:endParaRPr>
                    </a:p>
                  </a:txBody>
                  <a:tcPr marL="7304" marR="7304" marT="7304" marB="0" anchor="b"/>
                </a:tc>
                <a:tc>
                  <a:txBody>
                    <a:bodyPr/>
                    <a:lstStyle/>
                    <a:p>
                      <a:pPr algn="l" fontAlgn="b">
                        <a:buNone/>
                      </a:pPr>
                      <a:r>
                        <a:rPr lang="en-US" sz="800" u="none" strike="noStrike">
                          <a:effectLst/>
                        </a:rPr>
                        <a:t>LINE_PRCSG_IND_CD</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75,497</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13.93%</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15,906</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3.656</a:t>
                      </a:r>
                      <a:endParaRPr lang="en-US" sz="800" b="0" i="0" u="none" strike="noStrike">
                        <a:solidFill>
                          <a:srgbClr val="000000"/>
                        </a:solidFill>
                        <a:effectLst/>
                        <a:latin typeface="Aptos Narrow" panose="020B0004020202020204" pitchFamily="34" charset="0"/>
                      </a:endParaRPr>
                    </a:p>
                  </a:txBody>
                  <a:tcPr marL="7304" marR="7304" marT="7304" marB="0" anchor="b"/>
                </a:tc>
                <a:extLst>
                  <a:ext uri="{0D108BD9-81ED-4DB2-BD59-A6C34878D82A}">
                    <a16:rowId xmlns:a16="http://schemas.microsoft.com/office/drawing/2014/main" val="1509720168"/>
                  </a:ext>
                </a:extLst>
              </a:tr>
              <a:tr h="292470">
                <a:tc>
                  <a:txBody>
                    <a:bodyPr/>
                    <a:lstStyle/>
                    <a:p>
                      <a:pPr algn="l" fontAlgn="b">
                        <a:buNone/>
                      </a:pPr>
                      <a:r>
                        <a:rPr lang="en-US" sz="800" u="none" strike="noStrike">
                          <a:effectLst/>
                        </a:rPr>
                        <a:t>Carrier Claims</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l" fontAlgn="b">
                        <a:buNone/>
                      </a:pPr>
                      <a:r>
                        <a:rPr lang="en-US" sz="800" u="none" strike="noStrike">
                          <a:effectLst/>
                        </a:rPr>
                        <a:t>LINE_ICD9_DGNS_CD</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75,238</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27.82%</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15,851</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3.657</a:t>
                      </a:r>
                      <a:endParaRPr lang="en-US" sz="800" b="0" i="0" u="none" strike="noStrike">
                        <a:solidFill>
                          <a:srgbClr val="000000"/>
                        </a:solidFill>
                        <a:effectLst/>
                        <a:latin typeface="Aptos Narrow" panose="020B0004020202020204" pitchFamily="34" charset="0"/>
                      </a:endParaRPr>
                    </a:p>
                  </a:txBody>
                  <a:tcPr marL="7304" marR="7304" marT="7304" marB="0" anchor="b"/>
                </a:tc>
                <a:extLst>
                  <a:ext uri="{0D108BD9-81ED-4DB2-BD59-A6C34878D82A}">
                    <a16:rowId xmlns:a16="http://schemas.microsoft.com/office/drawing/2014/main" val="3442682845"/>
                  </a:ext>
                </a:extLst>
              </a:tr>
              <a:tr h="292470">
                <a:tc>
                  <a:txBody>
                    <a:bodyPr/>
                    <a:lstStyle/>
                    <a:p>
                      <a:pPr algn="l" fontAlgn="b">
                        <a:buNone/>
                      </a:pPr>
                      <a:r>
                        <a:rPr lang="en-US" sz="800" u="none" strike="noStrike">
                          <a:effectLst/>
                        </a:rPr>
                        <a:t>Carrier Claims</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l" fontAlgn="b">
                        <a:buNone/>
                      </a:pPr>
                      <a:r>
                        <a:rPr lang="en-US" sz="800" u="none" strike="noStrike">
                          <a:effectLst/>
                        </a:rPr>
                        <a:t>TAX_NUM</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75,176</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41.70%</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15,838</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3.658</a:t>
                      </a:r>
                      <a:endParaRPr lang="en-US" sz="800" b="0" i="0" u="none" strike="noStrike">
                        <a:solidFill>
                          <a:srgbClr val="000000"/>
                        </a:solidFill>
                        <a:effectLst/>
                        <a:latin typeface="Aptos Narrow" panose="020B0004020202020204" pitchFamily="34" charset="0"/>
                      </a:endParaRPr>
                    </a:p>
                  </a:txBody>
                  <a:tcPr marL="7304" marR="7304" marT="7304" marB="0" anchor="b"/>
                </a:tc>
                <a:extLst>
                  <a:ext uri="{0D108BD9-81ED-4DB2-BD59-A6C34878D82A}">
                    <a16:rowId xmlns:a16="http://schemas.microsoft.com/office/drawing/2014/main" val="3885784714"/>
                  </a:ext>
                </a:extLst>
              </a:tr>
              <a:tr h="292470">
                <a:tc>
                  <a:txBody>
                    <a:bodyPr/>
                    <a:lstStyle/>
                    <a:p>
                      <a:pPr algn="l" fontAlgn="b">
                        <a:buNone/>
                      </a:pPr>
                      <a:r>
                        <a:rPr lang="en-US" sz="800" u="none" strike="noStrike">
                          <a:effectLst/>
                        </a:rPr>
                        <a:t>Carrier Claims</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l" fontAlgn="b">
                        <a:buNone/>
                      </a:pPr>
                      <a:r>
                        <a:rPr lang="en-US" sz="800" u="none" strike="noStrike">
                          <a:effectLst/>
                        </a:rPr>
                        <a:t>PRF_PHYSN_NPI</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75,169</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55.57%</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15,836</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3.658</a:t>
                      </a:r>
                      <a:endParaRPr lang="en-US" sz="800" b="0" i="0" u="none" strike="noStrike">
                        <a:solidFill>
                          <a:srgbClr val="000000"/>
                        </a:solidFill>
                        <a:effectLst/>
                        <a:latin typeface="Aptos Narrow" panose="020B0004020202020204" pitchFamily="34" charset="0"/>
                      </a:endParaRPr>
                    </a:p>
                  </a:txBody>
                  <a:tcPr marL="7304" marR="7304" marT="7304" marB="0" anchor="b"/>
                </a:tc>
                <a:extLst>
                  <a:ext uri="{0D108BD9-81ED-4DB2-BD59-A6C34878D82A}">
                    <a16:rowId xmlns:a16="http://schemas.microsoft.com/office/drawing/2014/main" val="3000931092"/>
                  </a:ext>
                </a:extLst>
              </a:tr>
              <a:tr h="292470">
                <a:tc>
                  <a:txBody>
                    <a:bodyPr/>
                    <a:lstStyle/>
                    <a:p>
                      <a:pPr algn="l" fontAlgn="b">
                        <a:buNone/>
                      </a:pPr>
                      <a:r>
                        <a:rPr lang="en-US" sz="800" u="none" strike="noStrike">
                          <a:effectLst/>
                        </a:rPr>
                        <a:t>Carrier Claims</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l" fontAlgn="b">
                        <a:buNone/>
                      </a:pPr>
                      <a:r>
                        <a:rPr lang="en-US" sz="800" u="none" strike="noStrike">
                          <a:effectLst/>
                        </a:rPr>
                        <a:t>HCPCS_CD</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75,106</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69.43%</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15,823</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3.658</a:t>
                      </a:r>
                      <a:endParaRPr lang="en-US" sz="800" b="0" i="0" u="none" strike="noStrike">
                        <a:solidFill>
                          <a:srgbClr val="000000"/>
                        </a:solidFill>
                        <a:effectLst/>
                        <a:latin typeface="Aptos Narrow" panose="020B0004020202020204" pitchFamily="34" charset="0"/>
                      </a:endParaRPr>
                    </a:p>
                  </a:txBody>
                  <a:tcPr marL="7304" marR="7304" marT="7304" marB="0" anchor="b"/>
                </a:tc>
                <a:extLst>
                  <a:ext uri="{0D108BD9-81ED-4DB2-BD59-A6C34878D82A}">
                    <a16:rowId xmlns:a16="http://schemas.microsoft.com/office/drawing/2014/main" val="2202236754"/>
                  </a:ext>
                </a:extLst>
              </a:tr>
              <a:tr h="292470">
                <a:tc>
                  <a:txBody>
                    <a:bodyPr/>
                    <a:lstStyle/>
                    <a:p>
                      <a:pPr algn="l" fontAlgn="b">
                        <a:buNone/>
                      </a:pPr>
                      <a:r>
                        <a:rPr lang="en-US" sz="800" u="none" strike="noStrike">
                          <a:effectLst/>
                        </a:rPr>
                        <a:t>Carrier Claims</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l" fontAlgn="b">
                        <a:buNone/>
                      </a:pPr>
                      <a:r>
                        <a:rPr lang="en-US" sz="800" u="none" strike="noStrike">
                          <a:effectLst/>
                        </a:rPr>
                        <a:t>ICD9_DGNS_CD</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46,708</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78.05%</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9,840</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3.844</a:t>
                      </a:r>
                      <a:endParaRPr lang="en-US" sz="800" b="0" i="0" u="none" strike="noStrike">
                        <a:solidFill>
                          <a:srgbClr val="000000"/>
                        </a:solidFill>
                        <a:effectLst/>
                        <a:latin typeface="Aptos Narrow" panose="020B0004020202020204" pitchFamily="34" charset="0"/>
                      </a:endParaRPr>
                    </a:p>
                  </a:txBody>
                  <a:tcPr marL="7304" marR="7304" marT="7304" marB="0" anchor="b"/>
                </a:tc>
                <a:extLst>
                  <a:ext uri="{0D108BD9-81ED-4DB2-BD59-A6C34878D82A}">
                    <a16:rowId xmlns:a16="http://schemas.microsoft.com/office/drawing/2014/main" val="3974421383"/>
                  </a:ext>
                </a:extLst>
              </a:tr>
              <a:tr h="292470">
                <a:tc>
                  <a:txBody>
                    <a:bodyPr/>
                    <a:lstStyle/>
                    <a:p>
                      <a:pPr algn="l" fontAlgn="b">
                        <a:buNone/>
                      </a:pPr>
                      <a:r>
                        <a:rPr lang="en-US" sz="800" u="none" strike="noStrike">
                          <a:effectLst/>
                        </a:rPr>
                        <a:t>Carrier Claims</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l" fontAlgn="b">
                        <a:buNone/>
                      </a:pPr>
                      <a:r>
                        <a:rPr lang="en-US" sz="800" u="none" strike="noStrike">
                          <a:effectLst/>
                        </a:rPr>
                        <a:t>LINE_NCH_PMT_AMT</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31,709</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83.91%</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6,680</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3.988</a:t>
                      </a:r>
                      <a:endParaRPr lang="en-US" sz="800" b="0" i="0" u="none" strike="noStrike">
                        <a:solidFill>
                          <a:srgbClr val="000000"/>
                        </a:solidFill>
                        <a:effectLst/>
                        <a:latin typeface="Aptos Narrow" panose="020B0004020202020204" pitchFamily="34" charset="0"/>
                      </a:endParaRPr>
                    </a:p>
                  </a:txBody>
                  <a:tcPr marL="7304" marR="7304" marT="7304" marB="0" anchor="b"/>
                </a:tc>
                <a:extLst>
                  <a:ext uri="{0D108BD9-81ED-4DB2-BD59-A6C34878D82A}">
                    <a16:rowId xmlns:a16="http://schemas.microsoft.com/office/drawing/2014/main" val="1959551227"/>
                  </a:ext>
                </a:extLst>
              </a:tr>
              <a:tr h="292470">
                <a:tc>
                  <a:txBody>
                    <a:bodyPr/>
                    <a:lstStyle/>
                    <a:p>
                      <a:pPr algn="l" fontAlgn="b">
                        <a:buNone/>
                      </a:pPr>
                      <a:r>
                        <a:rPr lang="en-US" sz="800" u="none" strike="noStrike">
                          <a:effectLst/>
                        </a:rPr>
                        <a:t>Carrier Claims</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l" fontAlgn="b">
                        <a:buNone/>
                      </a:pPr>
                      <a:r>
                        <a:rPr lang="en-US" sz="800" u="none" strike="noStrike">
                          <a:effectLst/>
                        </a:rPr>
                        <a:t>LINE_BENE_PTB_DDCTBL_AMT</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20,828</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87.75%</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4,388</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4.137</a:t>
                      </a:r>
                      <a:endParaRPr lang="en-US" sz="800" b="0" i="0" u="none" strike="noStrike">
                        <a:solidFill>
                          <a:srgbClr val="000000"/>
                        </a:solidFill>
                        <a:effectLst/>
                        <a:latin typeface="Aptos Narrow" panose="020B0004020202020204" pitchFamily="34" charset="0"/>
                      </a:endParaRPr>
                    </a:p>
                  </a:txBody>
                  <a:tcPr marL="7304" marR="7304" marT="7304" marB="0" anchor="b"/>
                </a:tc>
                <a:extLst>
                  <a:ext uri="{0D108BD9-81ED-4DB2-BD59-A6C34878D82A}">
                    <a16:rowId xmlns:a16="http://schemas.microsoft.com/office/drawing/2014/main" val="3842202646"/>
                  </a:ext>
                </a:extLst>
              </a:tr>
              <a:tr h="292470">
                <a:tc>
                  <a:txBody>
                    <a:bodyPr/>
                    <a:lstStyle/>
                    <a:p>
                      <a:pPr algn="l" fontAlgn="b">
                        <a:buNone/>
                      </a:pPr>
                      <a:r>
                        <a:rPr lang="en-US" sz="800" u="none" strike="noStrike">
                          <a:effectLst/>
                        </a:rPr>
                        <a:t>Carrier Claims</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l" fontAlgn="b">
                        <a:buNone/>
                      </a:pPr>
                      <a:r>
                        <a:rPr lang="en-US" sz="800" u="none" strike="noStrike">
                          <a:effectLst/>
                        </a:rPr>
                        <a:t>LINE_BENE_PRMRY_PYR_PD_AMT</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20,639</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91.56%</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4,348</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4.141</a:t>
                      </a:r>
                      <a:endParaRPr lang="en-US" sz="800" b="0" i="0" u="none" strike="noStrike">
                        <a:solidFill>
                          <a:srgbClr val="000000"/>
                        </a:solidFill>
                        <a:effectLst/>
                        <a:latin typeface="Aptos Narrow" panose="020B0004020202020204" pitchFamily="34" charset="0"/>
                      </a:endParaRPr>
                    </a:p>
                  </a:txBody>
                  <a:tcPr marL="7304" marR="7304" marT="7304" marB="0" anchor="b"/>
                </a:tc>
                <a:extLst>
                  <a:ext uri="{0D108BD9-81ED-4DB2-BD59-A6C34878D82A}">
                    <a16:rowId xmlns:a16="http://schemas.microsoft.com/office/drawing/2014/main" val="3026815874"/>
                  </a:ext>
                </a:extLst>
              </a:tr>
              <a:tr h="292470">
                <a:tc>
                  <a:txBody>
                    <a:bodyPr/>
                    <a:lstStyle/>
                    <a:p>
                      <a:pPr algn="l" fontAlgn="b">
                        <a:buNone/>
                      </a:pPr>
                      <a:r>
                        <a:rPr lang="en-US" sz="800" u="none" strike="noStrike">
                          <a:effectLst/>
                        </a:rPr>
                        <a:t>Carrier Claims</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l" fontAlgn="b">
                        <a:buNone/>
                      </a:pPr>
                      <a:r>
                        <a:rPr lang="en-US" sz="800" u="none" strike="noStrike">
                          <a:effectLst/>
                        </a:rPr>
                        <a:t>LINE_ALOWD_CHRG_AMT</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17,531</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94.80%</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3,693</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4.197</a:t>
                      </a:r>
                      <a:endParaRPr lang="en-US" sz="800" b="0" i="0" u="none" strike="noStrike">
                        <a:solidFill>
                          <a:srgbClr val="000000"/>
                        </a:solidFill>
                        <a:effectLst/>
                        <a:latin typeface="Aptos Narrow" panose="020B0004020202020204" pitchFamily="34" charset="0"/>
                      </a:endParaRPr>
                    </a:p>
                  </a:txBody>
                  <a:tcPr marL="7304" marR="7304" marT="7304" marB="0" anchor="b"/>
                </a:tc>
                <a:extLst>
                  <a:ext uri="{0D108BD9-81ED-4DB2-BD59-A6C34878D82A}">
                    <a16:rowId xmlns:a16="http://schemas.microsoft.com/office/drawing/2014/main" val="3695392432"/>
                  </a:ext>
                </a:extLst>
              </a:tr>
              <a:tr h="292470">
                <a:tc>
                  <a:txBody>
                    <a:bodyPr/>
                    <a:lstStyle/>
                    <a:p>
                      <a:pPr algn="l" fontAlgn="b">
                        <a:buNone/>
                      </a:pPr>
                      <a:r>
                        <a:rPr lang="en-US" sz="800" u="none" strike="noStrike">
                          <a:effectLst/>
                        </a:rPr>
                        <a:t>Carrier Claims</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l" fontAlgn="b">
                        <a:buNone/>
                      </a:pPr>
                      <a:r>
                        <a:rPr lang="en-US" sz="800" u="none" strike="noStrike">
                          <a:effectLst/>
                        </a:rPr>
                        <a:t>LINE_COINSRNC_AMT</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16,775</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97.89%</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3,534</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4.211</a:t>
                      </a:r>
                      <a:endParaRPr lang="en-US" sz="800" b="0" i="0" u="none" strike="noStrike">
                        <a:solidFill>
                          <a:srgbClr val="000000"/>
                        </a:solidFill>
                        <a:effectLst/>
                        <a:latin typeface="Aptos Narrow" panose="020B0004020202020204" pitchFamily="34" charset="0"/>
                      </a:endParaRPr>
                    </a:p>
                  </a:txBody>
                  <a:tcPr marL="7304" marR="7304" marT="7304" marB="0" anchor="b"/>
                </a:tc>
                <a:extLst>
                  <a:ext uri="{0D108BD9-81ED-4DB2-BD59-A6C34878D82A}">
                    <a16:rowId xmlns:a16="http://schemas.microsoft.com/office/drawing/2014/main" val="2454144340"/>
                  </a:ext>
                </a:extLst>
              </a:tr>
              <a:tr h="292470">
                <a:tc>
                  <a:txBody>
                    <a:bodyPr/>
                    <a:lstStyle/>
                    <a:p>
                      <a:pPr algn="l" fontAlgn="b">
                        <a:buNone/>
                      </a:pPr>
                      <a:r>
                        <a:rPr lang="en-US" sz="800" u="none" strike="noStrike">
                          <a:effectLst/>
                        </a:rPr>
                        <a:t>Carrier Claims</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l" fontAlgn="b">
                        <a:buNone/>
                      </a:pPr>
                      <a:r>
                        <a:rPr lang="en-US" sz="800" u="none" strike="noStrike">
                          <a:effectLst/>
                        </a:rPr>
                        <a:t>CLM_FROM_DT</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5,707</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98.95%</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1,202</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4.553</a:t>
                      </a:r>
                      <a:endParaRPr lang="en-US" sz="800" b="0" i="0" u="none" strike="noStrike">
                        <a:solidFill>
                          <a:srgbClr val="000000"/>
                        </a:solidFill>
                        <a:effectLst/>
                        <a:latin typeface="Aptos Narrow" panose="020B0004020202020204" pitchFamily="34" charset="0"/>
                      </a:endParaRPr>
                    </a:p>
                  </a:txBody>
                  <a:tcPr marL="7304" marR="7304" marT="7304" marB="0" anchor="b"/>
                </a:tc>
                <a:extLst>
                  <a:ext uri="{0D108BD9-81ED-4DB2-BD59-A6C34878D82A}">
                    <a16:rowId xmlns:a16="http://schemas.microsoft.com/office/drawing/2014/main" val="2303198191"/>
                  </a:ext>
                </a:extLst>
              </a:tr>
              <a:tr h="292470">
                <a:tc>
                  <a:txBody>
                    <a:bodyPr/>
                    <a:lstStyle/>
                    <a:p>
                      <a:pPr algn="l" fontAlgn="b">
                        <a:buNone/>
                      </a:pPr>
                      <a:r>
                        <a:rPr lang="en-US" sz="800" u="none" strike="noStrike">
                          <a:effectLst/>
                        </a:rPr>
                        <a:t>Carrier Claims</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l" fontAlgn="b">
                        <a:buNone/>
                      </a:pPr>
                      <a:r>
                        <a:rPr lang="en-US" sz="800" u="none" strike="noStrike">
                          <a:effectLst/>
                        </a:rPr>
                        <a:t>CLM_THRU_DT</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5,707</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100.00%</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a:effectLst/>
                        </a:rPr>
                        <a:t>1,202</a:t>
                      </a:r>
                      <a:endParaRPr lang="en-US" sz="800" b="0" i="0" u="none" strike="noStrike">
                        <a:solidFill>
                          <a:srgbClr val="000000"/>
                        </a:solidFill>
                        <a:effectLst/>
                        <a:latin typeface="Aptos Narrow" panose="020B0004020202020204" pitchFamily="34" charset="0"/>
                      </a:endParaRPr>
                    </a:p>
                  </a:txBody>
                  <a:tcPr marL="7304" marR="7304" marT="7304" marB="0" anchor="b"/>
                </a:tc>
                <a:tc>
                  <a:txBody>
                    <a:bodyPr/>
                    <a:lstStyle/>
                    <a:p>
                      <a:pPr algn="ctr" fontAlgn="b">
                        <a:buNone/>
                      </a:pPr>
                      <a:r>
                        <a:rPr lang="en-US" sz="800" u="none" strike="noStrike" dirty="0">
                          <a:effectLst/>
                        </a:rPr>
                        <a:t>4.553</a:t>
                      </a:r>
                      <a:endParaRPr lang="en-US" sz="800" b="0" i="0" u="none" strike="noStrike" dirty="0">
                        <a:solidFill>
                          <a:srgbClr val="000000"/>
                        </a:solidFill>
                        <a:effectLst/>
                        <a:latin typeface="Aptos Narrow" panose="020B0004020202020204" pitchFamily="34" charset="0"/>
                      </a:endParaRPr>
                    </a:p>
                  </a:txBody>
                  <a:tcPr marL="7304" marR="7304" marT="7304" marB="0" anchor="b"/>
                </a:tc>
                <a:extLst>
                  <a:ext uri="{0D108BD9-81ED-4DB2-BD59-A6C34878D82A}">
                    <a16:rowId xmlns:a16="http://schemas.microsoft.com/office/drawing/2014/main" val="3680621195"/>
                  </a:ext>
                </a:extLst>
              </a:tr>
            </a:tbl>
          </a:graphicData>
        </a:graphic>
      </p:graphicFrame>
    </p:spTree>
    <p:extLst>
      <p:ext uri="{BB962C8B-B14F-4D97-AF65-F5344CB8AC3E}">
        <p14:creationId xmlns:p14="http://schemas.microsoft.com/office/powerpoint/2010/main" val="986242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180DE06-7362-4888-AADA-7AADD57AC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12" name="Straight Connector 11">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3" y="372533"/>
            <a:ext cx="6116779" cy="606872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F2720BF9-F5AF-A405-4C1E-81AEB0B0628D}"/>
              </a:ext>
            </a:extLst>
          </p:cNvPr>
          <p:cNvGraphicFramePr>
            <a:graphicFrameLocks noGrp="1"/>
          </p:cNvGraphicFramePr>
          <p:nvPr>
            <p:ph idx="1"/>
            <p:extLst>
              <p:ext uri="{D42A27DB-BD31-4B8C-83A1-F6EECF244321}">
                <p14:modId xmlns:p14="http://schemas.microsoft.com/office/powerpoint/2010/main" val="3630587951"/>
              </p:ext>
            </p:extLst>
          </p:nvPr>
        </p:nvGraphicFramePr>
        <p:xfrm>
          <a:off x="942596" y="2057553"/>
          <a:ext cx="5608831" cy="2742257"/>
        </p:xfrm>
        <a:graphic>
          <a:graphicData uri="http://schemas.openxmlformats.org/drawingml/2006/table">
            <a:tbl>
              <a:tblPr firstRow="1" bandRow="1">
                <a:tableStyleId>{5C22544A-7EE6-4342-B048-85BDC9FD1C3A}</a:tableStyleId>
              </a:tblPr>
              <a:tblGrid>
                <a:gridCol w="2309346">
                  <a:extLst>
                    <a:ext uri="{9D8B030D-6E8A-4147-A177-3AD203B41FA5}">
                      <a16:colId xmlns:a16="http://schemas.microsoft.com/office/drawing/2014/main" val="56626641"/>
                    </a:ext>
                  </a:extLst>
                </a:gridCol>
                <a:gridCol w="1533150">
                  <a:extLst>
                    <a:ext uri="{9D8B030D-6E8A-4147-A177-3AD203B41FA5}">
                      <a16:colId xmlns:a16="http://schemas.microsoft.com/office/drawing/2014/main" val="1321260213"/>
                    </a:ext>
                  </a:extLst>
                </a:gridCol>
                <a:gridCol w="1766335">
                  <a:extLst>
                    <a:ext uri="{9D8B030D-6E8A-4147-A177-3AD203B41FA5}">
                      <a16:colId xmlns:a16="http://schemas.microsoft.com/office/drawing/2014/main" val="1748309337"/>
                    </a:ext>
                  </a:extLst>
                </a:gridCol>
              </a:tblGrid>
              <a:tr h="391751">
                <a:tc>
                  <a:txBody>
                    <a:bodyPr/>
                    <a:lstStyle/>
                    <a:p>
                      <a:pPr algn="ctr" fontAlgn="b">
                        <a:buNone/>
                      </a:pPr>
                      <a:r>
                        <a:rPr lang="en-US" sz="1100" u="none" strike="noStrike" dirty="0">
                          <a:effectLst/>
                        </a:rPr>
                        <a:t>DATA SET</a:t>
                      </a:r>
                      <a:endParaRPr lang="en-US" sz="1100" b="0" i="0" u="none" strike="noStrike" dirty="0">
                        <a:solidFill>
                          <a:srgbClr val="000000"/>
                        </a:solidFill>
                        <a:effectLst/>
                        <a:latin typeface="Aptos Narrow" panose="020B0004020202020204" pitchFamily="34" charset="0"/>
                      </a:endParaRPr>
                    </a:p>
                  </a:txBody>
                  <a:tcPr marL="9784" marR="9784" marT="9784" marB="0" anchor="ctr"/>
                </a:tc>
                <a:tc>
                  <a:txBody>
                    <a:bodyPr/>
                    <a:lstStyle/>
                    <a:p>
                      <a:pPr algn="ctr" fontAlgn="b">
                        <a:buNone/>
                      </a:pPr>
                      <a:r>
                        <a:rPr lang="en-US" sz="1100" u="none" strike="noStrike" dirty="0">
                          <a:effectLst/>
                        </a:rPr>
                        <a:t>FINANCIAL VARIANCE</a:t>
                      </a:r>
                      <a:endParaRPr lang="en-US" sz="1100" b="0" i="0" u="none" strike="noStrike" dirty="0">
                        <a:solidFill>
                          <a:srgbClr val="000000"/>
                        </a:solidFill>
                        <a:effectLst/>
                        <a:latin typeface="Aptos Narrow" panose="020B0004020202020204" pitchFamily="34" charset="0"/>
                      </a:endParaRPr>
                    </a:p>
                  </a:txBody>
                  <a:tcPr marL="9784" marR="9784" marT="9784" marB="0" anchor="ctr"/>
                </a:tc>
                <a:tc>
                  <a:txBody>
                    <a:bodyPr/>
                    <a:lstStyle/>
                    <a:p>
                      <a:pPr algn="ctr" fontAlgn="b">
                        <a:buNone/>
                      </a:pPr>
                      <a:r>
                        <a:rPr lang="en-US" sz="1100" u="none" strike="noStrike" dirty="0">
                          <a:effectLst/>
                        </a:rPr>
                        <a:t>RUNNING PCT OF TOTAL</a:t>
                      </a:r>
                      <a:endParaRPr lang="en-US" sz="1100" b="0" i="0" u="none" strike="noStrike" dirty="0">
                        <a:solidFill>
                          <a:srgbClr val="000000"/>
                        </a:solidFill>
                        <a:effectLst/>
                        <a:latin typeface="Aptos Narrow" panose="020B0004020202020204" pitchFamily="34" charset="0"/>
                      </a:endParaRPr>
                    </a:p>
                  </a:txBody>
                  <a:tcPr marL="9784" marR="9784" marT="9784" marB="0" anchor="ctr"/>
                </a:tc>
                <a:extLst>
                  <a:ext uri="{0D108BD9-81ED-4DB2-BD59-A6C34878D82A}">
                    <a16:rowId xmlns:a16="http://schemas.microsoft.com/office/drawing/2014/main" val="835689144"/>
                  </a:ext>
                </a:extLst>
              </a:tr>
              <a:tr h="391751">
                <a:tc>
                  <a:txBody>
                    <a:bodyPr/>
                    <a:lstStyle/>
                    <a:p>
                      <a:pPr algn="l" fontAlgn="b">
                        <a:buNone/>
                      </a:pPr>
                      <a:r>
                        <a:rPr lang="en-US" sz="1100" u="none" strike="noStrike">
                          <a:effectLst/>
                        </a:rPr>
                        <a:t>LINE_NCH_PMT_AMT</a:t>
                      </a:r>
                      <a:endParaRPr lang="en-US" sz="1100" b="0" i="0" u="none" strike="noStrike">
                        <a:solidFill>
                          <a:srgbClr val="000000"/>
                        </a:solidFill>
                        <a:effectLst/>
                        <a:latin typeface="Aptos Narrow" panose="020B0004020202020204" pitchFamily="34" charset="0"/>
                      </a:endParaRPr>
                    </a:p>
                  </a:txBody>
                  <a:tcPr marL="9784" marR="9784" marT="9784" marB="0" anchor="b"/>
                </a:tc>
                <a:tc>
                  <a:txBody>
                    <a:bodyPr/>
                    <a:lstStyle/>
                    <a:p>
                      <a:pPr algn="ctr" fontAlgn="b">
                        <a:buNone/>
                      </a:pPr>
                      <a:r>
                        <a:rPr lang="en-US" sz="1100" u="none" strike="noStrike" dirty="0">
                          <a:effectLst/>
                        </a:rPr>
                        <a:t> $                   158,480.91 </a:t>
                      </a:r>
                      <a:endParaRPr lang="en-US" sz="1100" b="0" i="0" u="none" strike="noStrike" dirty="0">
                        <a:solidFill>
                          <a:srgbClr val="000000"/>
                        </a:solidFill>
                        <a:effectLst/>
                        <a:latin typeface="Aptos Narrow" panose="020B0004020202020204" pitchFamily="34" charset="0"/>
                      </a:endParaRPr>
                    </a:p>
                  </a:txBody>
                  <a:tcPr marL="9784" marR="9784" marT="9784" marB="0" anchor="b"/>
                </a:tc>
                <a:tc>
                  <a:txBody>
                    <a:bodyPr/>
                    <a:lstStyle/>
                    <a:p>
                      <a:pPr algn="ctr" fontAlgn="b">
                        <a:buNone/>
                      </a:pPr>
                      <a:r>
                        <a:rPr lang="en-US" sz="1100" u="none" strike="noStrike" dirty="0">
                          <a:effectLst/>
                        </a:rPr>
                        <a:t>36.48%</a:t>
                      </a:r>
                      <a:endParaRPr lang="en-US" sz="1100" b="0" i="0" u="none" strike="noStrike" dirty="0">
                        <a:solidFill>
                          <a:srgbClr val="000000"/>
                        </a:solidFill>
                        <a:effectLst/>
                        <a:latin typeface="Aptos Narrow" panose="020B0004020202020204" pitchFamily="34" charset="0"/>
                      </a:endParaRPr>
                    </a:p>
                  </a:txBody>
                  <a:tcPr marL="9784" marR="9784" marT="9784" marB="0" anchor="b"/>
                </a:tc>
                <a:extLst>
                  <a:ext uri="{0D108BD9-81ED-4DB2-BD59-A6C34878D82A}">
                    <a16:rowId xmlns:a16="http://schemas.microsoft.com/office/drawing/2014/main" val="713614033"/>
                  </a:ext>
                </a:extLst>
              </a:tr>
              <a:tr h="391751">
                <a:tc>
                  <a:txBody>
                    <a:bodyPr/>
                    <a:lstStyle/>
                    <a:p>
                      <a:pPr algn="l" fontAlgn="b">
                        <a:buNone/>
                      </a:pPr>
                      <a:r>
                        <a:rPr lang="en-US" sz="1100" u="none" strike="noStrike">
                          <a:effectLst/>
                        </a:rPr>
                        <a:t>LINE_BENE_PRMRY_PYR_PD_AMT</a:t>
                      </a:r>
                      <a:endParaRPr lang="en-US" sz="1100" b="0" i="0" u="none" strike="noStrike">
                        <a:solidFill>
                          <a:srgbClr val="000000"/>
                        </a:solidFill>
                        <a:effectLst/>
                        <a:latin typeface="Aptos Narrow" panose="020B0004020202020204" pitchFamily="34" charset="0"/>
                      </a:endParaRPr>
                    </a:p>
                  </a:txBody>
                  <a:tcPr marL="9784" marR="9784" marT="9784" marB="0" anchor="b"/>
                </a:tc>
                <a:tc>
                  <a:txBody>
                    <a:bodyPr/>
                    <a:lstStyle/>
                    <a:p>
                      <a:pPr algn="ctr" fontAlgn="b">
                        <a:buNone/>
                      </a:pPr>
                      <a:r>
                        <a:rPr lang="en-US" sz="1100" u="none" strike="noStrike">
                          <a:effectLst/>
                        </a:rPr>
                        <a:t> $                      98,772.86 </a:t>
                      </a:r>
                      <a:endParaRPr lang="en-US" sz="1100" b="0" i="0" u="none" strike="noStrike">
                        <a:solidFill>
                          <a:srgbClr val="000000"/>
                        </a:solidFill>
                        <a:effectLst/>
                        <a:latin typeface="Aptos Narrow" panose="020B0004020202020204" pitchFamily="34" charset="0"/>
                      </a:endParaRPr>
                    </a:p>
                  </a:txBody>
                  <a:tcPr marL="9784" marR="9784" marT="9784" marB="0" anchor="b"/>
                </a:tc>
                <a:tc>
                  <a:txBody>
                    <a:bodyPr/>
                    <a:lstStyle/>
                    <a:p>
                      <a:pPr algn="ctr" fontAlgn="b">
                        <a:buNone/>
                      </a:pPr>
                      <a:r>
                        <a:rPr lang="en-US" sz="1100" u="none" strike="noStrike">
                          <a:effectLst/>
                        </a:rPr>
                        <a:t>59.22%</a:t>
                      </a:r>
                      <a:endParaRPr lang="en-US" sz="1100" b="0" i="0" u="none" strike="noStrike">
                        <a:solidFill>
                          <a:srgbClr val="000000"/>
                        </a:solidFill>
                        <a:effectLst/>
                        <a:latin typeface="Aptos Narrow" panose="020B0004020202020204" pitchFamily="34" charset="0"/>
                      </a:endParaRPr>
                    </a:p>
                  </a:txBody>
                  <a:tcPr marL="9784" marR="9784" marT="9784" marB="0" anchor="b"/>
                </a:tc>
                <a:extLst>
                  <a:ext uri="{0D108BD9-81ED-4DB2-BD59-A6C34878D82A}">
                    <a16:rowId xmlns:a16="http://schemas.microsoft.com/office/drawing/2014/main" val="1513950478"/>
                  </a:ext>
                </a:extLst>
              </a:tr>
              <a:tr h="391751">
                <a:tc>
                  <a:txBody>
                    <a:bodyPr/>
                    <a:lstStyle/>
                    <a:p>
                      <a:pPr algn="l" fontAlgn="b">
                        <a:buNone/>
                      </a:pPr>
                      <a:r>
                        <a:rPr lang="en-US" sz="1100" u="none" strike="noStrike">
                          <a:effectLst/>
                        </a:rPr>
                        <a:t>LINE_BENE_PTB_DDCTBL_AMT</a:t>
                      </a:r>
                      <a:endParaRPr lang="en-US" sz="1100" b="0" i="0" u="none" strike="noStrike">
                        <a:solidFill>
                          <a:srgbClr val="000000"/>
                        </a:solidFill>
                        <a:effectLst/>
                        <a:latin typeface="Aptos Narrow" panose="020B0004020202020204" pitchFamily="34" charset="0"/>
                      </a:endParaRPr>
                    </a:p>
                  </a:txBody>
                  <a:tcPr marL="9784" marR="9784" marT="9784" marB="0" anchor="b"/>
                </a:tc>
                <a:tc>
                  <a:txBody>
                    <a:bodyPr/>
                    <a:lstStyle/>
                    <a:p>
                      <a:pPr algn="ctr" fontAlgn="b">
                        <a:buNone/>
                      </a:pPr>
                      <a:r>
                        <a:rPr lang="en-US" sz="1100" u="none" strike="noStrike">
                          <a:effectLst/>
                        </a:rPr>
                        <a:t> $                      96,806.45 </a:t>
                      </a:r>
                      <a:endParaRPr lang="en-US" sz="1100" b="0" i="0" u="none" strike="noStrike">
                        <a:solidFill>
                          <a:srgbClr val="000000"/>
                        </a:solidFill>
                        <a:effectLst/>
                        <a:latin typeface="Aptos Narrow" panose="020B0004020202020204" pitchFamily="34" charset="0"/>
                      </a:endParaRPr>
                    </a:p>
                  </a:txBody>
                  <a:tcPr marL="9784" marR="9784" marT="9784" marB="0" anchor="b"/>
                </a:tc>
                <a:tc>
                  <a:txBody>
                    <a:bodyPr/>
                    <a:lstStyle/>
                    <a:p>
                      <a:pPr algn="ctr" fontAlgn="b">
                        <a:buNone/>
                      </a:pPr>
                      <a:r>
                        <a:rPr lang="en-US" sz="1100" u="none" strike="noStrike">
                          <a:effectLst/>
                        </a:rPr>
                        <a:t>81.51%</a:t>
                      </a:r>
                      <a:endParaRPr lang="en-US" sz="1100" b="0" i="0" u="none" strike="noStrike">
                        <a:solidFill>
                          <a:srgbClr val="000000"/>
                        </a:solidFill>
                        <a:effectLst/>
                        <a:latin typeface="Aptos Narrow" panose="020B0004020202020204" pitchFamily="34" charset="0"/>
                      </a:endParaRPr>
                    </a:p>
                  </a:txBody>
                  <a:tcPr marL="9784" marR="9784" marT="9784" marB="0" anchor="b"/>
                </a:tc>
                <a:extLst>
                  <a:ext uri="{0D108BD9-81ED-4DB2-BD59-A6C34878D82A}">
                    <a16:rowId xmlns:a16="http://schemas.microsoft.com/office/drawing/2014/main" val="1624005118"/>
                  </a:ext>
                </a:extLst>
              </a:tr>
              <a:tr h="391751">
                <a:tc>
                  <a:txBody>
                    <a:bodyPr/>
                    <a:lstStyle/>
                    <a:p>
                      <a:pPr algn="l" fontAlgn="b">
                        <a:buNone/>
                      </a:pPr>
                      <a:r>
                        <a:rPr lang="en-US" sz="1100" u="none" strike="noStrike" dirty="0">
                          <a:effectLst/>
                        </a:rPr>
                        <a:t>LINE_ALOWD_CHRG_AMT</a:t>
                      </a:r>
                      <a:endParaRPr lang="en-US" sz="1100" b="0" i="0" u="none" strike="noStrike" dirty="0">
                        <a:solidFill>
                          <a:srgbClr val="000000"/>
                        </a:solidFill>
                        <a:effectLst/>
                        <a:latin typeface="Aptos Narrow" panose="020B0004020202020204" pitchFamily="34" charset="0"/>
                      </a:endParaRPr>
                    </a:p>
                  </a:txBody>
                  <a:tcPr marL="9784" marR="9784" marT="9784" marB="0" anchor="b"/>
                </a:tc>
                <a:tc>
                  <a:txBody>
                    <a:bodyPr/>
                    <a:lstStyle/>
                    <a:p>
                      <a:pPr algn="ctr" fontAlgn="b">
                        <a:buNone/>
                      </a:pPr>
                      <a:r>
                        <a:rPr lang="en-US" sz="1100" u="none" strike="noStrike" dirty="0">
                          <a:effectLst/>
                        </a:rPr>
                        <a:t> $                      62,816.30 </a:t>
                      </a:r>
                      <a:endParaRPr lang="en-US" sz="1100" b="0" i="0" u="none" strike="noStrike" dirty="0">
                        <a:solidFill>
                          <a:srgbClr val="000000"/>
                        </a:solidFill>
                        <a:effectLst/>
                        <a:latin typeface="Aptos Narrow" panose="020B0004020202020204" pitchFamily="34" charset="0"/>
                      </a:endParaRPr>
                    </a:p>
                  </a:txBody>
                  <a:tcPr marL="9784" marR="9784" marT="9784" marB="0" anchor="b"/>
                </a:tc>
                <a:tc>
                  <a:txBody>
                    <a:bodyPr/>
                    <a:lstStyle/>
                    <a:p>
                      <a:pPr algn="ctr" fontAlgn="b">
                        <a:buNone/>
                      </a:pPr>
                      <a:r>
                        <a:rPr lang="en-US" sz="1100" u="none" strike="noStrike" dirty="0">
                          <a:effectLst/>
                        </a:rPr>
                        <a:t>95.97%</a:t>
                      </a:r>
                      <a:endParaRPr lang="en-US" sz="1100" b="0" i="0" u="none" strike="noStrike" dirty="0">
                        <a:solidFill>
                          <a:srgbClr val="000000"/>
                        </a:solidFill>
                        <a:effectLst/>
                        <a:latin typeface="Aptos Narrow" panose="020B0004020202020204" pitchFamily="34" charset="0"/>
                      </a:endParaRPr>
                    </a:p>
                  </a:txBody>
                  <a:tcPr marL="9784" marR="9784" marT="9784" marB="0" anchor="b"/>
                </a:tc>
                <a:extLst>
                  <a:ext uri="{0D108BD9-81ED-4DB2-BD59-A6C34878D82A}">
                    <a16:rowId xmlns:a16="http://schemas.microsoft.com/office/drawing/2014/main" val="408909967"/>
                  </a:ext>
                </a:extLst>
              </a:tr>
              <a:tr h="391751">
                <a:tc>
                  <a:txBody>
                    <a:bodyPr/>
                    <a:lstStyle/>
                    <a:p>
                      <a:pPr algn="l" fontAlgn="b">
                        <a:buNone/>
                      </a:pPr>
                      <a:r>
                        <a:rPr lang="en-US" sz="1100" u="none" strike="noStrike">
                          <a:effectLst/>
                        </a:rPr>
                        <a:t>LINE_COINSRNC_AMT</a:t>
                      </a:r>
                      <a:endParaRPr lang="en-US" sz="1100" b="0" i="0" u="none" strike="noStrike">
                        <a:solidFill>
                          <a:srgbClr val="000000"/>
                        </a:solidFill>
                        <a:effectLst/>
                        <a:latin typeface="Aptos Narrow" panose="020B0004020202020204" pitchFamily="34" charset="0"/>
                      </a:endParaRPr>
                    </a:p>
                  </a:txBody>
                  <a:tcPr marL="9784" marR="9784" marT="9784" marB="0" anchor="b"/>
                </a:tc>
                <a:tc>
                  <a:txBody>
                    <a:bodyPr/>
                    <a:lstStyle/>
                    <a:p>
                      <a:pPr algn="ctr" fontAlgn="b">
                        <a:buNone/>
                      </a:pPr>
                      <a:r>
                        <a:rPr lang="en-US" sz="1100" u="none" strike="noStrike">
                          <a:effectLst/>
                        </a:rPr>
                        <a:t> $                      17,507.34 </a:t>
                      </a:r>
                      <a:endParaRPr lang="en-US" sz="1100" b="0" i="0" u="none" strike="noStrike">
                        <a:solidFill>
                          <a:srgbClr val="000000"/>
                        </a:solidFill>
                        <a:effectLst/>
                        <a:latin typeface="Aptos Narrow" panose="020B0004020202020204" pitchFamily="34" charset="0"/>
                      </a:endParaRPr>
                    </a:p>
                  </a:txBody>
                  <a:tcPr marL="9784" marR="9784" marT="9784" marB="0" anchor="b"/>
                </a:tc>
                <a:tc>
                  <a:txBody>
                    <a:bodyPr/>
                    <a:lstStyle/>
                    <a:p>
                      <a:pPr algn="ctr" fontAlgn="b">
                        <a:buNone/>
                      </a:pPr>
                      <a:r>
                        <a:rPr lang="en-US" sz="1100" u="none" strike="noStrike" dirty="0">
                          <a:effectLst/>
                        </a:rPr>
                        <a:t>100.00%</a:t>
                      </a:r>
                      <a:endParaRPr lang="en-US" sz="1100" b="0" i="0" u="none" strike="noStrike" dirty="0">
                        <a:solidFill>
                          <a:srgbClr val="000000"/>
                        </a:solidFill>
                        <a:effectLst/>
                        <a:latin typeface="Aptos Narrow" panose="020B0004020202020204" pitchFamily="34" charset="0"/>
                      </a:endParaRPr>
                    </a:p>
                  </a:txBody>
                  <a:tcPr marL="9784" marR="9784" marT="9784" marB="0" anchor="b"/>
                </a:tc>
                <a:extLst>
                  <a:ext uri="{0D108BD9-81ED-4DB2-BD59-A6C34878D82A}">
                    <a16:rowId xmlns:a16="http://schemas.microsoft.com/office/drawing/2014/main" val="1001752028"/>
                  </a:ext>
                </a:extLst>
              </a:tr>
              <a:tr h="391751">
                <a:tc>
                  <a:txBody>
                    <a:bodyPr/>
                    <a:lstStyle/>
                    <a:p>
                      <a:pPr algn="l" fontAlgn="b">
                        <a:buNone/>
                      </a:pPr>
                      <a:r>
                        <a:rPr lang="en-US" sz="1100" b="1" u="none" strike="noStrike" dirty="0">
                          <a:effectLst/>
                        </a:rPr>
                        <a:t>TOTAL</a:t>
                      </a:r>
                      <a:endParaRPr lang="en-US" sz="1100" b="1" i="0" u="none" strike="noStrike" dirty="0">
                        <a:solidFill>
                          <a:srgbClr val="000000"/>
                        </a:solidFill>
                        <a:effectLst/>
                        <a:latin typeface="Aptos Narrow" panose="020B0004020202020204" pitchFamily="34" charset="0"/>
                      </a:endParaRPr>
                    </a:p>
                  </a:txBody>
                  <a:tcPr marL="9784" marR="9784" marT="9784" marB="0" anchor="b"/>
                </a:tc>
                <a:tc>
                  <a:txBody>
                    <a:bodyPr/>
                    <a:lstStyle/>
                    <a:p>
                      <a:pPr algn="ctr" fontAlgn="b">
                        <a:buNone/>
                      </a:pPr>
                      <a:r>
                        <a:rPr lang="en-US" sz="1100" b="1" u="none" strike="noStrike" dirty="0">
                          <a:effectLst/>
                        </a:rPr>
                        <a:t> $                      </a:t>
                      </a:r>
                      <a:r>
                        <a:rPr lang="en-US" sz="1100" b="1" u="none" strike="noStrike" kern="1200" dirty="0">
                          <a:solidFill>
                            <a:schemeClr val="dk1"/>
                          </a:solidFill>
                          <a:effectLst/>
                          <a:latin typeface="+mn-lt"/>
                          <a:ea typeface="+mn-ea"/>
                          <a:cs typeface="+mn-cs"/>
                        </a:rPr>
                        <a:t>434,383.86</a:t>
                      </a:r>
                      <a:r>
                        <a:rPr lang="en-US" sz="1100" b="1" u="none" strike="noStrike" dirty="0">
                          <a:effectLst/>
                        </a:rPr>
                        <a:t> </a:t>
                      </a:r>
                      <a:endParaRPr lang="en-US" sz="1100" b="1" i="0" u="none" strike="noStrike" dirty="0">
                        <a:solidFill>
                          <a:srgbClr val="000000"/>
                        </a:solidFill>
                        <a:effectLst/>
                        <a:latin typeface="Aptos Narrow" panose="020B0004020202020204" pitchFamily="34" charset="0"/>
                      </a:endParaRPr>
                    </a:p>
                  </a:txBody>
                  <a:tcPr marL="9784" marR="9784" marT="9784" marB="0" anchor="b"/>
                </a:tc>
                <a:tc>
                  <a:txBody>
                    <a:bodyPr/>
                    <a:lstStyle/>
                    <a:p>
                      <a:pPr algn="ctr" fontAlgn="b">
                        <a:buNone/>
                      </a:pPr>
                      <a:r>
                        <a:rPr lang="en-US" sz="1100" b="1" u="none" strike="noStrike" dirty="0">
                          <a:effectLst/>
                        </a:rPr>
                        <a:t>100.00%</a:t>
                      </a:r>
                      <a:endParaRPr lang="en-US" sz="1100" b="1" i="0" u="none" strike="noStrike" dirty="0">
                        <a:solidFill>
                          <a:srgbClr val="000000"/>
                        </a:solidFill>
                        <a:effectLst/>
                        <a:latin typeface="Aptos Narrow" panose="020B0004020202020204" pitchFamily="34" charset="0"/>
                      </a:endParaRPr>
                    </a:p>
                  </a:txBody>
                  <a:tcPr marL="9784" marR="9784" marT="9784" marB="0" anchor="b"/>
                </a:tc>
                <a:extLst>
                  <a:ext uri="{0D108BD9-81ED-4DB2-BD59-A6C34878D82A}">
                    <a16:rowId xmlns:a16="http://schemas.microsoft.com/office/drawing/2014/main" val="1087287620"/>
                  </a:ext>
                </a:extLst>
              </a:tr>
            </a:tbl>
          </a:graphicData>
        </a:graphic>
      </p:graphicFrame>
      <mc:AlternateContent xmlns:mc="http://schemas.openxmlformats.org/markup-compatibility/2006" xmlns:cx1="http://schemas.microsoft.com/office/drawing/2015/9/8/chartex">
        <mc:Choice Requires="cx1">
          <p:graphicFrame>
            <p:nvGraphicFramePr>
              <p:cNvPr id="5" name="Chart 4">
                <a:extLst>
                  <a:ext uri="{FF2B5EF4-FFF2-40B4-BE49-F238E27FC236}">
                    <a16:creationId xmlns:a16="http://schemas.microsoft.com/office/drawing/2014/main" id="{BC0579BC-CD40-4F78-82B7-B51CFD01BCBE}"/>
                  </a:ext>
                </a:extLst>
              </p:cNvPr>
              <p:cNvGraphicFramePr>
                <a:graphicFrameLocks/>
              </p:cNvGraphicFramePr>
              <p:nvPr>
                <p:extLst>
                  <p:ext uri="{D42A27DB-BD31-4B8C-83A1-F6EECF244321}">
                    <p14:modId xmlns:p14="http://schemas.microsoft.com/office/powerpoint/2010/main" val="317996811"/>
                  </p:ext>
                </p:extLst>
              </p:nvPr>
            </p:nvGraphicFramePr>
            <p:xfrm>
              <a:off x="6861779" y="498764"/>
              <a:ext cx="4958800" cy="5920076"/>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5" name="Chart 4">
                <a:extLst>
                  <a:ext uri="{FF2B5EF4-FFF2-40B4-BE49-F238E27FC236}">
                    <a16:creationId xmlns:a16="http://schemas.microsoft.com/office/drawing/2014/main" id="{BC0579BC-CD40-4F78-82B7-B51CFD01BCBE}"/>
                  </a:ext>
                </a:extLst>
              </p:cNvPr>
              <p:cNvPicPr>
                <a:picLocks noGrp="1" noRot="1" noChangeAspect="1" noMove="1" noResize="1" noEditPoints="1" noAdjustHandles="1" noChangeArrowheads="1" noChangeShapeType="1"/>
              </p:cNvPicPr>
              <p:nvPr/>
            </p:nvPicPr>
            <p:blipFill>
              <a:blip r:embed="rId3"/>
              <a:stretch>
                <a:fillRect/>
              </a:stretch>
            </p:blipFill>
            <p:spPr>
              <a:xfrm>
                <a:off x="6861779" y="498764"/>
                <a:ext cx="4958800" cy="5920076"/>
              </a:xfrm>
              <a:prstGeom prst="rect">
                <a:avLst/>
              </a:prstGeom>
            </p:spPr>
          </p:pic>
        </mc:Fallback>
      </mc:AlternateContent>
      <p:sp>
        <p:nvSpPr>
          <p:cNvPr id="7" name="TextBox 6">
            <a:extLst>
              <a:ext uri="{FF2B5EF4-FFF2-40B4-BE49-F238E27FC236}">
                <a16:creationId xmlns:a16="http://schemas.microsoft.com/office/drawing/2014/main" id="{C9A2BAB2-C949-C86D-22F5-9561269E45E6}"/>
              </a:ext>
            </a:extLst>
          </p:cNvPr>
          <p:cNvSpPr txBox="1"/>
          <p:nvPr/>
        </p:nvSpPr>
        <p:spPr>
          <a:xfrm>
            <a:off x="738791" y="346565"/>
            <a:ext cx="6094800" cy="461665"/>
          </a:xfrm>
          <a:prstGeom prst="rect">
            <a:avLst/>
          </a:prstGeom>
          <a:noFill/>
        </p:spPr>
        <p:txBody>
          <a:bodyPr wrap="square">
            <a:spAutoFit/>
          </a:bodyPr>
          <a:lstStyle/>
          <a:p>
            <a:pPr algn="ctr"/>
            <a:r>
              <a:rPr lang="en-US" sz="2400" b="1" kern="1200" dirty="0">
                <a:solidFill>
                  <a:schemeClr val="tx1"/>
                </a:solidFill>
                <a:latin typeface="+mj-lt"/>
                <a:ea typeface="+mj-ea"/>
                <a:cs typeface="+mj-cs"/>
              </a:rPr>
              <a:t>Financial Impact of Claims Data Defects</a:t>
            </a:r>
            <a:endParaRPr lang="en-US" sz="2400" b="1" dirty="0"/>
          </a:p>
        </p:txBody>
      </p:sp>
    </p:spTree>
    <p:extLst>
      <p:ext uri="{BB962C8B-B14F-4D97-AF65-F5344CB8AC3E}">
        <p14:creationId xmlns:p14="http://schemas.microsoft.com/office/powerpoint/2010/main" val="1680378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180DE06-7362-4888-AADA-7AADD57AC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A3B392-2E60-FCF6-2CDF-1EFAE322FDCC}"/>
              </a:ext>
            </a:extLst>
          </p:cNvPr>
          <p:cNvSpPr>
            <a:spLocks noGrp="1"/>
          </p:cNvSpPr>
          <p:nvPr>
            <p:ph type="title"/>
          </p:nvPr>
        </p:nvSpPr>
        <p:spPr>
          <a:xfrm>
            <a:off x="7331384" y="372533"/>
            <a:ext cx="4171994" cy="2457614"/>
          </a:xfrm>
        </p:spPr>
        <p:txBody>
          <a:bodyPr vert="horz" lIns="91440" tIns="45720" rIns="91440" bIns="45720" rtlCol="0" anchor="b">
            <a:normAutofit/>
          </a:bodyPr>
          <a:lstStyle/>
          <a:p>
            <a:r>
              <a:rPr lang="en-US" sz="4800" kern="1200" dirty="0">
                <a:solidFill>
                  <a:schemeClr val="tx1"/>
                </a:solidFill>
                <a:latin typeface="+mj-lt"/>
                <a:ea typeface="+mj-ea"/>
                <a:cs typeface="+mj-cs"/>
              </a:rPr>
              <a:t>Pareto Analysis of Beneficiary Data Defects</a:t>
            </a:r>
          </a:p>
        </p:txBody>
      </p:sp>
      <p:grpSp>
        <p:nvGrpSpPr>
          <p:cNvPr id="11" name="Group 10">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12" name="Straight Connector 11">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3" y="372533"/>
            <a:ext cx="6116779" cy="606872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77DB965E-0884-DD2C-DBBE-20F3E25B3F10}"/>
              </a:ext>
            </a:extLst>
          </p:cNvPr>
          <p:cNvGraphicFramePr>
            <a:graphicFrameLocks noGrp="1"/>
          </p:cNvGraphicFramePr>
          <p:nvPr>
            <p:extLst>
              <p:ext uri="{D42A27DB-BD31-4B8C-83A1-F6EECF244321}">
                <p14:modId xmlns:p14="http://schemas.microsoft.com/office/powerpoint/2010/main" val="1168588209"/>
              </p:ext>
            </p:extLst>
          </p:nvPr>
        </p:nvGraphicFramePr>
        <p:xfrm>
          <a:off x="942597" y="842223"/>
          <a:ext cx="5608833" cy="5173578"/>
        </p:xfrm>
        <a:graphic>
          <a:graphicData uri="http://schemas.openxmlformats.org/drawingml/2006/table">
            <a:tbl>
              <a:tblPr firstRow="1" bandRow="1">
                <a:tableStyleId>{5C22544A-7EE6-4342-B048-85BDC9FD1C3A}</a:tableStyleId>
              </a:tblPr>
              <a:tblGrid>
                <a:gridCol w="978386">
                  <a:extLst>
                    <a:ext uri="{9D8B030D-6E8A-4147-A177-3AD203B41FA5}">
                      <a16:colId xmlns:a16="http://schemas.microsoft.com/office/drawing/2014/main" val="1233873725"/>
                    </a:ext>
                  </a:extLst>
                </a:gridCol>
                <a:gridCol w="1517204">
                  <a:extLst>
                    <a:ext uri="{9D8B030D-6E8A-4147-A177-3AD203B41FA5}">
                      <a16:colId xmlns:a16="http://schemas.microsoft.com/office/drawing/2014/main" val="4127094395"/>
                    </a:ext>
                  </a:extLst>
                </a:gridCol>
                <a:gridCol w="792670">
                  <a:extLst>
                    <a:ext uri="{9D8B030D-6E8A-4147-A177-3AD203B41FA5}">
                      <a16:colId xmlns:a16="http://schemas.microsoft.com/office/drawing/2014/main" val="2277256268"/>
                    </a:ext>
                  </a:extLst>
                </a:gridCol>
                <a:gridCol w="1206864">
                  <a:extLst>
                    <a:ext uri="{9D8B030D-6E8A-4147-A177-3AD203B41FA5}">
                      <a16:colId xmlns:a16="http://schemas.microsoft.com/office/drawing/2014/main" val="2347054409"/>
                    </a:ext>
                  </a:extLst>
                </a:gridCol>
                <a:gridCol w="439555">
                  <a:extLst>
                    <a:ext uri="{9D8B030D-6E8A-4147-A177-3AD203B41FA5}">
                      <a16:colId xmlns:a16="http://schemas.microsoft.com/office/drawing/2014/main" val="2577242359"/>
                    </a:ext>
                  </a:extLst>
                </a:gridCol>
                <a:gridCol w="674154">
                  <a:extLst>
                    <a:ext uri="{9D8B030D-6E8A-4147-A177-3AD203B41FA5}">
                      <a16:colId xmlns:a16="http://schemas.microsoft.com/office/drawing/2014/main" val="3439333173"/>
                    </a:ext>
                  </a:extLst>
                </a:gridCol>
              </a:tblGrid>
              <a:tr h="267972">
                <a:tc>
                  <a:txBody>
                    <a:bodyPr/>
                    <a:lstStyle/>
                    <a:p>
                      <a:pPr algn="ctr" fontAlgn="b">
                        <a:buNone/>
                      </a:pPr>
                      <a:r>
                        <a:rPr lang="en-US" sz="800" u="none" strike="noStrike" dirty="0">
                          <a:effectLst/>
                        </a:rPr>
                        <a:t>SOURCE</a:t>
                      </a:r>
                      <a:endParaRPr lang="en-US" sz="800" b="0" i="0" u="none" strike="noStrike" dirty="0">
                        <a:solidFill>
                          <a:srgbClr val="000000"/>
                        </a:solidFill>
                        <a:effectLst/>
                        <a:latin typeface="Aptos Narrow" panose="020B0004020202020204" pitchFamily="34" charset="0"/>
                      </a:endParaRPr>
                    </a:p>
                  </a:txBody>
                  <a:tcPr marL="5233" marR="5233" marT="5233" marB="0" anchor="ctr"/>
                </a:tc>
                <a:tc>
                  <a:txBody>
                    <a:bodyPr/>
                    <a:lstStyle/>
                    <a:p>
                      <a:pPr algn="ctr" fontAlgn="b">
                        <a:buNone/>
                      </a:pPr>
                      <a:r>
                        <a:rPr lang="en-US" sz="800" u="none" strike="noStrike" dirty="0">
                          <a:effectLst/>
                        </a:rPr>
                        <a:t>DATA SET</a:t>
                      </a:r>
                      <a:endParaRPr lang="en-US" sz="800" b="0" i="0" u="none" strike="noStrike" dirty="0">
                        <a:solidFill>
                          <a:srgbClr val="000000"/>
                        </a:solidFill>
                        <a:effectLst/>
                        <a:latin typeface="Aptos Narrow" panose="020B0004020202020204" pitchFamily="34" charset="0"/>
                      </a:endParaRPr>
                    </a:p>
                  </a:txBody>
                  <a:tcPr marL="5233" marR="5233" marT="5233" marB="0" anchor="ctr"/>
                </a:tc>
                <a:tc>
                  <a:txBody>
                    <a:bodyPr/>
                    <a:lstStyle/>
                    <a:p>
                      <a:pPr algn="ctr" fontAlgn="b">
                        <a:buNone/>
                      </a:pPr>
                      <a:r>
                        <a:rPr lang="en-US" sz="800" u="none" strike="noStrike" dirty="0">
                          <a:effectLst/>
                        </a:rPr>
                        <a:t>TOTAL DEFECTS</a:t>
                      </a:r>
                      <a:endParaRPr lang="en-US" sz="800" b="0" i="0" u="none" strike="noStrike" dirty="0">
                        <a:solidFill>
                          <a:srgbClr val="000000"/>
                        </a:solidFill>
                        <a:effectLst/>
                        <a:latin typeface="Aptos Narrow" panose="020B0004020202020204" pitchFamily="34" charset="0"/>
                      </a:endParaRPr>
                    </a:p>
                  </a:txBody>
                  <a:tcPr marL="5233" marR="5233" marT="5233" marB="0" anchor="ctr"/>
                </a:tc>
                <a:tc>
                  <a:txBody>
                    <a:bodyPr/>
                    <a:lstStyle/>
                    <a:p>
                      <a:pPr algn="ctr" fontAlgn="b">
                        <a:buNone/>
                      </a:pPr>
                      <a:r>
                        <a:rPr lang="en-US" sz="800" u="none" strike="noStrike" dirty="0">
                          <a:effectLst/>
                        </a:rPr>
                        <a:t>RUNNING PCT</a:t>
                      </a:r>
                      <a:endParaRPr lang="en-US" sz="800" b="0" i="0" u="none" strike="noStrike" dirty="0">
                        <a:solidFill>
                          <a:srgbClr val="000000"/>
                        </a:solidFill>
                        <a:effectLst/>
                        <a:latin typeface="Aptos Narrow" panose="020B0004020202020204" pitchFamily="34" charset="0"/>
                      </a:endParaRPr>
                    </a:p>
                  </a:txBody>
                  <a:tcPr marL="5233" marR="5233" marT="5233" marB="0" anchor="ctr"/>
                </a:tc>
                <a:tc>
                  <a:txBody>
                    <a:bodyPr/>
                    <a:lstStyle/>
                    <a:p>
                      <a:pPr algn="ctr" fontAlgn="b">
                        <a:buNone/>
                      </a:pPr>
                      <a:r>
                        <a:rPr lang="en-US" sz="800" u="none" strike="noStrike" dirty="0">
                          <a:effectLst/>
                        </a:rPr>
                        <a:t>DPMO</a:t>
                      </a:r>
                      <a:endParaRPr lang="en-US" sz="800" b="0" i="0" u="none" strike="noStrike" dirty="0">
                        <a:solidFill>
                          <a:srgbClr val="000000"/>
                        </a:solidFill>
                        <a:effectLst/>
                        <a:latin typeface="Aptos Narrow" panose="020B0004020202020204" pitchFamily="34" charset="0"/>
                      </a:endParaRPr>
                    </a:p>
                  </a:txBody>
                  <a:tcPr marL="5233" marR="5233" marT="5233" marB="0" anchor="ctr"/>
                </a:tc>
                <a:tc>
                  <a:txBody>
                    <a:bodyPr/>
                    <a:lstStyle/>
                    <a:p>
                      <a:pPr algn="ctr" fontAlgn="b">
                        <a:buNone/>
                      </a:pPr>
                      <a:r>
                        <a:rPr lang="en-US" sz="800" u="none" strike="noStrike" dirty="0">
                          <a:effectLst/>
                        </a:rPr>
                        <a:t>SIGMA LEVEL</a:t>
                      </a:r>
                      <a:endParaRPr lang="en-US" sz="800" b="0" i="0" u="none" strike="noStrike" dirty="0">
                        <a:solidFill>
                          <a:srgbClr val="000000"/>
                        </a:solidFill>
                        <a:effectLst/>
                        <a:latin typeface="Aptos Narrow" panose="020B0004020202020204" pitchFamily="34" charset="0"/>
                      </a:endParaRPr>
                    </a:p>
                  </a:txBody>
                  <a:tcPr marL="5233" marR="5233" marT="5233" marB="0" anchor="ctr"/>
                </a:tc>
                <a:extLst>
                  <a:ext uri="{0D108BD9-81ED-4DB2-BD59-A6C34878D82A}">
                    <a16:rowId xmlns:a16="http://schemas.microsoft.com/office/drawing/2014/main" val="2680463944"/>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BENE_BIRTH_DT</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496</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6.05%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1,443</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4.498</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481410466"/>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nl-NL" sz="800" u="none" strike="noStrike">
                          <a:effectLst/>
                        </a:rPr>
                        <a:t>BENE_HI_CVRAGE_TOT_MONS</a:t>
                      </a:r>
                      <a:endParaRPr lang="nl-NL"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337</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10.17%</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980</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4.613</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158567713"/>
                  </a:ext>
                </a:extLst>
              </a:tr>
              <a:tr h="267972">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nl-NL" sz="800" u="none" strike="noStrike">
                          <a:effectLst/>
                        </a:rPr>
                        <a:t>BENE_SMI_CVRAGE_TOT_MONS</a:t>
                      </a:r>
                      <a:endParaRPr lang="nl-NL"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322</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14.10%</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937</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4.626</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817938761"/>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BENE_COUNTY_CD</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17.98%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3075269503"/>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BENE_DEATH_DT</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21.86%</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264108040"/>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BENE_ESRD_IND</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25.74%</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3686465396"/>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BENE_RACE_CD</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29.62%</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3197915477"/>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BENE_SEX_IDENT_CD</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33.50%</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2764271318"/>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SP_ALZHDMTA</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37.39%</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1794317441"/>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SP_CHF</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41.27%</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1791380822"/>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SP_CHRNKIDN</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45.15%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1636244027"/>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SP_CNCR</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49.03%</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2017801686"/>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SP_COPD</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52.91%</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4034830056"/>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SP_DEPRESSN</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56.79%</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3909659514"/>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SP_DIABETES</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60.67%</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783116943"/>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SP_ISCHMCHT</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64.56%</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1832264342"/>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SP_OSTEOPRS</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68.44%</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3776190862"/>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SP_RA_OA</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72.32%</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1205022331"/>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SP_STATE_CODE</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76.20%</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4279402834"/>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SP_STRKETIA</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318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80.08%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4.629</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4158040795"/>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PLAN_CVRG_MOS_NUM</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289</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83.61%</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841</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4.657</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3921780917"/>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BENRES_CAR</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272</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86.93%</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791</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4.674</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2105359141"/>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MEDREIMB_CAR</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260</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90.10%</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756</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4.687</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3929814686"/>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MEDREIMB_OP</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215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92.73%</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625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4.740</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2588784309"/>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BENRES_OP</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195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95.11%</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567</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4.766</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1689467453"/>
                  </a:ext>
                </a:extLst>
              </a:tr>
              <a:tr h="267972">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nl-NL" sz="800" u="none" strike="noStrike">
                          <a:effectLst/>
                        </a:rPr>
                        <a:t>BENE_HMO_CVRAGE_TOT_MONS</a:t>
                      </a:r>
                      <a:endParaRPr lang="nl-NL"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124</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96.62%</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361</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4.886</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190319975"/>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PPPYMT_CAR</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78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97.57%</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227</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5.002</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3178565699"/>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MEDREIMB_IP</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68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98.40%</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198</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5.035</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2003230410"/>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dirty="0">
                          <a:effectLst/>
                        </a:rPr>
                        <a:t>BENRES_IP</a:t>
                      </a:r>
                      <a:endParaRPr lang="en-US" sz="800" b="0" i="0" u="none" strike="noStrike" dirty="0">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62</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99.16%</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180</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5.057</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2379142562"/>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PPPYMT_IP</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36</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99.60%</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105</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5.182</a:t>
                      </a:r>
                      <a:endParaRPr lang="en-US" sz="800" b="0" i="0" u="none" strike="noStrike">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721940485"/>
                  </a:ext>
                </a:extLst>
              </a:tr>
              <a:tr h="150678">
                <a:tc>
                  <a:txBody>
                    <a:bodyPr/>
                    <a:lstStyle/>
                    <a:p>
                      <a:pPr algn="l" fontAlgn="b">
                        <a:buNone/>
                      </a:pPr>
                      <a:r>
                        <a:rPr lang="en-US" sz="800" u="none" strike="noStrike">
                          <a:effectLst/>
                        </a:rPr>
                        <a:t>Beneficiary Summary</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l" fontAlgn="b">
                        <a:buNone/>
                      </a:pPr>
                      <a:r>
                        <a:rPr lang="en-US" sz="800" u="none" strike="noStrike">
                          <a:effectLst/>
                        </a:rPr>
                        <a:t>PPPYMT_OP</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33</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100.00%</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a:effectLst/>
                        </a:rPr>
                        <a:t>96</a:t>
                      </a:r>
                      <a:endParaRPr lang="en-US" sz="800" b="0" i="0" u="none" strike="noStrike">
                        <a:solidFill>
                          <a:srgbClr val="000000"/>
                        </a:solidFill>
                        <a:effectLst/>
                        <a:latin typeface="Aptos Narrow" panose="020B0004020202020204" pitchFamily="34" charset="0"/>
                      </a:endParaRPr>
                    </a:p>
                  </a:txBody>
                  <a:tcPr marL="5233" marR="5233" marT="5233" marB="0" anchor="b"/>
                </a:tc>
                <a:tc>
                  <a:txBody>
                    <a:bodyPr/>
                    <a:lstStyle/>
                    <a:p>
                      <a:pPr algn="ctr" fontAlgn="b">
                        <a:buNone/>
                      </a:pPr>
                      <a:r>
                        <a:rPr lang="en-US" sz="800" u="none" strike="noStrike" dirty="0">
                          <a:effectLst/>
                        </a:rPr>
                        <a:t>5.201</a:t>
                      </a:r>
                      <a:endParaRPr lang="en-US" sz="800" b="0" i="0" u="none" strike="noStrike" dirty="0">
                        <a:solidFill>
                          <a:srgbClr val="000000"/>
                        </a:solidFill>
                        <a:effectLst/>
                        <a:latin typeface="Aptos Narrow" panose="020B0004020202020204" pitchFamily="34" charset="0"/>
                      </a:endParaRPr>
                    </a:p>
                  </a:txBody>
                  <a:tcPr marL="5233" marR="5233" marT="5233" marB="0" anchor="b"/>
                </a:tc>
                <a:extLst>
                  <a:ext uri="{0D108BD9-81ED-4DB2-BD59-A6C34878D82A}">
                    <a16:rowId xmlns:a16="http://schemas.microsoft.com/office/drawing/2014/main" val="2835031241"/>
                  </a:ext>
                </a:extLst>
              </a:tr>
            </a:tbl>
          </a:graphicData>
        </a:graphic>
      </p:graphicFrame>
      <p:sp>
        <p:nvSpPr>
          <p:cNvPr id="3" name="TextBox 2">
            <a:extLst>
              <a:ext uri="{FF2B5EF4-FFF2-40B4-BE49-F238E27FC236}">
                <a16:creationId xmlns:a16="http://schemas.microsoft.com/office/drawing/2014/main" id="{ADE9D997-0C27-1F9E-B9F6-C7FDAA1669FF}"/>
              </a:ext>
            </a:extLst>
          </p:cNvPr>
          <p:cNvSpPr txBox="1"/>
          <p:nvPr/>
        </p:nvSpPr>
        <p:spPr>
          <a:xfrm>
            <a:off x="7331384" y="3140545"/>
            <a:ext cx="4171993" cy="3293209"/>
          </a:xfrm>
          <a:prstGeom prst="rect">
            <a:avLst/>
          </a:prstGeom>
          <a:noFill/>
        </p:spPr>
        <p:txBody>
          <a:bodyPr wrap="square" rtlCol="0">
            <a:spAutoFit/>
          </a:bodyPr>
          <a:lstStyle/>
          <a:p>
            <a:r>
              <a:rPr lang="en-US" sz="1600" dirty="0"/>
              <a:t>1,322 Beneficiary Records do not match between the Pre- &amp; Post-Migration tables.</a:t>
            </a:r>
          </a:p>
          <a:p>
            <a:endParaRPr lang="en-US" sz="1600" dirty="0"/>
          </a:p>
          <a:p>
            <a:r>
              <a:rPr lang="en-US" sz="1600" dirty="0"/>
              <a:t>One or more data fields are out of sync.</a:t>
            </a:r>
          </a:p>
          <a:p>
            <a:endParaRPr lang="en-US" sz="1600" dirty="0"/>
          </a:p>
          <a:p>
            <a:r>
              <a:rPr lang="en-US" sz="1600" dirty="0"/>
              <a:t>Defects are distributed almost uniformly across ~25 fields (~318 each), indicating a </a:t>
            </a:r>
            <a:r>
              <a:rPr lang="en-US" sz="1600" b="1" dirty="0"/>
              <a:t>systemic migration fault affecting most fields equally</a:t>
            </a:r>
            <a:r>
              <a:rPr lang="en-US" sz="1600" dirty="0"/>
              <a:t> —not a few broken columns.</a:t>
            </a:r>
          </a:p>
          <a:p>
            <a:endParaRPr lang="en-US" sz="1600" dirty="0"/>
          </a:p>
          <a:p>
            <a:r>
              <a:rPr lang="en-US" sz="1600" dirty="0"/>
              <a:t>This points root-cause analysis at the migration process itself rather than specific fields.</a:t>
            </a:r>
          </a:p>
        </p:txBody>
      </p:sp>
    </p:spTree>
    <p:extLst>
      <p:ext uri="{BB962C8B-B14F-4D97-AF65-F5344CB8AC3E}">
        <p14:creationId xmlns:p14="http://schemas.microsoft.com/office/powerpoint/2010/main" val="3351946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0D667-F3CF-7F9C-D537-125B2BCBA821}"/>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8E44CBC-EEC8-82CC-63C8-6A2AE99608DB}"/>
              </a:ext>
            </a:extLst>
          </p:cNvPr>
          <p:cNvGraphicFramePr>
            <a:graphicFrameLocks noGrp="1"/>
          </p:cNvGraphicFramePr>
          <p:nvPr>
            <p:ph idx="1"/>
            <p:extLst>
              <p:ext uri="{D42A27DB-BD31-4B8C-83A1-F6EECF244321}">
                <p14:modId xmlns:p14="http://schemas.microsoft.com/office/powerpoint/2010/main" val="1194149028"/>
              </p:ext>
            </p:extLst>
          </p:nvPr>
        </p:nvGraphicFramePr>
        <p:xfrm>
          <a:off x="851913" y="1215273"/>
          <a:ext cx="5608831" cy="4309261"/>
        </p:xfrm>
        <a:graphic>
          <a:graphicData uri="http://schemas.openxmlformats.org/drawingml/2006/table">
            <a:tbl>
              <a:tblPr firstRow="1" bandRow="1">
                <a:tableStyleId>{5C22544A-7EE6-4342-B048-85BDC9FD1C3A}</a:tableStyleId>
              </a:tblPr>
              <a:tblGrid>
                <a:gridCol w="2309346">
                  <a:extLst>
                    <a:ext uri="{9D8B030D-6E8A-4147-A177-3AD203B41FA5}">
                      <a16:colId xmlns:a16="http://schemas.microsoft.com/office/drawing/2014/main" val="56626641"/>
                    </a:ext>
                  </a:extLst>
                </a:gridCol>
                <a:gridCol w="1533150">
                  <a:extLst>
                    <a:ext uri="{9D8B030D-6E8A-4147-A177-3AD203B41FA5}">
                      <a16:colId xmlns:a16="http://schemas.microsoft.com/office/drawing/2014/main" val="1321260213"/>
                    </a:ext>
                  </a:extLst>
                </a:gridCol>
                <a:gridCol w="1766335">
                  <a:extLst>
                    <a:ext uri="{9D8B030D-6E8A-4147-A177-3AD203B41FA5}">
                      <a16:colId xmlns:a16="http://schemas.microsoft.com/office/drawing/2014/main" val="1748309337"/>
                    </a:ext>
                  </a:extLst>
                </a:gridCol>
              </a:tblGrid>
              <a:tr h="391751">
                <a:tc>
                  <a:txBody>
                    <a:bodyPr/>
                    <a:lstStyle/>
                    <a:p>
                      <a:pPr algn="ctr" fontAlgn="b">
                        <a:buNone/>
                      </a:pPr>
                      <a:r>
                        <a:rPr lang="en-US" sz="1100" u="none" strike="noStrike" dirty="0">
                          <a:effectLst/>
                        </a:rPr>
                        <a:t>DATA SET</a:t>
                      </a:r>
                      <a:endParaRPr lang="en-US" sz="1100" b="0" i="0" u="none" strike="noStrike" dirty="0">
                        <a:solidFill>
                          <a:srgbClr val="000000"/>
                        </a:solidFill>
                        <a:effectLst/>
                        <a:latin typeface="Aptos Narrow" panose="020B0004020202020204" pitchFamily="34" charset="0"/>
                      </a:endParaRPr>
                    </a:p>
                  </a:txBody>
                  <a:tcPr marL="9784" marR="9784" marT="9784" marB="0" anchor="ctr"/>
                </a:tc>
                <a:tc>
                  <a:txBody>
                    <a:bodyPr/>
                    <a:lstStyle/>
                    <a:p>
                      <a:pPr algn="ctr" fontAlgn="b">
                        <a:buNone/>
                      </a:pPr>
                      <a:r>
                        <a:rPr lang="en-US" sz="1100" u="none" strike="noStrike" dirty="0">
                          <a:effectLst/>
                        </a:rPr>
                        <a:t>FINANCIAL VARIANCE</a:t>
                      </a:r>
                      <a:endParaRPr lang="en-US" sz="1100" b="0" i="0" u="none" strike="noStrike" dirty="0">
                        <a:solidFill>
                          <a:srgbClr val="000000"/>
                        </a:solidFill>
                        <a:effectLst/>
                        <a:latin typeface="Aptos Narrow" panose="020B0004020202020204" pitchFamily="34" charset="0"/>
                      </a:endParaRPr>
                    </a:p>
                  </a:txBody>
                  <a:tcPr marL="9784" marR="9784" marT="9784" marB="0" anchor="ctr"/>
                </a:tc>
                <a:tc>
                  <a:txBody>
                    <a:bodyPr/>
                    <a:lstStyle/>
                    <a:p>
                      <a:pPr algn="ctr" fontAlgn="b">
                        <a:buNone/>
                      </a:pPr>
                      <a:r>
                        <a:rPr lang="en-US" sz="1100" u="none" strike="noStrike" dirty="0">
                          <a:effectLst/>
                        </a:rPr>
                        <a:t>RUNNING PCT OF TOTAL</a:t>
                      </a:r>
                      <a:endParaRPr lang="en-US" sz="1100" b="0" i="0" u="none" strike="noStrike" dirty="0">
                        <a:solidFill>
                          <a:srgbClr val="000000"/>
                        </a:solidFill>
                        <a:effectLst/>
                        <a:latin typeface="Aptos Narrow" panose="020B0004020202020204" pitchFamily="34" charset="0"/>
                      </a:endParaRPr>
                    </a:p>
                  </a:txBody>
                  <a:tcPr marL="9784" marR="9784" marT="9784" marB="0" anchor="ctr"/>
                </a:tc>
                <a:extLst>
                  <a:ext uri="{0D108BD9-81ED-4DB2-BD59-A6C34878D82A}">
                    <a16:rowId xmlns:a16="http://schemas.microsoft.com/office/drawing/2014/main" val="835689144"/>
                  </a:ext>
                </a:extLst>
              </a:tr>
              <a:tr h="391751">
                <a:tc>
                  <a:txBody>
                    <a:bodyPr/>
                    <a:lstStyle/>
                    <a:p>
                      <a:pPr algn="l" fontAlgn="b">
                        <a:buNone/>
                      </a:pPr>
                      <a:r>
                        <a:rPr lang="en-US" sz="1100" b="0" i="0" u="none" strike="noStrike">
                          <a:solidFill>
                            <a:srgbClr val="000000"/>
                          </a:solidFill>
                          <a:effectLst/>
                          <a:latin typeface="Aptos Narrow" panose="020B0004020202020204" pitchFamily="34" charset="0"/>
                        </a:rPr>
                        <a:t>MEDREIMB_OP</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 $                      10,924.62 </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30.68%</a:t>
                      </a:r>
                    </a:p>
                  </a:txBody>
                  <a:tcPr marL="9525" marR="9525" marT="9525" marB="0" anchor="b"/>
                </a:tc>
                <a:extLst>
                  <a:ext uri="{0D108BD9-81ED-4DB2-BD59-A6C34878D82A}">
                    <a16:rowId xmlns:a16="http://schemas.microsoft.com/office/drawing/2014/main" val="713614033"/>
                  </a:ext>
                </a:extLst>
              </a:tr>
              <a:tr h="391751">
                <a:tc>
                  <a:txBody>
                    <a:bodyPr/>
                    <a:lstStyle/>
                    <a:p>
                      <a:pPr algn="l" fontAlgn="b">
                        <a:buNone/>
                      </a:pPr>
                      <a:r>
                        <a:rPr lang="en-US" sz="1100" b="0" i="0" u="none" strike="noStrike">
                          <a:solidFill>
                            <a:srgbClr val="000000"/>
                          </a:solidFill>
                          <a:effectLst/>
                          <a:latin typeface="Aptos Narrow" panose="020B0004020202020204" pitchFamily="34" charset="0"/>
                        </a:rPr>
                        <a:t>MEDREIMB_IP</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 $                        7,004.07 </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50.35%</a:t>
                      </a:r>
                    </a:p>
                  </a:txBody>
                  <a:tcPr marL="9525" marR="9525" marT="9525" marB="0" anchor="b"/>
                </a:tc>
                <a:extLst>
                  <a:ext uri="{0D108BD9-81ED-4DB2-BD59-A6C34878D82A}">
                    <a16:rowId xmlns:a16="http://schemas.microsoft.com/office/drawing/2014/main" val="1513950478"/>
                  </a:ext>
                </a:extLst>
              </a:tr>
              <a:tr h="391751">
                <a:tc>
                  <a:txBody>
                    <a:bodyPr/>
                    <a:lstStyle/>
                    <a:p>
                      <a:pPr algn="l" fontAlgn="b">
                        <a:buNone/>
                      </a:pPr>
                      <a:r>
                        <a:rPr lang="en-US" sz="1100" b="0" i="0" u="none" strike="noStrike">
                          <a:solidFill>
                            <a:srgbClr val="000000"/>
                          </a:solidFill>
                          <a:effectLst/>
                          <a:latin typeface="Aptos Narrow" panose="020B0004020202020204" pitchFamily="34" charset="0"/>
                        </a:rPr>
                        <a:t>MEDREIMB_CAR</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 $                        4,458.42 </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62.87%</a:t>
                      </a:r>
                    </a:p>
                  </a:txBody>
                  <a:tcPr marL="9525" marR="9525" marT="9525" marB="0" anchor="b"/>
                </a:tc>
                <a:extLst>
                  <a:ext uri="{0D108BD9-81ED-4DB2-BD59-A6C34878D82A}">
                    <a16:rowId xmlns:a16="http://schemas.microsoft.com/office/drawing/2014/main" val="1624005118"/>
                  </a:ext>
                </a:extLst>
              </a:tr>
              <a:tr h="391751">
                <a:tc>
                  <a:txBody>
                    <a:bodyPr/>
                    <a:lstStyle/>
                    <a:p>
                      <a:pPr algn="l" fontAlgn="b">
                        <a:buNone/>
                      </a:pPr>
                      <a:r>
                        <a:rPr lang="en-US" sz="1100" b="0" i="0" u="none" strike="noStrike">
                          <a:solidFill>
                            <a:srgbClr val="000000"/>
                          </a:solidFill>
                          <a:effectLst/>
                          <a:latin typeface="Aptos Narrow" panose="020B0004020202020204" pitchFamily="34" charset="0"/>
                        </a:rPr>
                        <a:t>BENRES_IP</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 $                        3,231.46 </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71.94%</a:t>
                      </a:r>
                    </a:p>
                  </a:txBody>
                  <a:tcPr marL="9525" marR="9525" marT="9525" marB="0" anchor="b"/>
                </a:tc>
                <a:extLst>
                  <a:ext uri="{0D108BD9-81ED-4DB2-BD59-A6C34878D82A}">
                    <a16:rowId xmlns:a16="http://schemas.microsoft.com/office/drawing/2014/main" val="408909967"/>
                  </a:ext>
                </a:extLst>
              </a:tr>
              <a:tr h="391751">
                <a:tc>
                  <a:txBody>
                    <a:bodyPr/>
                    <a:lstStyle/>
                    <a:p>
                      <a:pPr algn="l" fontAlgn="b">
                        <a:buNone/>
                      </a:pPr>
                      <a:r>
                        <a:rPr lang="en-US" sz="1100" b="0" i="0" u="none" strike="noStrike">
                          <a:solidFill>
                            <a:srgbClr val="000000"/>
                          </a:solidFill>
                          <a:effectLst/>
                          <a:latin typeface="Aptos Narrow" panose="020B0004020202020204" pitchFamily="34" charset="0"/>
                        </a:rPr>
                        <a:t>BENRES_CAR</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 $                        2,466.78 </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78.87%</a:t>
                      </a:r>
                    </a:p>
                  </a:txBody>
                  <a:tcPr marL="9525" marR="9525" marT="9525" marB="0" anchor="b"/>
                </a:tc>
                <a:extLst>
                  <a:ext uri="{0D108BD9-81ED-4DB2-BD59-A6C34878D82A}">
                    <a16:rowId xmlns:a16="http://schemas.microsoft.com/office/drawing/2014/main" val="1001752028"/>
                  </a:ext>
                </a:extLst>
              </a:tr>
              <a:tr h="391751">
                <a:tc>
                  <a:txBody>
                    <a:bodyPr/>
                    <a:lstStyle/>
                    <a:p>
                      <a:pPr algn="l" fontAlgn="b">
                        <a:buNone/>
                      </a:pPr>
                      <a:r>
                        <a:rPr lang="en-US" sz="1100" b="0" i="0" u="none" strike="noStrike">
                          <a:solidFill>
                            <a:srgbClr val="000000"/>
                          </a:solidFill>
                          <a:effectLst/>
                          <a:latin typeface="Aptos Narrow" panose="020B0004020202020204" pitchFamily="34" charset="0"/>
                        </a:rPr>
                        <a:t>PPPYMT_IP</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 $                        2,128.46 </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84.85%</a:t>
                      </a:r>
                    </a:p>
                  </a:txBody>
                  <a:tcPr marL="9525" marR="9525" marT="9525" marB="0" anchor="b"/>
                </a:tc>
                <a:extLst>
                  <a:ext uri="{0D108BD9-81ED-4DB2-BD59-A6C34878D82A}">
                    <a16:rowId xmlns:a16="http://schemas.microsoft.com/office/drawing/2014/main" val="1087287620"/>
                  </a:ext>
                </a:extLst>
              </a:tr>
              <a:tr h="391751">
                <a:tc>
                  <a:txBody>
                    <a:bodyPr/>
                    <a:lstStyle/>
                    <a:p>
                      <a:pPr algn="l" fontAlgn="b">
                        <a:buNone/>
                      </a:pPr>
                      <a:r>
                        <a:rPr lang="en-US" sz="1100" b="0" i="0" u="none" strike="noStrike">
                          <a:solidFill>
                            <a:srgbClr val="000000"/>
                          </a:solidFill>
                          <a:effectLst/>
                          <a:latin typeface="Aptos Narrow" panose="020B0004020202020204" pitchFamily="34" charset="0"/>
                        </a:rPr>
                        <a:t>PPPYMT_CAR</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 $                        1,996.32 </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90.45%</a:t>
                      </a:r>
                    </a:p>
                  </a:txBody>
                  <a:tcPr marL="9525" marR="9525" marT="9525" marB="0" anchor="b"/>
                </a:tc>
                <a:extLst>
                  <a:ext uri="{0D108BD9-81ED-4DB2-BD59-A6C34878D82A}">
                    <a16:rowId xmlns:a16="http://schemas.microsoft.com/office/drawing/2014/main" val="1435666095"/>
                  </a:ext>
                </a:extLst>
              </a:tr>
              <a:tr h="391751">
                <a:tc>
                  <a:txBody>
                    <a:bodyPr/>
                    <a:lstStyle/>
                    <a:p>
                      <a:pPr algn="l" fontAlgn="b">
                        <a:buNone/>
                      </a:pPr>
                      <a:r>
                        <a:rPr lang="en-US" sz="1100" b="0" i="0" u="none" strike="noStrike">
                          <a:solidFill>
                            <a:srgbClr val="000000"/>
                          </a:solidFill>
                          <a:effectLst/>
                          <a:latin typeface="Aptos Narrow" panose="020B0004020202020204" pitchFamily="34" charset="0"/>
                        </a:rPr>
                        <a:t>BENRES_OP</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 $                        1,907.74 </a:t>
                      </a:r>
                    </a:p>
                  </a:txBody>
                  <a:tcPr marL="9525" marR="9525" marT="9525" marB="0" anchor="b"/>
                </a:tc>
                <a:tc>
                  <a:txBody>
                    <a:bodyPr/>
                    <a:lstStyle/>
                    <a:p>
                      <a:pPr algn="ctr" fontAlgn="b">
                        <a:buNone/>
                      </a:pPr>
                      <a:r>
                        <a:rPr lang="en-US" sz="1100" b="0" i="0" u="none" strike="noStrike">
                          <a:solidFill>
                            <a:srgbClr val="000000"/>
                          </a:solidFill>
                          <a:effectLst/>
                          <a:latin typeface="Aptos Narrow" panose="020B0004020202020204" pitchFamily="34" charset="0"/>
                        </a:rPr>
                        <a:t>95.81%</a:t>
                      </a:r>
                    </a:p>
                  </a:txBody>
                  <a:tcPr marL="9525" marR="9525" marT="9525" marB="0" anchor="b"/>
                </a:tc>
                <a:extLst>
                  <a:ext uri="{0D108BD9-81ED-4DB2-BD59-A6C34878D82A}">
                    <a16:rowId xmlns:a16="http://schemas.microsoft.com/office/drawing/2014/main" val="2415572417"/>
                  </a:ext>
                </a:extLst>
              </a:tr>
              <a:tr h="391751">
                <a:tc>
                  <a:txBody>
                    <a:bodyPr/>
                    <a:lstStyle/>
                    <a:p>
                      <a:pPr algn="l" fontAlgn="b">
                        <a:buNone/>
                      </a:pPr>
                      <a:r>
                        <a:rPr lang="en-US" sz="1100" b="0" i="0" u="none" strike="noStrike">
                          <a:solidFill>
                            <a:srgbClr val="000000"/>
                          </a:solidFill>
                          <a:effectLst/>
                          <a:latin typeface="Aptos Narrow" panose="020B0004020202020204" pitchFamily="34" charset="0"/>
                        </a:rPr>
                        <a:t>PPPYMT_OP</a:t>
                      </a:r>
                    </a:p>
                  </a:txBody>
                  <a:tcPr marL="9525" marR="9525" marT="9525" marB="0" anchor="b"/>
                </a:tc>
                <a:tc>
                  <a:txBody>
                    <a:bodyPr/>
                    <a:lstStyle/>
                    <a:p>
                      <a:pPr algn="ctr" fontAlgn="b">
                        <a:buNone/>
                      </a:pPr>
                      <a:r>
                        <a:rPr lang="en-US" sz="1100" b="0" i="0" u="none" strike="noStrike" dirty="0">
                          <a:solidFill>
                            <a:srgbClr val="000000"/>
                          </a:solidFill>
                          <a:effectLst/>
                          <a:latin typeface="Aptos Narrow" panose="020B0004020202020204" pitchFamily="34" charset="0"/>
                        </a:rPr>
                        <a:t> $                        1,491.36 </a:t>
                      </a:r>
                    </a:p>
                  </a:txBody>
                  <a:tcPr marL="9525" marR="9525" marT="9525" marB="0" anchor="b"/>
                </a:tc>
                <a:tc>
                  <a:txBody>
                    <a:bodyPr/>
                    <a:lstStyle/>
                    <a:p>
                      <a:pPr algn="ctr" fontAlgn="b">
                        <a:buNone/>
                      </a:pPr>
                      <a:r>
                        <a:rPr lang="en-US" sz="1100" b="0" i="0" u="none" strike="noStrike" dirty="0">
                          <a:solidFill>
                            <a:srgbClr val="000000"/>
                          </a:solidFill>
                          <a:effectLst/>
                          <a:latin typeface="Aptos Narrow" panose="020B0004020202020204" pitchFamily="34" charset="0"/>
                        </a:rPr>
                        <a:t>100.00%</a:t>
                      </a:r>
                    </a:p>
                  </a:txBody>
                  <a:tcPr marL="9525" marR="9525" marT="9525" marB="0" anchor="b"/>
                </a:tc>
                <a:extLst>
                  <a:ext uri="{0D108BD9-81ED-4DB2-BD59-A6C34878D82A}">
                    <a16:rowId xmlns:a16="http://schemas.microsoft.com/office/drawing/2014/main" val="2577297443"/>
                  </a:ext>
                </a:extLst>
              </a:tr>
              <a:tr h="391751">
                <a:tc>
                  <a:txBody>
                    <a:bodyPr/>
                    <a:lstStyle/>
                    <a:p>
                      <a:pPr algn="l" fontAlgn="b">
                        <a:buNone/>
                      </a:pPr>
                      <a:r>
                        <a:rPr lang="en-US" sz="1100" b="1" i="0" u="none" strike="noStrike" dirty="0">
                          <a:solidFill>
                            <a:srgbClr val="000000"/>
                          </a:solidFill>
                          <a:effectLst/>
                          <a:latin typeface="Aptos Narrow" panose="020B0004020202020204" pitchFamily="34" charset="0"/>
                        </a:rPr>
                        <a:t>TOTAL</a:t>
                      </a:r>
                    </a:p>
                  </a:txBody>
                  <a:tcPr marL="9784" marR="9784" marT="9784" marB="0" anchor="b"/>
                </a:tc>
                <a:tc>
                  <a:txBody>
                    <a:bodyPr/>
                    <a:lstStyle/>
                    <a:p>
                      <a:pPr algn="ctr" fontAlgn="b">
                        <a:buNone/>
                      </a:pPr>
                      <a:r>
                        <a:rPr lang="en-US" sz="1100" b="1" i="0" u="none" strike="noStrike" dirty="0">
                          <a:solidFill>
                            <a:srgbClr val="000000"/>
                          </a:solidFill>
                          <a:effectLst/>
                          <a:latin typeface="Aptos Narrow" panose="020B0004020202020204" pitchFamily="34" charset="0"/>
                        </a:rPr>
                        <a:t> $                    35,609.23 </a:t>
                      </a:r>
                    </a:p>
                  </a:txBody>
                  <a:tcPr marL="9525" marR="9525" marT="9525" marB="0" anchor="b"/>
                </a:tc>
                <a:tc>
                  <a:txBody>
                    <a:bodyPr/>
                    <a:lstStyle/>
                    <a:p>
                      <a:pPr algn="ctr" fontAlgn="b">
                        <a:buNone/>
                      </a:pPr>
                      <a:r>
                        <a:rPr lang="en-US" sz="1100" b="1" i="0" u="none" strike="noStrike" dirty="0">
                          <a:solidFill>
                            <a:srgbClr val="000000"/>
                          </a:solidFill>
                          <a:effectLst/>
                          <a:latin typeface="Aptos Narrow" panose="020B0004020202020204" pitchFamily="34" charset="0"/>
                        </a:rPr>
                        <a:t>100.00%</a:t>
                      </a:r>
                    </a:p>
                  </a:txBody>
                  <a:tcPr marL="9525" marR="9525" marT="9525" marB="0" anchor="b"/>
                </a:tc>
                <a:extLst>
                  <a:ext uri="{0D108BD9-81ED-4DB2-BD59-A6C34878D82A}">
                    <a16:rowId xmlns:a16="http://schemas.microsoft.com/office/drawing/2014/main" val="4270716992"/>
                  </a:ext>
                </a:extLst>
              </a:tr>
            </a:tbl>
          </a:graphicData>
        </a:graphic>
      </p:graphicFrame>
      <p:sp>
        <p:nvSpPr>
          <p:cNvPr id="7" name="TextBox 6">
            <a:extLst>
              <a:ext uri="{FF2B5EF4-FFF2-40B4-BE49-F238E27FC236}">
                <a16:creationId xmlns:a16="http://schemas.microsoft.com/office/drawing/2014/main" id="{8C36F226-DE0E-C442-AFA8-92C61A697A0C}"/>
              </a:ext>
            </a:extLst>
          </p:cNvPr>
          <p:cNvSpPr txBox="1"/>
          <p:nvPr/>
        </p:nvSpPr>
        <p:spPr>
          <a:xfrm>
            <a:off x="738791" y="346565"/>
            <a:ext cx="6094800" cy="461665"/>
          </a:xfrm>
          <a:prstGeom prst="rect">
            <a:avLst/>
          </a:prstGeom>
          <a:noFill/>
        </p:spPr>
        <p:txBody>
          <a:bodyPr wrap="square">
            <a:spAutoFit/>
          </a:bodyPr>
          <a:lstStyle/>
          <a:p>
            <a:pPr algn="ctr"/>
            <a:r>
              <a:rPr lang="en-US" sz="2400" b="1" kern="1200" dirty="0">
                <a:solidFill>
                  <a:schemeClr val="tx1"/>
                </a:solidFill>
                <a:latin typeface="+mj-lt"/>
                <a:ea typeface="+mj-ea"/>
                <a:cs typeface="+mj-cs"/>
              </a:rPr>
              <a:t>Financial Impact of Beneficiary Data Defects</a:t>
            </a:r>
            <a:endParaRPr lang="en-US" sz="2400" b="1" dirty="0"/>
          </a:p>
        </p:txBody>
      </p:sp>
      <mc:AlternateContent xmlns:mc="http://schemas.openxmlformats.org/markup-compatibility/2006" xmlns:cx1="http://schemas.microsoft.com/office/drawing/2015/9/8/chartex">
        <mc:Choice Requires="cx1">
          <p:graphicFrame>
            <p:nvGraphicFramePr>
              <p:cNvPr id="2" name="Chart 1">
                <a:extLst>
                  <a:ext uri="{FF2B5EF4-FFF2-40B4-BE49-F238E27FC236}">
                    <a16:creationId xmlns:a16="http://schemas.microsoft.com/office/drawing/2014/main" id="{ED381038-89BC-1272-0967-BA14D6643DAF}"/>
                  </a:ext>
                </a:extLst>
              </p:cNvPr>
              <p:cNvGraphicFramePr>
                <a:graphicFrameLocks/>
              </p:cNvGraphicFramePr>
              <p:nvPr>
                <p:extLst>
                  <p:ext uri="{D42A27DB-BD31-4B8C-83A1-F6EECF244321}">
                    <p14:modId xmlns:p14="http://schemas.microsoft.com/office/powerpoint/2010/main" val="2325305507"/>
                  </p:ext>
                </p:extLst>
              </p:nvPr>
            </p:nvGraphicFramePr>
            <p:xfrm>
              <a:off x="6833591" y="346565"/>
              <a:ext cx="4940765" cy="6046678"/>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2" name="Chart 1">
                <a:extLst>
                  <a:ext uri="{FF2B5EF4-FFF2-40B4-BE49-F238E27FC236}">
                    <a16:creationId xmlns:a16="http://schemas.microsoft.com/office/drawing/2014/main" id="{ED381038-89BC-1272-0967-BA14D6643DAF}"/>
                  </a:ext>
                </a:extLst>
              </p:cNvPr>
              <p:cNvPicPr>
                <a:picLocks noGrp="1" noRot="1" noChangeAspect="1" noMove="1" noResize="1" noEditPoints="1" noAdjustHandles="1" noChangeArrowheads="1" noChangeShapeType="1"/>
              </p:cNvPicPr>
              <p:nvPr/>
            </p:nvPicPr>
            <p:blipFill>
              <a:blip r:embed="rId3"/>
              <a:stretch>
                <a:fillRect/>
              </a:stretch>
            </p:blipFill>
            <p:spPr>
              <a:xfrm>
                <a:off x="6833591" y="346565"/>
                <a:ext cx="4940765" cy="6046678"/>
              </a:xfrm>
              <a:prstGeom prst="rect">
                <a:avLst/>
              </a:prstGeom>
            </p:spPr>
          </p:pic>
        </mc:Fallback>
      </mc:AlternateContent>
    </p:spTree>
    <p:extLst>
      <p:ext uri="{BB962C8B-B14F-4D97-AF65-F5344CB8AC3E}">
        <p14:creationId xmlns:p14="http://schemas.microsoft.com/office/powerpoint/2010/main" val="2451318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86FD7672-78BE-4D6F-A711-2CDB79B52D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4662" y="323519"/>
            <a:ext cx="4323899" cy="6212748"/>
          </a:xfrm>
          <a:custGeom>
            <a:avLst/>
            <a:gdLst>
              <a:gd name="connsiteX0" fmla="*/ 0 w 4323899"/>
              <a:gd name="connsiteY0" fmla="*/ 0 h 6212748"/>
              <a:gd name="connsiteX1" fmla="*/ 742501 w 4323899"/>
              <a:gd name="connsiteY1" fmla="*/ 0 h 6212748"/>
              <a:gd name="connsiteX2" fmla="*/ 4323899 w 4323899"/>
              <a:gd name="connsiteY2" fmla="*/ 0 h 6212748"/>
              <a:gd name="connsiteX3" fmla="*/ 4323899 w 4323899"/>
              <a:gd name="connsiteY3" fmla="*/ 2864954 h 6212748"/>
              <a:gd name="connsiteX4" fmla="*/ 880454 w 4323899"/>
              <a:gd name="connsiteY4" fmla="*/ 6212748 h 6212748"/>
              <a:gd name="connsiteX5" fmla="*/ 0 w 4323899"/>
              <a:gd name="connsiteY5" fmla="*/ 6212748 h 6212748"/>
              <a:gd name="connsiteX6" fmla="*/ 0 w 4323899"/>
              <a:gd name="connsiteY6" fmla="*/ 6210962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3899" h="6212748">
                <a:moveTo>
                  <a:pt x="0" y="0"/>
                </a:moveTo>
                <a:lnTo>
                  <a:pt x="742501" y="0"/>
                </a:lnTo>
                <a:lnTo>
                  <a:pt x="4323899" y="0"/>
                </a:lnTo>
                <a:lnTo>
                  <a:pt x="4323899" y="2864954"/>
                </a:lnTo>
                <a:lnTo>
                  <a:pt x="880454" y="6212748"/>
                </a:lnTo>
                <a:lnTo>
                  <a:pt x="0" y="6212748"/>
                </a:lnTo>
                <a:lnTo>
                  <a:pt x="0" y="6210962"/>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Right Triangle 36">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4A62647B-1222-407C-8740-5A497612B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C4B3C4-B0A1-BC6A-E4D5-5F94149255AC}"/>
              </a:ext>
            </a:extLst>
          </p:cNvPr>
          <p:cNvSpPr>
            <a:spLocks noGrp="1"/>
          </p:cNvSpPr>
          <p:nvPr>
            <p:ph type="title"/>
          </p:nvPr>
        </p:nvSpPr>
        <p:spPr>
          <a:xfrm>
            <a:off x="8029293" y="806364"/>
            <a:ext cx="3354636" cy="2847413"/>
          </a:xfrm>
        </p:spPr>
        <p:txBody>
          <a:bodyPr vert="horz" lIns="91440" tIns="45720" rIns="91440" bIns="45720" rtlCol="0" anchor="b">
            <a:normAutofit/>
          </a:bodyPr>
          <a:lstStyle/>
          <a:p>
            <a:r>
              <a:rPr lang="en-US" sz="4000" kern="1200" dirty="0">
                <a:solidFill>
                  <a:schemeClr val="tx1"/>
                </a:solidFill>
                <a:latin typeface="+mj-lt"/>
                <a:ea typeface="+mj-ea"/>
                <a:cs typeface="+mj-cs"/>
              </a:rPr>
              <a:t>Beneficiary “Date of Birth” Errors</a:t>
            </a:r>
          </a:p>
        </p:txBody>
      </p:sp>
      <p:sp>
        <p:nvSpPr>
          <p:cNvPr id="3" name="Content Placeholder 2">
            <a:extLst>
              <a:ext uri="{FF2B5EF4-FFF2-40B4-BE49-F238E27FC236}">
                <a16:creationId xmlns:a16="http://schemas.microsoft.com/office/drawing/2014/main" id="{80460CB7-E4B6-3631-67C8-AC4249B18EDD}"/>
              </a:ext>
            </a:extLst>
          </p:cNvPr>
          <p:cNvSpPr>
            <a:spLocks noGrp="1"/>
          </p:cNvSpPr>
          <p:nvPr>
            <p:ph idx="1"/>
          </p:nvPr>
        </p:nvSpPr>
        <p:spPr>
          <a:xfrm>
            <a:off x="8029293" y="3703250"/>
            <a:ext cx="2435507" cy="1271706"/>
          </a:xfrm>
        </p:spPr>
        <p:txBody>
          <a:bodyPr vert="horz" lIns="91440" tIns="45720" rIns="91440" bIns="45720" rtlCol="0" anchor="t">
            <a:normAutofit fontScale="92500" lnSpcReduction="10000"/>
          </a:bodyPr>
          <a:lstStyle/>
          <a:p>
            <a:pPr marL="0" indent="0">
              <a:buNone/>
            </a:pPr>
            <a:r>
              <a:rPr lang="en-US" sz="2400" kern="1200" dirty="0">
                <a:solidFill>
                  <a:schemeClr val="tx1"/>
                </a:solidFill>
                <a:latin typeface="+mn-lt"/>
                <a:ea typeface="+mn-ea"/>
                <a:cs typeface="+mn-cs"/>
              </a:rPr>
              <a:t>178 Beneficiary “Dates of Birth” changed after the Migration</a:t>
            </a:r>
          </a:p>
        </p:txBody>
      </p:sp>
      <p:pic>
        <p:nvPicPr>
          <p:cNvPr id="6" name="Picture 5">
            <a:extLst>
              <a:ext uri="{FF2B5EF4-FFF2-40B4-BE49-F238E27FC236}">
                <a16:creationId xmlns:a16="http://schemas.microsoft.com/office/drawing/2014/main" id="{4CB8AE10-2416-172F-9B76-965CF6A5D1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124" y="1495240"/>
            <a:ext cx="6817140" cy="3681254"/>
          </a:xfrm>
          <a:prstGeom prst="rect">
            <a:avLst/>
          </a:prstGeom>
        </p:spPr>
      </p:pic>
    </p:spTree>
    <p:extLst>
      <p:ext uri="{BB962C8B-B14F-4D97-AF65-F5344CB8AC3E}">
        <p14:creationId xmlns:p14="http://schemas.microsoft.com/office/powerpoint/2010/main" val="2444462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4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51" name="Rectangle 5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420B6B-3DBC-3991-B209-7175CA8121AE}"/>
              </a:ext>
            </a:extLst>
          </p:cNvPr>
          <p:cNvSpPr>
            <a:spLocks noGrp="1"/>
          </p:cNvSpPr>
          <p:nvPr>
            <p:ph type="title"/>
          </p:nvPr>
        </p:nvSpPr>
        <p:spPr>
          <a:xfrm>
            <a:off x="1043631" y="809898"/>
            <a:ext cx="10173010" cy="1554480"/>
          </a:xfrm>
        </p:spPr>
        <p:txBody>
          <a:bodyPr anchor="ctr">
            <a:normAutofit/>
          </a:bodyPr>
          <a:lstStyle/>
          <a:p>
            <a:r>
              <a:rPr lang="en-US" sz="4800" dirty="0"/>
              <a:t>Carrier Claims Orphan Analysis</a:t>
            </a:r>
          </a:p>
        </p:txBody>
      </p:sp>
      <p:cxnSp>
        <p:nvCxnSpPr>
          <p:cNvPr id="54" name="Straight Connector 5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5" name="Content Placeholder 2">
            <a:extLst>
              <a:ext uri="{FF2B5EF4-FFF2-40B4-BE49-F238E27FC236}">
                <a16:creationId xmlns:a16="http://schemas.microsoft.com/office/drawing/2014/main" id="{8B98CAA7-E586-813E-2803-2EB9F1728119}"/>
              </a:ext>
            </a:extLst>
          </p:cNvPr>
          <p:cNvGraphicFramePr>
            <a:graphicFrameLocks noGrp="1"/>
          </p:cNvGraphicFramePr>
          <p:nvPr>
            <p:ph idx="1"/>
            <p:extLst>
              <p:ext uri="{D42A27DB-BD31-4B8C-83A1-F6EECF244321}">
                <p14:modId xmlns:p14="http://schemas.microsoft.com/office/powerpoint/2010/main" val="1928987909"/>
              </p:ext>
            </p:extLst>
          </p:nvPr>
        </p:nvGraphicFramePr>
        <p:xfrm>
          <a:off x="904602" y="3017519"/>
          <a:ext cx="7429076"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A5CD9DAE-B2FA-1D48-7A67-B824CDA0CD76}"/>
              </a:ext>
            </a:extLst>
          </p:cNvPr>
          <p:cNvSpPr txBox="1"/>
          <p:nvPr/>
        </p:nvSpPr>
        <p:spPr>
          <a:xfrm>
            <a:off x="7461504" y="5415424"/>
            <a:ext cx="3628175" cy="461665"/>
          </a:xfrm>
          <a:prstGeom prst="rect">
            <a:avLst/>
          </a:prstGeom>
          <a:noFill/>
        </p:spPr>
        <p:txBody>
          <a:bodyPr wrap="square" rtlCol="0">
            <a:spAutoFit/>
          </a:bodyPr>
          <a:lstStyle/>
          <a:p>
            <a:r>
              <a:rPr lang="en-US" sz="1200" dirty="0"/>
              <a:t>Orphans Increased w/ 4-key match due to defects in </a:t>
            </a:r>
          </a:p>
          <a:p>
            <a:r>
              <a:rPr lang="en-US" sz="1200" dirty="0"/>
              <a:t>CLM_FROM_DT and CLM_THRU_DT Post-Migration</a:t>
            </a:r>
          </a:p>
        </p:txBody>
      </p:sp>
    </p:spTree>
    <p:extLst>
      <p:ext uri="{BB962C8B-B14F-4D97-AF65-F5344CB8AC3E}">
        <p14:creationId xmlns:p14="http://schemas.microsoft.com/office/powerpoint/2010/main" val="2833883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6E772-9D0B-BBA0-C95A-110DB8F1299A}"/>
              </a:ext>
            </a:extLst>
          </p:cNvPr>
          <p:cNvSpPr>
            <a:spLocks noGrp="1"/>
          </p:cNvSpPr>
          <p:nvPr>
            <p:ph type="title"/>
          </p:nvPr>
        </p:nvSpPr>
        <p:spPr/>
        <p:txBody>
          <a:bodyPr/>
          <a:lstStyle/>
          <a:p>
            <a:r>
              <a:rPr lang="en-US" dirty="0"/>
              <a:t>Beneficiary ID Errors</a:t>
            </a:r>
          </a:p>
        </p:txBody>
      </p:sp>
      <p:graphicFrame>
        <p:nvGraphicFramePr>
          <p:cNvPr id="4" name="Content Placeholder 3">
            <a:extLst>
              <a:ext uri="{FF2B5EF4-FFF2-40B4-BE49-F238E27FC236}">
                <a16:creationId xmlns:a16="http://schemas.microsoft.com/office/drawing/2014/main" id="{7F9F22DC-F046-1F09-5409-99159AE686E5}"/>
              </a:ext>
            </a:extLst>
          </p:cNvPr>
          <p:cNvGraphicFramePr>
            <a:graphicFrameLocks noGrp="1"/>
          </p:cNvGraphicFramePr>
          <p:nvPr>
            <p:ph idx="1"/>
            <p:extLst>
              <p:ext uri="{D42A27DB-BD31-4B8C-83A1-F6EECF244321}">
                <p14:modId xmlns:p14="http://schemas.microsoft.com/office/powerpoint/2010/main" val="8582897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664904E7-DDFC-7594-6196-23E3E208E106}"/>
              </a:ext>
            </a:extLst>
          </p:cNvPr>
          <p:cNvSpPr txBox="1"/>
          <p:nvPr/>
        </p:nvSpPr>
        <p:spPr>
          <a:xfrm>
            <a:off x="838200" y="6174913"/>
            <a:ext cx="10515600" cy="461665"/>
          </a:xfrm>
          <a:prstGeom prst="rect">
            <a:avLst/>
          </a:prstGeom>
          <a:noFill/>
        </p:spPr>
        <p:txBody>
          <a:bodyPr wrap="square" rtlCol="0">
            <a:spAutoFit/>
          </a:bodyPr>
          <a:lstStyle/>
          <a:p>
            <a:pPr algn="ctr"/>
            <a:r>
              <a:rPr lang="en-US" sz="2400" dirty="0"/>
              <a:t>Need to Investigate: If same persons, why did the IDs change post migration?</a:t>
            </a:r>
          </a:p>
        </p:txBody>
      </p:sp>
    </p:spTree>
    <p:extLst>
      <p:ext uri="{BB962C8B-B14F-4D97-AF65-F5344CB8AC3E}">
        <p14:creationId xmlns:p14="http://schemas.microsoft.com/office/powerpoint/2010/main" val="506117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D8AABA-73BF-04F4-CD1A-5A365C39054B}"/>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Interactive </a:t>
            </a:r>
            <a:r>
              <a:rPr lang="en-US" sz="3600" kern="1200">
                <a:solidFill>
                  <a:srgbClr val="FFFFFF"/>
                </a:solidFill>
                <a:latin typeface="+mj-lt"/>
                <a:ea typeface="+mj-ea"/>
                <a:cs typeface="+mj-cs"/>
              </a:rPr>
              <a:t>Dashboard</a:t>
            </a:r>
            <a:r>
              <a:rPr lang="en-US" sz="3600">
                <a:solidFill>
                  <a:srgbClr val="FFFFFF"/>
                </a:solidFill>
              </a:rPr>
              <a:t> – </a:t>
            </a:r>
            <a:r>
              <a:rPr lang="en-US" sz="3600" dirty="0">
                <a:solidFill>
                  <a:srgbClr val="FFFFFF"/>
                </a:solidFill>
              </a:rPr>
              <a:t>Financial </a:t>
            </a:r>
            <a:r>
              <a:rPr lang="en-US" sz="3600" kern="1200" dirty="0">
                <a:solidFill>
                  <a:srgbClr val="FFFFFF"/>
                </a:solidFill>
                <a:latin typeface="+mj-lt"/>
                <a:ea typeface="+mj-ea"/>
                <a:cs typeface="+mj-cs"/>
              </a:rPr>
              <a:t>Pareto</a:t>
            </a:r>
          </a:p>
        </p:txBody>
      </p:sp>
      <p:pic>
        <p:nvPicPr>
          <p:cNvPr id="21" name="Picture 20">
            <a:extLst>
              <a:ext uri="{FF2B5EF4-FFF2-40B4-BE49-F238E27FC236}">
                <a16:creationId xmlns:a16="http://schemas.microsoft.com/office/drawing/2014/main" id="{4D74D5FC-CEC4-1718-EE79-6400975867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7316" y="1274963"/>
            <a:ext cx="6780700" cy="4305744"/>
          </a:xfrm>
          <a:prstGeom prst="rect">
            <a:avLst/>
          </a:prstGeom>
        </p:spPr>
      </p:pic>
    </p:spTree>
    <p:extLst>
      <p:ext uri="{BB962C8B-B14F-4D97-AF65-F5344CB8AC3E}">
        <p14:creationId xmlns:p14="http://schemas.microsoft.com/office/powerpoint/2010/main" val="1635672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840463-5BA7-262E-A73B-62199130185D}"/>
            </a:ext>
          </a:extLst>
        </p:cNvPr>
        <p:cNvGrpSpPr/>
        <p:nvPr/>
      </p:nvGrpSpPr>
      <p:grpSpPr>
        <a:xfrm>
          <a:off x="0" y="0"/>
          <a:ext cx="0" cy="0"/>
          <a:chOff x="0" y="0"/>
          <a:chExt cx="0" cy="0"/>
        </a:xfrm>
      </p:grpSpPr>
      <p:sp>
        <p:nvSpPr>
          <p:cNvPr id="3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87D03E-8C83-ED9A-FEE2-986853382F78}"/>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Interactive Dashboard</a:t>
            </a:r>
            <a:r>
              <a:rPr lang="en-US" sz="3600" dirty="0">
                <a:solidFill>
                  <a:srgbClr val="FFFFFF"/>
                </a:solidFill>
              </a:rPr>
              <a:t> – </a:t>
            </a:r>
            <a:r>
              <a:rPr lang="en-US" sz="3600" kern="1200" dirty="0">
                <a:solidFill>
                  <a:srgbClr val="FFFFFF"/>
                </a:solidFill>
                <a:latin typeface="+mj-lt"/>
                <a:ea typeface="+mj-ea"/>
                <a:cs typeface="+mj-cs"/>
              </a:rPr>
              <a:t>Scorecard</a:t>
            </a:r>
          </a:p>
        </p:txBody>
      </p:sp>
      <p:pic>
        <p:nvPicPr>
          <p:cNvPr id="9" name="Picture 8">
            <a:extLst>
              <a:ext uri="{FF2B5EF4-FFF2-40B4-BE49-F238E27FC236}">
                <a16:creationId xmlns:a16="http://schemas.microsoft.com/office/drawing/2014/main" id="{5558702A-9A9D-7515-F867-F9024DE7D6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7316" y="1274963"/>
            <a:ext cx="6780700" cy="4305744"/>
          </a:xfrm>
          <a:prstGeom prst="rect">
            <a:avLst/>
          </a:prstGeom>
        </p:spPr>
      </p:pic>
    </p:spTree>
    <p:extLst>
      <p:ext uri="{BB962C8B-B14F-4D97-AF65-F5344CB8AC3E}">
        <p14:creationId xmlns:p14="http://schemas.microsoft.com/office/powerpoint/2010/main" val="294128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51891F-9E52-3885-04C2-243D11AE7FD8}"/>
            </a:ext>
          </a:extLst>
        </p:cNvPr>
        <p:cNvGrpSpPr/>
        <p:nvPr/>
      </p:nvGrpSpPr>
      <p:grpSpPr>
        <a:xfrm>
          <a:off x="0" y="0"/>
          <a:ext cx="0" cy="0"/>
          <a:chOff x="0" y="0"/>
          <a:chExt cx="0" cy="0"/>
        </a:xfrm>
      </p:grpSpPr>
      <p:sp>
        <p:nvSpPr>
          <p:cNvPr id="1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87A4AB-B5B1-047F-60CD-07FCEDCD75D1}"/>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Interactive Dashboard – Go/No-Go</a:t>
            </a:r>
          </a:p>
        </p:txBody>
      </p:sp>
      <p:pic>
        <p:nvPicPr>
          <p:cNvPr id="7" name="Picture 6">
            <a:extLst>
              <a:ext uri="{FF2B5EF4-FFF2-40B4-BE49-F238E27FC236}">
                <a16:creationId xmlns:a16="http://schemas.microsoft.com/office/drawing/2014/main" id="{243DE595-43F1-6FA8-BFFB-8FB26FE75F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7316" y="1274963"/>
            <a:ext cx="6780700" cy="4305744"/>
          </a:xfrm>
          <a:prstGeom prst="rect">
            <a:avLst/>
          </a:prstGeom>
        </p:spPr>
      </p:pic>
    </p:spTree>
    <p:extLst>
      <p:ext uri="{BB962C8B-B14F-4D97-AF65-F5344CB8AC3E}">
        <p14:creationId xmlns:p14="http://schemas.microsoft.com/office/powerpoint/2010/main" val="1351403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C2D061-5529-5634-50B9-E2BECAADCB1E}"/>
              </a:ext>
            </a:extLst>
          </p:cNvPr>
          <p:cNvSpPr>
            <a:spLocks noGrp="1"/>
          </p:cNvSpPr>
          <p:nvPr>
            <p:ph type="title"/>
          </p:nvPr>
        </p:nvSpPr>
        <p:spPr>
          <a:xfrm>
            <a:off x="656823" y="962166"/>
            <a:ext cx="3103808" cy="4421876"/>
          </a:xfrm>
        </p:spPr>
        <p:txBody>
          <a:bodyPr anchor="t">
            <a:normAutofit/>
          </a:bodyPr>
          <a:lstStyle/>
          <a:p>
            <a:pPr algn="r"/>
            <a:r>
              <a:rPr lang="en-US" sz="4000"/>
              <a:t>Next Steps</a:t>
            </a:r>
          </a:p>
        </p:txBody>
      </p:sp>
      <p:sp>
        <p:nvSpPr>
          <p:cNvPr id="28" name="Content Placeholder 2">
            <a:extLst>
              <a:ext uri="{FF2B5EF4-FFF2-40B4-BE49-F238E27FC236}">
                <a16:creationId xmlns:a16="http://schemas.microsoft.com/office/drawing/2014/main" id="{BBF6DBA7-AB42-4323-2A09-727FCCD83240}"/>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4088929" y="962167"/>
            <a:ext cx="6858113" cy="4743174"/>
          </a:xfrm>
        </p:spPr>
        <p:txBody>
          <a:bodyPr>
            <a:normAutofit/>
          </a:bodyPr>
          <a:lstStyle/>
          <a:p>
            <a:pPr marL="0" indent="0">
              <a:spcBef>
                <a:spcPts val="2500"/>
              </a:spcBef>
              <a:buFont typeface="Arial" panose="020B0604020202020204" pitchFamily="34" charset="0"/>
              <a:buNone/>
            </a:pPr>
            <a:r>
              <a:rPr lang="en-US" sz="1400" b="1" dirty="0"/>
              <a:t>Error Datasets Available</a:t>
            </a:r>
          </a:p>
          <a:p>
            <a:pPr marL="0" lvl="1" indent="0">
              <a:buFont typeface="Arial" panose="020B0604020202020204" pitchFamily="34" charset="0"/>
              <a:buNone/>
            </a:pPr>
            <a:r>
              <a:rPr lang="en-US" sz="1400" dirty="0"/>
              <a:t>Datasets showing every single field that changed after the migration were created and are available to serve the Application and Database Engineers. May help with root cause analysis (RCA).</a:t>
            </a:r>
          </a:p>
          <a:p>
            <a:pPr marL="0" indent="0">
              <a:spcBef>
                <a:spcPts val="2500"/>
              </a:spcBef>
              <a:buFont typeface="Arial" panose="020B0604020202020204" pitchFamily="34" charset="0"/>
              <a:buNone/>
            </a:pPr>
            <a:r>
              <a:rPr lang="en-US" sz="1400" b="1" dirty="0"/>
              <a:t>Detailed Quality Scores Available</a:t>
            </a:r>
          </a:p>
          <a:p>
            <a:pPr marL="0" lvl="1" indent="0">
              <a:buFont typeface="Arial" panose="020B0604020202020204" pitchFamily="34" charset="0"/>
              <a:buNone/>
            </a:pPr>
            <a:r>
              <a:rPr lang="en-US" sz="1400" dirty="0"/>
              <a:t>Detailed Quality Scores available for every field in both Beneficiary and Carrier Claims tables. Helps with setting priorities.</a:t>
            </a:r>
          </a:p>
          <a:p>
            <a:pPr marL="0" indent="0">
              <a:spcBef>
                <a:spcPts val="2500"/>
              </a:spcBef>
              <a:buFont typeface="Arial" panose="020B0604020202020204" pitchFamily="34" charset="0"/>
              <a:buNone/>
            </a:pPr>
            <a:r>
              <a:rPr lang="en-US" sz="1400" b="1" dirty="0"/>
              <a:t>Analysis Positioned to Support Deep Dives</a:t>
            </a:r>
          </a:p>
          <a:p>
            <a:pPr marL="0" lvl="1" indent="0">
              <a:buFont typeface="Arial" panose="020B0604020202020204" pitchFamily="34" charset="0"/>
              <a:buNone/>
            </a:pPr>
            <a:r>
              <a:rPr lang="en-US" sz="1400" dirty="0"/>
              <a:t>Can provide analysis to answer specific questions about the data migration that this presentation did not answer. </a:t>
            </a:r>
          </a:p>
          <a:p>
            <a:pPr marL="0" indent="0">
              <a:spcBef>
                <a:spcPts val="2500"/>
              </a:spcBef>
              <a:buNone/>
            </a:pPr>
            <a:r>
              <a:rPr lang="en-US" sz="1400" b="1" dirty="0"/>
              <a:t>Analytics Improves with Time and Familiarity</a:t>
            </a:r>
          </a:p>
          <a:p>
            <a:pPr marL="0" lvl="1" indent="0">
              <a:buNone/>
            </a:pPr>
            <a:r>
              <a:rPr lang="en-US" sz="1400" dirty="0"/>
              <a:t>Next: Interview stakeholders, gather more context about the application, data, and expectations for the migration. Then update analysis to accommodate new insights and provide custom views to answer questions that stakeholders raise. </a:t>
            </a:r>
          </a:p>
          <a:p>
            <a:pPr marL="0" lvl="1" indent="0">
              <a:buFont typeface="Arial" panose="020B0604020202020204" pitchFamily="34" charset="0"/>
              <a:buNone/>
            </a:pPr>
            <a:endParaRPr lang="en-US" sz="1400" dirty="0"/>
          </a:p>
        </p:txBody>
      </p:sp>
      <p:sp>
        <p:nvSpPr>
          <p:cNvPr id="29" name="Rectangle 28">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1814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940</TotalTime>
  <Words>1295</Words>
  <Application>Microsoft Office PowerPoint</Application>
  <PresentationFormat>Widescreen</PresentationFormat>
  <Paragraphs>439</Paragraphs>
  <Slides>16</Slides>
  <Notes>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Aptos Narrow</vt:lpstr>
      <vt:lpstr>Arial</vt:lpstr>
      <vt:lpstr>fkGroteskNeue</vt:lpstr>
      <vt:lpstr>Office Theme</vt:lpstr>
      <vt:lpstr>Data Migration Quality Analysis</vt:lpstr>
      <vt:lpstr>Agenda</vt:lpstr>
      <vt:lpstr>Data Pipeline Process (ELT)</vt:lpstr>
      <vt:lpstr>Capability of Migration Process</vt:lpstr>
      <vt:lpstr>PowerPoint Presentation</vt:lpstr>
      <vt:lpstr>Pareto Analysis of Claims Data Defects</vt:lpstr>
      <vt:lpstr>PowerPoint Presentation</vt:lpstr>
      <vt:lpstr>Pareto Analysis of Beneficiary Data Defects</vt:lpstr>
      <vt:lpstr>PowerPoint Presentation</vt:lpstr>
      <vt:lpstr>Beneficiary “Date of Birth” Errors</vt:lpstr>
      <vt:lpstr>Carrier Claims Orphan Analysis</vt:lpstr>
      <vt:lpstr>Beneficiary ID Errors</vt:lpstr>
      <vt:lpstr>Interactive Dashboard – Financial Pareto</vt:lpstr>
      <vt:lpstr>Interactive Dashboard – Scorecard</vt:lpstr>
      <vt:lpstr>Interactive Dashboard – Go/No-Go</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Jeffrey Benson</dc:creator>
  <cp:lastModifiedBy>Jeffrey Benson</cp:lastModifiedBy>
  <cp:revision>26</cp:revision>
  <dcterms:created xsi:type="dcterms:W3CDTF">2026-02-11T15:51:05Z</dcterms:created>
  <dcterms:modified xsi:type="dcterms:W3CDTF">2026-06-04T02:26:08Z</dcterms:modified>
</cp:coreProperties>
</file>