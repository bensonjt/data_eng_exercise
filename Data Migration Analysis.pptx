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Ex1.xml" ContentType="application/vnd.ms-office.chartex+xml"/>
  <Override PartName="/ppt/charts/style1.xml" ContentType="application/vnd.ms-office.chartstyle+xml"/>
  <Override PartName="/ppt/charts/colors1.xml" ContentType="application/vnd.ms-office.chartcolorstyle+xml"/>
  <Override PartName="/ppt/charts/chartEx2.xml" ContentType="application/vnd.ms-office.chartex+xml"/>
  <Override PartName="/ppt/charts/style2.xml" ContentType="application/vnd.ms-office.chartstyle+xml"/>
  <Override PartName="/ppt/charts/colors2.xml" ContentType="application/vnd.ms-office.chartcolorstyle+xml"/>
  <Override PartName="/ppt/charts/chart1.xml" ContentType="application/vnd.openxmlformats-officedocument.drawingml.chart+xml"/>
  <Override PartName="/ppt/charts/style3.xml" ContentType="application/vnd.ms-office.chartstyle+xml"/>
  <Override PartName="/ppt/charts/colors3.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2" r:id="rId7"/>
    <p:sldId id="261" r:id="rId8"/>
    <p:sldId id="263" r:id="rId9"/>
    <p:sldId id="264" r:id="rId10"/>
    <p:sldId id="265" r:id="rId11"/>
    <p:sldId id="267" r:id="rId12"/>
    <p:sldId id="266"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94660"/>
  </p:normalViewPr>
  <p:slideViewPr>
    <p:cSldViewPr snapToGrid="0">
      <p:cViewPr varScale="1">
        <p:scale>
          <a:sx n="139" d="100"/>
          <a:sy n="139" d="100"/>
        </p:scale>
        <p:origin x="678" y="3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Ex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Book1"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Date of Birth Changes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Sheet2!$D$1</c:f>
              <c:strCache>
                <c:ptCount val="1"/>
                <c:pt idx="0">
                  <c:v>Variance</c:v>
                </c:pt>
              </c:strCache>
            </c:strRef>
          </c:tx>
          <c:spPr>
            <a:ln w="38100" cap="rnd">
              <a:noFill/>
              <a:round/>
            </a:ln>
            <a:effectLst/>
          </c:spPr>
          <c:marker>
            <c:symbol val="circle"/>
            <c:size val="5"/>
            <c:spPr>
              <a:solidFill>
                <a:schemeClr val="accent1"/>
              </a:solidFill>
              <a:ln w="9525">
                <a:solidFill>
                  <a:schemeClr val="accent1"/>
                </a:solidFill>
              </a:ln>
              <a:effectLst/>
            </c:spPr>
          </c:marker>
          <c:yVal>
            <c:numRef>
              <c:f>Sheet2!$D$2:$D$179</c:f>
              <c:numCache>
                <c:formatCode>General</c:formatCode>
                <c:ptCount val="178"/>
                <c:pt idx="0">
                  <c:v>271</c:v>
                </c:pt>
                <c:pt idx="1">
                  <c:v>333</c:v>
                </c:pt>
                <c:pt idx="2">
                  <c:v>116</c:v>
                </c:pt>
                <c:pt idx="3">
                  <c:v>-268</c:v>
                </c:pt>
                <c:pt idx="4">
                  <c:v>226</c:v>
                </c:pt>
                <c:pt idx="5">
                  <c:v>142</c:v>
                </c:pt>
                <c:pt idx="6">
                  <c:v>-229</c:v>
                </c:pt>
                <c:pt idx="7">
                  <c:v>-189</c:v>
                </c:pt>
                <c:pt idx="8">
                  <c:v>-289</c:v>
                </c:pt>
                <c:pt idx="9">
                  <c:v>200</c:v>
                </c:pt>
                <c:pt idx="10">
                  <c:v>70</c:v>
                </c:pt>
                <c:pt idx="11">
                  <c:v>146</c:v>
                </c:pt>
                <c:pt idx="12">
                  <c:v>362</c:v>
                </c:pt>
                <c:pt idx="13">
                  <c:v>-326</c:v>
                </c:pt>
                <c:pt idx="14">
                  <c:v>61</c:v>
                </c:pt>
                <c:pt idx="15">
                  <c:v>364</c:v>
                </c:pt>
                <c:pt idx="16">
                  <c:v>-358</c:v>
                </c:pt>
                <c:pt idx="17">
                  <c:v>-311</c:v>
                </c:pt>
                <c:pt idx="18">
                  <c:v>53</c:v>
                </c:pt>
                <c:pt idx="19">
                  <c:v>90</c:v>
                </c:pt>
                <c:pt idx="20">
                  <c:v>310</c:v>
                </c:pt>
                <c:pt idx="21">
                  <c:v>80</c:v>
                </c:pt>
                <c:pt idx="22">
                  <c:v>21</c:v>
                </c:pt>
                <c:pt idx="23">
                  <c:v>332</c:v>
                </c:pt>
                <c:pt idx="24">
                  <c:v>18</c:v>
                </c:pt>
                <c:pt idx="25">
                  <c:v>-359</c:v>
                </c:pt>
                <c:pt idx="26">
                  <c:v>-216</c:v>
                </c:pt>
                <c:pt idx="27">
                  <c:v>-353</c:v>
                </c:pt>
                <c:pt idx="28">
                  <c:v>95</c:v>
                </c:pt>
                <c:pt idx="29">
                  <c:v>298</c:v>
                </c:pt>
                <c:pt idx="30">
                  <c:v>-78</c:v>
                </c:pt>
                <c:pt idx="31">
                  <c:v>191</c:v>
                </c:pt>
                <c:pt idx="32">
                  <c:v>-144</c:v>
                </c:pt>
                <c:pt idx="33">
                  <c:v>308</c:v>
                </c:pt>
                <c:pt idx="34">
                  <c:v>-364</c:v>
                </c:pt>
                <c:pt idx="35">
                  <c:v>58</c:v>
                </c:pt>
                <c:pt idx="36">
                  <c:v>-88</c:v>
                </c:pt>
                <c:pt idx="37">
                  <c:v>58</c:v>
                </c:pt>
                <c:pt idx="38">
                  <c:v>75</c:v>
                </c:pt>
                <c:pt idx="39">
                  <c:v>-157</c:v>
                </c:pt>
                <c:pt idx="40">
                  <c:v>-306</c:v>
                </c:pt>
                <c:pt idx="41">
                  <c:v>-180</c:v>
                </c:pt>
                <c:pt idx="42">
                  <c:v>292</c:v>
                </c:pt>
                <c:pt idx="43">
                  <c:v>24</c:v>
                </c:pt>
                <c:pt idx="44">
                  <c:v>-285</c:v>
                </c:pt>
                <c:pt idx="45">
                  <c:v>198</c:v>
                </c:pt>
                <c:pt idx="46">
                  <c:v>-51</c:v>
                </c:pt>
                <c:pt idx="47">
                  <c:v>-337</c:v>
                </c:pt>
                <c:pt idx="48">
                  <c:v>89</c:v>
                </c:pt>
                <c:pt idx="49">
                  <c:v>-6</c:v>
                </c:pt>
                <c:pt idx="50">
                  <c:v>-361</c:v>
                </c:pt>
                <c:pt idx="51">
                  <c:v>-304</c:v>
                </c:pt>
                <c:pt idx="52">
                  <c:v>12</c:v>
                </c:pt>
                <c:pt idx="53">
                  <c:v>190</c:v>
                </c:pt>
                <c:pt idx="54">
                  <c:v>-327</c:v>
                </c:pt>
                <c:pt idx="55">
                  <c:v>246</c:v>
                </c:pt>
                <c:pt idx="56">
                  <c:v>-304</c:v>
                </c:pt>
                <c:pt idx="57">
                  <c:v>-89</c:v>
                </c:pt>
                <c:pt idx="58">
                  <c:v>-353</c:v>
                </c:pt>
                <c:pt idx="59">
                  <c:v>-291</c:v>
                </c:pt>
                <c:pt idx="60">
                  <c:v>183</c:v>
                </c:pt>
                <c:pt idx="61">
                  <c:v>285</c:v>
                </c:pt>
                <c:pt idx="62">
                  <c:v>-122</c:v>
                </c:pt>
                <c:pt idx="63">
                  <c:v>-256</c:v>
                </c:pt>
                <c:pt idx="64">
                  <c:v>57</c:v>
                </c:pt>
                <c:pt idx="65">
                  <c:v>-326</c:v>
                </c:pt>
                <c:pt idx="66">
                  <c:v>-344</c:v>
                </c:pt>
                <c:pt idx="67">
                  <c:v>-66</c:v>
                </c:pt>
                <c:pt idx="68">
                  <c:v>-11</c:v>
                </c:pt>
                <c:pt idx="69">
                  <c:v>135</c:v>
                </c:pt>
                <c:pt idx="70">
                  <c:v>-168</c:v>
                </c:pt>
                <c:pt idx="71">
                  <c:v>285</c:v>
                </c:pt>
                <c:pt idx="72">
                  <c:v>218</c:v>
                </c:pt>
                <c:pt idx="73">
                  <c:v>-257</c:v>
                </c:pt>
                <c:pt idx="74">
                  <c:v>51</c:v>
                </c:pt>
                <c:pt idx="75">
                  <c:v>307</c:v>
                </c:pt>
                <c:pt idx="76">
                  <c:v>284</c:v>
                </c:pt>
                <c:pt idx="77">
                  <c:v>268</c:v>
                </c:pt>
                <c:pt idx="78">
                  <c:v>326</c:v>
                </c:pt>
                <c:pt idx="79">
                  <c:v>-42</c:v>
                </c:pt>
                <c:pt idx="80">
                  <c:v>-273</c:v>
                </c:pt>
                <c:pt idx="81">
                  <c:v>-74</c:v>
                </c:pt>
                <c:pt idx="82">
                  <c:v>-248</c:v>
                </c:pt>
                <c:pt idx="83">
                  <c:v>325</c:v>
                </c:pt>
                <c:pt idx="84">
                  <c:v>269</c:v>
                </c:pt>
                <c:pt idx="85">
                  <c:v>-158</c:v>
                </c:pt>
                <c:pt idx="86">
                  <c:v>62</c:v>
                </c:pt>
                <c:pt idx="87">
                  <c:v>-17</c:v>
                </c:pt>
                <c:pt idx="88">
                  <c:v>68</c:v>
                </c:pt>
                <c:pt idx="89">
                  <c:v>251</c:v>
                </c:pt>
                <c:pt idx="90">
                  <c:v>295</c:v>
                </c:pt>
                <c:pt idx="91">
                  <c:v>273</c:v>
                </c:pt>
                <c:pt idx="92">
                  <c:v>244</c:v>
                </c:pt>
                <c:pt idx="93">
                  <c:v>-79</c:v>
                </c:pt>
                <c:pt idx="94">
                  <c:v>-244</c:v>
                </c:pt>
                <c:pt idx="95">
                  <c:v>-352</c:v>
                </c:pt>
                <c:pt idx="96">
                  <c:v>-320</c:v>
                </c:pt>
                <c:pt idx="97">
                  <c:v>-107</c:v>
                </c:pt>
                <c:pt idx="98">
                  <c:v>-365</c:v>
                </c:pt>
                <c:pt idx="99">
                  <c:v>227</c:v>
                </c:pt>
                <c:pt idx="100">
                  <c:v>-227</c:v>
                </c:pt>
                <c:pt idx="101">
                  <c:v>54</c:v>
                </c:pt>
                <c:pt idx="102">
                  <c:v>-119</c:v>
                </c:pt>
                <c:pt idx="103">
                  <c:v>49</c:v>
                </c:pt>
                <c:pt idx="104">
                  <c:v>15</c:v>
                </c:pt>
                <c:pt idx="105">
                  <c:v>-158</c:v>
                </c:pt>
                <c:pt idx="106">
                  <c:v>10</c:v>
                </c:pt>
                <c:pt idx="107">
                  <c:v>334</c:v>
                </c:pt>
                <c:pt idx="108">
                  <c:v>-250</c:v>
                </c:pt>
                <c:pt idx="109">
                  <c:v>-170</c:v>
                </c:pt>
                <c:pt idx="110">
                  <c:v>119</c:v>
                </c:pt>
                <c:pt idx="111">
                  <c:v>-247</c:v>
                </c:pt>
                <c:pt idx="112">
                  <c:v>-101</c:v>
                </c:pt>
                <c:pt idx="113">
                  <c:v>325</c:v>
                </c:pt>
                <c:pt idx="114">
                  <c:v>-248</c:v>
                </c:pt>
                <c:pt idx="115">
                  <c:v>-145</c:v>
                </c:pt>
                <c:pt idx="116">
                  <c:v>257</c:v>
                </c:pt>
                <c:pt idx="117">
                  <c:v>265</c:v>
                </c:pt>
                <c:pt idx="118">
                  <c:v>-46</c:v>
                </c:pt>
                <c:pt idx="119">
                  <c:v>185</c:v>
                </c:pt>
                <c:pt idx="120">
                  <c:v>-121</c:v>
                </c:pt>
                <c:pt idx="121">
                  <c:v>-188</c:v>
                </c:pt>
                <c:pt idx="122">
                  <c:v>163</c:v>
                </c:pt>
                <c:pt idx="123">
                  <c:v>335</c:v>
                </c:pt>
                <c:pt idx="124">
                  <c:v>-52</c:v>
                </c:pt>
                <c:pt idx="125">
                  <c:v>-46</c:v>
                </c:pt>
                <c:pt idx="126">
                  <c:v>-70</c:v>
                </c:pt>
                <c:pt idx="127">
                  <c:v>-10</c:v>
                </c:pt>
                <c:pt idx="128">
                  <c:v>-19</c:v>
                </c:pt>
                <c:pt idx="129">
                  <c:v>298</c:v>
                </c:pt>
                <c:pt idx="130">
                  <c:v>311</c:v>
                </c:pt>
                <c:pt idx="131">
                  <c:v>-119</c:v>
                </c:pt>
                <c:pt idx="132">
                  <c:v>187</c:v>
                </c:pt>
                <c:pt idx="133">
                  <c:v>-87</c:v>
                </c:pt>
                <c:pt idx="134">
                  <c:v>227</c:v>
                </c:pt>
                <c:pt idx="135">
                  <c:v>181</c:v>
                </c:pt>
                <c:pt idx="136">
                  <c:v>-233</c:v>
                </c:pt>
                <c:pt idx="137">
                  <c:v>350</c:v>
                </c:pt>
                <c:pt idx="138">
                  <c:v>-317</c:v>
                </c:pt>
                <c:pt idx="139">
                  <c:v>88</c:v>
                </c:pt>
                <c:pt idx="140">
                  <c:v>-356</c:v>
                </c:pt>
                <c:pt idx="141">
                  <c:v>-137</c:v>
                </c:pt>
                <c:pt idx="142">
                  <c:v>-49</c:v>
                </c:pt>
                <c:pt idx="143">
                  <c:v>236</c:v>
                </c:pt>
                <c:pt idx="144">
                  <c:v>-282</c:v>
                </c:pt>
                <c:pt idx="145">
                  <c:v>-80</c:v>
                </c:pt>
                <c:pt idx="146">
                  <c:v>-81</c:v>
                </c:pt>
                <c:pt idx="147">
                  <c:v>-311</c:v>
                </c:pt>
                <c:pt idx="148">
                  <c:v>111</c:v>
                </c:pt>
                <c:pt idx="149">
                  <c:v>244</c:v>
                </c:pt>
                <c:pt idx="150">
                  <c:v>-272</c:v>
                </c:pt>
                <c:pt idx="151">
                  <c:v>161</c:v>
                </c:pt>
                <c:pt idx="152">
                  <c:v>222</c:v>
                </c:pt>
                <c:pt idx="153">
                  <c:v>111</c:v>
                </c:pt>
                <c:pt idx="154">
                  <c:v>355</c:v>
                </c:pt>
                <c:pt idx="155">
                  <c:v>231</c:v>
                </c:pt>
                <c:pt idx="156">
                  <c:v>-308</c:v>
                </c:pt>
                <c:pt idx="157">
                  <c:v>163</c:v>
                </c:pt>
                <c:pt idx="158">
                  <c:v>283</c:v>
                </c:pt>
                <c:pt idx="159">
                  <c:v>190</c:v>
                </c:pt>
                <c:pt idx="160">
                  <c:v>155</c:v>
                </c:pt>
                <c:pt idx="161">
                  <c:v>305</c:v>
                </c:pt>
                <c:pt idx="162">
                  <c:v>360</c:v>
                </c:pt>
                <c:pt idx="163">
                  <c:v>69</c:v>
                </c:pt>
                <c:pt idx="164">
                  <c:v>19</c:v>
                </c:pt>
                <c:pt idx="165">
                  <c:v>-300</c:v>
                </c:pt>
                <c:pt idx="166">
                  <c:v>161</c:v>
                </c:pt>
                <c:pt idx="167">
                  <c:v>-166</c:v>
                </c:pt>
                <c:pt idx="168">
                  <c:v>261</c:v>
                </c:pt>
                <c:pt idx="169">
                  <c:v>-70</c:v>
                </c:pt>
                <c:pt idx="170">
                  <c:v>303</c:v>
                </c:pt>
                <c:pt idx="171">
                  <c:v>35</c:v>
                </c:pt>
                <c:pt idx="172">
                  <c:v>58</c:v>
                </c:pt>
                <c:pt idx="173">
                  <c:v>180</c:v>
                </c:pt>
                <c:pt idx="174">
                  <c:v>-156</c:v>
                </c:pt>
                <c:pt idx="175">
                  <c:v>-146</c:v>
                </c:pt>
                <c:pt idx="176">
                  <c:v>-328</c:v>
                </c:pt>
                <c:pt idx="177">
                  <c:v>-216</c:v>
                </c:pt>
              </c:numCache>
            </c:numRef>
          </c:yVal>
          <c:smooth val="0"/>
          <c:extLst>
            <c:ext xmlns:c16="http://schemas.microsoft.com/office/drawing/2014/chart" uri="{C3380CC4-5D6E-409C-BE32-E72D297353CC}">
              <c16:uniqueId val="{00000000-029F-4D93-A443-D6A442A24C2F}"/>
            </c:ext>
          </c:extLst>
        </c:ser>
        <c:dLbls>
          <c:showLegendKey val="0"/>
          <c:showVal val="0"/>
          <c:showCatName val="0"/>
          <c:showSerName val="0"/>
          <c:showPercent val="0"/>
          <c:showBubbleSize val="0"/>
        </c:dLbls>
        <c:axId val="1681703759"/>
        <c:axId val="1681705199"/>
      </c:scatterChart>
      <c:valAx>
        <c:axId val="1681703759"/>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81705199"/>
        <c:crosses val="autoZero"/>
        <c:crossBetween val="midCat"/>
      </c:valAx>
      <c:valAx>
        <c:axId val="1681705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81703759"/>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Sheet1!$H$2:$H$6</cx:f>
        <cx:lvl ptCount="5">
          <cx:pt idx="0">LINE_NCH_PMT_AMT</cx:pt>
          <cx:pt idx="1">LINE_BENE_PRMRY_PYR_PD_AMT</cx:pt>
          <cx:pt idx="2">LINE_BENE_PTB_DDCTBL_AMT</cx:pt>
          <cx:pt idx="3">LINE_ALOWD_CHRG_AMT</cx:pt>
          <cx:pt idx="4">LINE_COINSRNC_AMT</cx:pt>
        </cx:lvl>
      </cx:strDim>
      <cx:numDim type="val">
        <cx:f>Sheet1!$I$2:$I$6</cx:f>
        <cx:lvl ptCount="5" formatCode="_(&quot;$&quot;* #,##0.00_);_(&quot;$&quot;* \(#,##0.00\);_(&quot;$&quot;* &quot;-&quot;??_);_(@_)">
          <cx:pt idx="0">158480.91</cx:pt>
          <cx:pt idx="1">98772.860000000001</cx:pt>
          <cx:pt idx="2">96806.449999999997</cx:pt>
          <cx:pt idx="3">62816.300000000003</cx:pt>
          <cx:pt idx="4">17507.34</cx:pt>
        </cx:lvl>
      </cx:numDim>
    </cx:data>
  </cx:chartData>
  <cx:chart>
    <cx:title pos="t" align="ctr" overlay="0">
      <cx:tx>
        <cx:rich>
          <a:bodyPr rot="0" spcFirstLastPara="1" vertOverflow="ellipsis" vert="horz" wrap="square" lIns="38100" tIns="19050" rIns="38100" bIns="19050" anchor="ctr" anchorCtr="1" compatLnSpc="0"/>
          <a:lstStyle/>
          <a:p>
            <a:pPr algn="ctr" rtl="0">
              <a:defRPr sz="1400" b="0" i="0" u="none" strike="noStrike" kern="1200" spc="0" baseline="0">
                <a:solidFill>
                  <a:sysClr val="windowText" lastClr="000000">
                    <a:lumMod val="65000"/>
                    <a:lumOff val="35000"/>
                  </a:sysClr>
                </a:solidFill>
                <a:latin typeface="+mn-lt"/>
                <a:ea typeface="+mn-ea"/>
                <a:cs typeface="+mn-cs"/>
              </a:defRPr>
            </a:pPr>
            <a:r>
              <a:rPr kumimoji="0" lang="en-US" sz="1400" b="0" i="0" u="none" strike="noStrike" kern="1200" cap="none" spc="0" normalizeH="0" baseline="0" noProof="0" dirty="0">
                <a:ln>
                  <a:noFill/>
                </a:ln>
                <a:solidFill>
                  <a:sysClr val="windowText" lastClr="000000">
                    <a:lumMod val="65000"/>
                    <a:lumOff val="35000"/>
                  </a:sysClr>
                </a:solidFill>
                <a:effectLst/>
                <a:uLnTx/>
                <a:uFillTx/>
                <a:latin typeface="Aptos Narrow" panose="02110004020202020204"/>
              </a:rPr>
              <a:t>FINANCIAL VARIANCE</a:t>
            </a:r>
          </a:p>
        </cx:rich>
      </cx:tx>
    </cx:title>
    <cx:plotArea>
      <cx:plotAreaRegion>
        <cx:series layoutId="waterfall" uniqueId="{E708FD0A-15D1-4AEF-A336-FE224240B8E8}">
          <cx:tx>
            <cx:txData>
              <cx:f>Sheet1!$I$1</cx:f>
              <cx:v>FINANCIAL_VARIANCE</cx:v>
            </cx:txData>
          </cx:tx>
          <cx:dataLabels/>
          <cx:dataId val="0"/>
          <cx:layoutPr>
            <cx:subtotals/>
          </cx:layoutPr>
        </cx:series>
      </cx:plotAreaRegion>
      <cx:axis id="0">
        <cx:catScaling/>
        <cx:tickLabels/>
      </cx:axis>
      <cx:axis id="1">
        <cx:valScaling/>
        <cx:majorGridlines/>
        <cx:tickLabels/>
        <cx:numFmt formatCode="$#,##0,&quot;K&quot;" sourceLinked="0"/>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Sheet1!$M$2:$M$10</cx:f>
        <cx:lvl ptCount="9">
          <cx:pt idx="0">MEDREIMB_OP</cx:pt>
          <cx:pt idx="1">MEDREIMB_IP</cx:pt>
          <cx:pt idx="2">MEDREIMB_CAR</cx:pt>
          <cx:pt idx="3">BENRES_IP</cx:pt>
          <cx:pt idx="4">BENRES_CAR</cx:pt>
          <cx:pt idx="5">PPPYMT_IP</cx:pt>
          <cx:pt idx="6">PPPYMT_CAR</cx:pt>
          <cx:pt idx="7">BENRES_OP</cx:pt>
          <cx:pt idx="8">PPPYMT_OP</cx:pt>
        </cx:lvl>
      </cx:strDim>
      <cx:numDim type="val">
        <cx:f>Sheet1!$N$2:$N$10</cx:f>
        <cx:lvl ptCount="9" formatCode="_(&quot;$&quot;* #,##0.00_);_(&quot;$&quot;* \(#,##0.00\);_(&quot;$&quot;* &quot;-&quot;??_);_(@_)">
          <cx:pt idx="0">10924.620000000001</cx:pt>
          <cx:pt idx="1">7004.0699999999997</cx:pt>
          <cx:pt idx="2">4458.4200000000001</cx:pt>
          <cx:pt idx="3">3231.46</cx:pt>
          <cx:pt idx="4">2466.7800000000002</cx:pt>
          <cx:pt idx="5">2128.46</cx:pt>
          <cx:pt idx="6">1996.3199999999999</cx:pt>
          <cx:pt idx="7">1907.74</cx:pt>
          <cx:pt idx="8">1491.3599999999999</cx:pt>
        </cx:lvl>
      </cx:numDim>
    </cx:data>
  </cx:chartData>
  <cx:chart>
    <cx:title pos="t" align="ctr" overlay="0">
      <cx:tx>
        <cx:rich>
          <a:bodyPr rot="0" spcFirstLastPara="1" vertOverflow="ellipsis" vert="horz" wrap="square" lIns="38100" tIns="19050" rIns="38100" bIns="19050" anchor="ctr" anchorCtr="1" compatLnSpc="0"/>
          <a:lstStyle/>
          <a:p>
            <a:pPr algn="ctr" rtl="0">
              <a:defRPr sz="1400" b="0" i="0" u="none" strike="noStrike" kern="1200" spc="0" baseline="0">
                <a:solidFill>
                  <a:sysClr val="windowText" lastClr="000000">
                    <a:lumMod val="65000"/>
                    <a:lumOff val="35000"/>
                  </a:sysClr>
                </a:solidFill>
                <a:latin typeface="+mn-lt"/>
                <a:ea typeface="+mn-ea"/>
                <a:cs typeface="+mn-cs"/>
              </a:defRPr>
            </a:pPr>
            <a:r>
              <a:rPr kumimoji="0" lang="en-US" sz="1400" b="0" i="0" u="none" strike="noStrike" kern="1200" cap="none" spc="0" normalizeH="0" baseline="0" noProof="0" dirty="0">
                <a:ln>
                  <a:noFill/>
                </a:ln>
                <a:solidFill>
                  <a:sysClr val="windowText" lastClr="000000">
                    <a:lumMod val="65000"/>
                    <a:lumOff val="35000"/>
                  </a:sysClr>
                </a:solidFill>
                <a:effectLst/>
                <a:uLnTx/>
                <a:uFillTx/>
                <a:latin typeface="Aptos Narrow" panose="02110004020202020204"/>
              </a:rPr>
              <a:t>FINANCIAL VARIANCE</a:t>
            </a:r>
          </a:p>
        </cx:rich>
      </cx:tx>
    </cx:title>
    <cx:plotArea>
      <cx:plotAreaRegion>
        <cx:series layoutId="waterfall" uniqueId="{07EA8A0C-85D7-41E8-9022-C6EAB3DBA4C8}">
          <cx:tx>
            <cx:txData>
              <cx:f>Sheet1!$N$1</cx:f>
              <cx:v>FINANCIAL_VARIANCE</cx:v>
            </cx:txData>
          </cx:tx>
          <cx:dataLabels/>
          <cx:dataId val="0"/>
          <cx:layoutPr>
            <cx:subtotals/>
          </cx:layoutPr>
        </cx:series>
      </cx:plotAreaRegion>
      <cx:axis id="0">
        <cx:catScaling/>
        <cx:tickLabels/>
      </cx:axis>
      <cx:axis id="1">
        <cx:valScaling/>
        <cx:majorGridlines/>
        <cx:tickLabels/>
        <cx:numFmt formatCode="$#,##0,&quot;K&quot;" sourceLinked="0"/>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A204E9-1805-42F2-B630-13FA23A01478}" type="doc">
      <dgm:prSet loTypeId="urn:microsoft.com/office/officeart/2005/8/layout/pyramid1" loCatId="pyramid" qsTypeId="urn:microsoft.com/office/officeart/2005/8/quickstyle/simple1" qsCatId="simple" csTypeId="urn:microsoft.com/office/officeart/2005/8/colors/accent1_5" csCatId="accent1" phldr="1"/>
      <dgm:spPr/>
      <dgm:t>
        <a:bodyPr/>
        <a:lstStyle/>
        <a:p>
          <a:endParaRPr lang="en-US"/>
        </a:p>
      </dgm:t>
    </dgm:pt>
    <dgm:pt modelId="{4FC86902-EAE1-4C33-A11C-958EE27CD982}">
      <dgm:prSet phldrT="[Text]" phldr="0"/>
      <dgm:spPr/>
      <dgm:t>
        <a:bodyPr/>
        <a:lstStyle/>
        <a:p>
          <a:r>
            <a:rPr lang="en-US" dirty="0"/>
            <a:t>Summarize</a:t>
          </a:r>
        </a:p>
      </dgm:t>
    </dgm:pt>
    <dgm:pt modelId="{6BD5C2B1-41B2-49C0-BABD-D3AE4E854F02}" type="parTrans" cxnId="{1F16C5F1-CC71-4B0E-ADEA-029E8481F9D3}">
      <dgm:prSet/>
      <dgm:spPr/>
      <dgm:t>
        <a:bodyPr/>
        <a:lstStyle/>
        <a:p>
          <a:endParaRPr lang="en-US"/>
        </a:p>
      </dgm:t>
    </dgm:pt>
    <dgm:pt modelId="{F067F98A-AC83-43D6-A81B-947609820A58}" type="sibTrans" cxnId="{1F16C5F1-CC71-4B0E-ADEA-029E8481F9D3}">
      <dgm:prSet/>
      <dgm:spPr/>
      <dgm:t>
        <a:bodyPr/>
        <a:lstStyle/>
        <a:p>
          <a:endParaRPr lang="en-US"/>
        </a:p>
      </dgm:t>
    </dgm:pt>
    <dgm:pt modelId="{5A64164C-D470-4817-9D64-778AB5FF5D56}">
      <dgm:prSet phldrT="[Text]" phldr="0"/>
      <dgm:spPr/>
      <dgm:t>
        <a:bodyPr/>
        <a:lstStyle/>
        <a:p>
          <a:r>
            <a:rPr lang="en-US" dirty="0"/>
            <a:t>Quantify</a:t>
          </a:r>
        </a:p>
      </dgm:t>
    </dgm:pt>
    <dgm:pt modelId="{647C64D2-1EBF-4167-B2DB-601E291B33EC}" type="parTrans" cxnId="{C0C405AE-132B-4426-B842-DD32852972E1}">
      <dgm:prSet/>
      <dgm:spPr/>
      <dgm:t>
        <a:bodyPr/>
        <a:lstStyle/>
        <a:p>
          <a:endParaRPr lang="en-US"/>
        </a:p>
      </dgm:t>
    </dgm:pt>
    <dgm:pt modelId="{1DD06F74-2617-4CA6-81BB-1A741EA17508}" type="sibTrans" cxnId="{C0C405AE-132B-4426-B842-DD32852972E1}">
      <dgm:prSet/>
      <dgm:spPr/>
      <dgm:t>
        <a:bodyPr/>
        <a:lstStyle/>
        <a:p>
          <a:endParaRPr lang="en-US"/>
        </a:p>
      </dgm:t>
    </dgm:pt>
    <dgm:pt modelId="{DA60E97A-07FE-4F26-93B4-74150B2F714E}">
      <dgm:prSet phldrT="[Text]" phldr="0"/>
      <dgm:spPr/>
      <dgm:t>
        <a:bodyPr/>
        <a:lstStyle/>
        <a:p>
          <a:r>
            <a:rPr lang="en-US" dirty="0"/>
            <a:t>Analyze</a:t>
          </a:r>
        </a:p>
      </dgm:t>
    </dgm:pt>
    <dgm:pt modelId="{0387DD2C-83C8-4644-82FE-9C89AB084097}" type="parTrans" cxnId="{03166E0D-D820-4280-A7B0-F1E97FD87276}">
      <dgm:prSet/>
      <dgm:spPr/>
      <dgm:t>
        <a:bodyPr/>
        <a:lstStyle/>
        <a:p>
          <a:endParaRPr lang="en-US"/>
        </a:p>
      </dgm:t>
    </dgm:pt>
    <dgm:pt modelId="{6B07F13D-1388-4FDB-8D5C-45DF3CE8EE36}" type="sibTrans" cxnId="{03166E0D-D820-4280-A7B0-F1E97FD87276}">
      <dgm:prSet/>
      <dgm:spPr/>
      <dgm:t>
        <a:bodyPr/>
        <a:lstStyle/>
        <a:p>
          <a:endParaRPr lang="en-US"/>
        </a:p>
      </dgm:t>
    </dgm:pt>
    <dgm:pt modelId="{C25C0690-B39F-4545-B094-D902D870FF07}">
      <dgm:prSet phldrT="[Text]" phldr="0"/>
      <dgm:spPr/>
      <dgm:t>
        <a:bodyPr/>
        <a:lstStyle/>
        <a:p>
          <a:r>
            <a:rPr lang="en-US" dirty="0"/>
            <a:t>Validate</a:t>
          </a:r>
        </a:p>
      </dgm:t>
    </dgm:pt>
    <dgm:pt modelId="{120AA6AA-1CE9-4038-A99F-D498A4E2366E}" type="parTrans" cxnId="{6048B6D2-B480-4561-BBFF-5694136B5EC8}">
      <dgm:prSet/>
      <dgm:spPr/>
      <dgm:t>
        <a:bodyPr/>
        <a:lstStyle/>
        <a:p>
          <a:endParaRPr lang="en-US"/>
        </a:p>
      </dgm:t>
    </dgm:pt>
    <dgm:pt modelId="{91889FC1-59C7-44AF-B374-5766ABD7BB20}" type="sibTrans" cxnId="{6048B6D2-B480-4561-BBFF-5694136B5EC8}">
      <dgm:prSet/>
      <dgm:spPr/>
      <dgm:t>
        <a:bodyPr/>
        <a:lstStyle/>
        <a:p>
          <a:endParaRPr lang="en-US"/>
        </a:p>
      </dgm:t>
    </dgm:pt>
    <dgm:pt modelId="{C0F599EC-26C4-44D3-BC30-C1EB84F7AE35}">
      <dgm:prSet phldrT="[Text]" phldr="0"/>
      <dgm:spPr/>
      <dgm:t>
        <a:bodyPr/>
        <a:lstStyle/>
        <a:p>
          <a:pPr algn="l"/>
          <a:r>
            <a:rPr lang="en-US" dirty="0"/>
            <a:t>Ingest</a:t>
          </a:r>
        </a:p>
      </dgm:t>
    </dgm:pt>
    <dgm:pt modelId="{960C32F0-2D61-4D60-B1D7-D5A38C5F6108}" type="parTrans" cxnId="{2B4635FA-270E-46C4-BF2F-6E94DA333862}">
      <dgm:prSet/>
      <dgm:spPr/>
      <dgm:t>
        <a:bodyPr/>
        <a:lstStyle/>
        <a:p>
          <a:endParaRPr lang="en-US"/>
        </a:p>
      </dgm:t>
    </dgm:pt>
    <dgm:pt modelId="{30371038-323B-4168-8708-A3632A9CE071}" type="sibTrans" cxnId="{2B4635FA-270E-46C4-BF2F-6E94DA333862}">
      <dgm:prSet/>
      <dgm:spPr/>
      <dgm:t>
        <a:bodyPr/>
        <a:lstStyle/>
        <a:p>
          <a:endParaRPr lang="en-US"/>
        </a:p>
      </dgm:t>
    </dgm:pt>
    <dgm:pt modelId="{4A24BCA3-7AB1-42AD-9491-373BC1B805B0}" type="pres">
      <dgm:prSet presAssocID="{ADA204E9-1805-42F2-B630-13FA23A01478}" presName="Name0" presStyleCnt="0">
        <dgm:presLayoutVars>
          <dgm:dir/>
          <dgm:animLvl val="lvl"/>
          <dgm:resizeHandles val="exact"/>
        </dgm:presLayoutVars>
      </dgm:prSet>
      <dgm:spPr/>
    </dgm:pt>
    <dgm:pt modelId="{CBAB123C-A296-435F-8044-F18394347EE8}" type="pres">
      <dgm:prSet presAssocID="{4FC86902-EAE1-4C33-A11C-958EE27CD982}" presName="Name8" presStyleCnt="0"/>
      <dgm:spPr/>
    </dgm:pt>
    <dgm:pt modelId="{11A17255-E406-44EA-AD3D-159CE436016B}" type="pres">
      <dgm:prSet presAssocID="{4FC86902-EAE1-4C33-A11C-958EE27CD982}" presName="level" presStyleLbl="node1" presStyleIdx="0" presStyleCnt="5">
        <dgm:presLayoutVars>
          <dgm:chMax val="1"/>
          <dgm:bulletEnabled val="1"/>
        </dgm:presLayoutVars>
      </dgm:prSet>
      <dgm:spPr/>
    </dgm:pt>
    <dgm:pt modelId="{F9FE8371-B53D-477B-955A-7C21417FD1B2}" type="pres">
      <dgm:prSet presAssocID="{4FC86902-EAE1-4C33-A11C-958EE27CD982}" presName="levelTx" presStyleLbl="revTx" presStyleIdx="0" presStyleCnt="0">
        <dgm:presLayoutVars>
          <dgm:chMax val="1"/>
          <dgm:bulletEnabled val="1"/>
        </dgm:presLayoutVars>
      </dgm:prSet>
      <dgm:spPr/>
    </dgm:pt>
    <dgm:pt modelId="{4E1F7AB6-5B51-41DC-8C6F-1B96B35DA532}" type="pres">
      <dgm:prSet presAssocID="{5A64164C-D470-4817-9D64-778AB5FF5D56}" presName="Name8" presStyleCnt="0"/>
      <dgm:spPr/>
    </dgm:pt>
    <dgm:pt modelId="{F61C28D8-D56B-4D0D-9DEC-7CC6E8AE70C1}" type="pres">
      <dgm:prSet presAssocID="{5A64164C-D470-4817-9D64-778AB5FF5D56}" presName="level" presStyleLbl="node1" presStyleIdx="1" presStyleCnt="5">
        <dgm:presLayoutVars>
          <dgm:chMax val="1"/>
          <dgm:bulletEnabled val="1"/>
        </dgm:presLayoutVars>
      </dgm:prSet>
      <dgm:spPr/>
    </dgm:pt>
    <dgm:pt modelId="{BA01BD34-F5C7-494C-AB47-36BCC3EC0DA0}" type="pres">
      <dgm:prSet presAssocID="{5A64164C-D470-4817-9D64-778AB5FF5D56}" presName="levelTx" presStyleLbl="revTx" presStyleIdx="0" presStyleCnt="0">
        <dgm:presLayoutVars>
          <dgm:chMax val="1"/>
          <dgm:bulletEnabled val="1"/>
        </dgm:presLayoutVars>
      </dgm:prSet>
      <dgm:spPr/>
    </dgm:pt>
    <dgm:pt modelId="{08D1CD1E-0C1D-41A9-91B3-F3F25C5DF669}" type="pres">
      <dgm:prSet presAssocID="{DA60E97A-07FE-4F26-93B4-74150B2F714E}" presName="Name8" presStyleCnt="0"/>
      <dgm:spPr/>
    </dgm:pt>
    <dgm:pt modelId="{F083C13B-40C9-4B59-8132-1532C8B6D4CB}" type="pres">
      <dgm:prSet presAssocID="{DA60E97A-07FE-4F26-93B4-74150B2F714E}" presName="level" presStyleLbl="node1" presStyleIdx="2" presStyleCnt="5">
        <dgm:presLayoutVars>
          <dgm:chMax val="1"/>
          <dgm:bulletEnabled val="1"/>
        </dgm:presLayoutVars>
      </dgm:prSet>
      <dgm:spPr/>
    </dgm:pt>
    <dgm:pt modelId="{A26DF2EA-73B4-4D54-BCC8-9F0AB0B2C9AC}" type="pres">
      <dgm:prSet presAssocID="{DA60E97A-07FE-4F26-93B4-74150B2F714E}" presName="levelTx" presStyleLbl="revTx" presStyleIdx="0" presStyleCnt="0">
        <dgm:presLayoutVars>
          <dgm:chMax val="1"/>
          <dgm:bulletEnabled val="1"/>
        </dgm:presLayoutVars>
      </dgm:prSet>
      <dgm:spPr/>
    </dgm:pt>
    <dgm:pt modelId="{8D9EFD7D-33F9-490C-8468-692197A2372C}" type="pres">
      <dgm:prSet presAssocID="{C25C0690-B39F-4545-B094-D902D870FF07}" presName="Name8" presStyleCnt="0"/>
      <dgm:spPr/>
    </dgm:pt>
    <dgm:pt modelId="{E5BF963A-6432-4564-BCD0-351B368ADF34}" type="pres">
      <dgm:prSet presAssocID="{C25C0690-B39F-4545-B094-D902D870FF07}" presName="level" presStyleLbl="node1" presStyleIdx="3" presStyleCnt="5">
        <dgm:presLayoutVars>
          <dgm:chMax val="1"/>
          <dgm:bulletEnabled val="1"/>
        </dgm:presLayoutVars>
      </dgm:prSet>
      <dgm:spPr/>
    </dgm:pt>
    <dgm:pt modelId="{DA151636-03F6-47D9-8D40-B4C350D56A9F}" type="pres">
      <dgm:prSet presAssocID="{C25C0690-B39F-4545-B094-D902D870FF07}" presName="levelTx" presStyleLbl="revTx" presStyleIdx="0" presStyleCnt="0">
        <dgm:presLayoutVars>
          <dgm:chMax val="1"/>
          <dgm:bulletEnabled val="1"/>
        </dgm:presLayoutVars>
      </dgm:prSet>
      <dgm:spPr/>
    </dgm:pt>
    <dgm:pt modelId="{1663D8F8-D6F0-4F41-844F-8A6762E3A4FE}" type="pres">
      <dgm:prSet presAssocID="{C0F599EC-26C4-44D3-BC30-C1EB84F7AE35}" presName="Name8" presStyleCnt="0"/>
      <dgm:spPr/>
    </dgm:pt>
    <dgm:pt modelId="{DA24A440-D88E-45F1-AC9B-A534A636C6F8}" type="pres">
      <dgm:prSet presAssocID="{C0F599EC-26C4-44D3-BC30-C1EB84F7AE35}" presName="level" presStyleLbl="node1" presStyleIdx="4" presStyleCnt="5">
        <dgm:presLayoutVars>
          <dgm:chMax val="1"/>
          <dgm:bulletEnabled val="1"/>
        </dgm:presLayoutVars>
      </dgm:prSet>
      <dgm:spPr/>
    </dgm:pt>
    <dgm:pt modelId="{8AB9678A-0DD1-4D65-8F94-5490A8258DD6}" type="pres">
      <dgm:prSet presAssocID="{C0F599EC-26C4-44D3-BC30-C1EB84F7AE35}" presName="levelTx" presStyleLbl="revTx" presStyleIdx="0" presStyleCnt="0">
        <dgm:presLayoutVars>
          <dgm:chMax val="1"/>
          <dgm:bulletEnabled val="1"/>
        </dgm:presLayoutVars>
      </dgm:prSet>
      <dgm:spPr/>
    </dgm:pt>
  </dgm:ptLst>
  <dgm:cxnLst>
    <dgm:cxn modelId="{03166E0D-D820-4280-A7B0-F1E97FD87276}" srcId="{ADA204E9-1805-42F2-B630-13FA23A01478}" destId="{DA60E97A-07FE-4F26-93B4-74150B2F714E}" srcOrd="2" destOrd="0" parTransId="{0387DD2C-83C8-4644-82FE-9C89AB084097}" sibTransId="{6B07F13D-1388-4FDB-8D5C-45DF3CE8EE36}"/>
    <dgm:cxn modelId="{6ED1282A-844C-4A4F-B233-F2821B410FD9}" type="presOf" srcId="{DA60E97A-07FE-4F26-93B4-74150B2F714E}" destId="{A26DF2EA-73B4-4D54-BCC8-9F0AB0B2C9AC}" srcOrd="1" destOrd="0" presId="urn:microsoft.com/office/officeart/2005/8/layout/pyramid1"/>
    <dgm:cxn modelId="{0401692E-2D8F-4C39-9AFE-0616B409EFDD}" type="presOf" srcId="{C25C0690-B39F-4545-B094-D902D870FF07}" destId="{DA151636-03F6-47D9-8D40-B4C350D56A9F}" srcOrd="1" destOrd="0" presId="urn:microsoft.com/office/officeart/2005/8/layout/pyramid1"/>
    <dgm:cxn modelId="{F92F8D61-CB84-4FE9-B75B-12C912FBAFAB}" type="presOf" srcId="{C0F599EC-26C4-44D3-BC30-C1EB84F7AE35}" destId="{DA24A440-D88E-45F1-AC9B-A534A636C6F8}" srcOrd="0" destOrd="0" presId="urn:microsoft.com/office/officeart/2005/8/layout/pyramid1"/>
    <dgm:cxn modelId="{B118CC91-8A5E-4DA7-B6A6-340FE915072D}" type="presOf" srcId="{DA60E97A-07FE-4F26-93B4-74150B2F714E}" destId="{F083C13B-40C9-4B59-8132-1532C8B6D4CB}" srcOrd="0" destOrd="0" presId="urn:microsoft.com/office/officeart/2005/8/layout/pyramid1"/>
    <dgm:cxn modelId="{ECF0DE9C-F171-478D-92C8-7989DB0B3291}" type="presOf" srcId="{5A64164C-D470-4817-9D64-778AB5FF5D56}" destId="{BA01BD34-F5C7-494C-AB47-36BCC3EC0DA0}" srcOrd="1" destOrd="0" presId="urn:microsoft.com/office/officeart/2005/8/layout/pyramid1"/>
    <dgm:cxn modelId="{EF44EEA0-1704-44BA-959E-D4C532EEA7F8}" type="presOf" srcId="{4FC86902-EAE1-4C33-A11C-958EE27CD982}" destId="{F9FE8371-B53D-477B-955A-7C21417FD1B2}" srcOrd="1" destOrd="0" presId="urn:microsoft.com/office/officeart/2005/8/layout/pyramid1"/>
    <dgm:cxn modelId="{C0C405AE-132B-4426-B842-DD32852972E1}" srcId="{ADA204E9-1805-42F2-B630-13FA23A01478}" destId="{5A64164C-D470-4817-9D64-778AB5FF5D56}" srcOrd="1" destOrd="0" parTransId="{647C64D2-1EBF-4167-B2DB-601E291B33EC}" sibTransId="{1DD06F74-2617-4CA6-81BB-1A741EA17508}"/>
    <dgm:cxn modelId="{8D8C71B3-C571-4DBC-ADE4-5A24BC245750}" type="presOf" srcId="{C0F599EC-26C4-44D3-BC30-C1EB84F7AE35}" destId="{8AB9678A-0DD1-4D65-8F94-5490A8258DD6}" srcOrd="1" destOrd="0" presId="urn:microsoft.com/office/officeart/2005/8/layout/pyramid1"/>
    <dgm:cxn modelId="{D31594B8-A2BC-4C75-A15F-855F7E6E5D23}" type="presOf" srcId="{4FC86902-EAE1-4C33-A11C-958EE27CD982}" destId="{11A17255-E406-44EA-AD3D-159CE436016B}" srcOrd="0" destOrd="0" presId="urn:microsoft.com/office/officeart/2005/8/layout/pyramid1"/>
    <dgm:cxn modelId="{A05DC8B8-2D4C-4FC1-BF6E-04BD65F0EF72}" type="presOf" srcId="{C25C0690-B39F-4545-B094-D902D870FF07}" destId="{E5BF963A-6432-4564-BCD0-351B368ADF34}" srcOrd="0" destOrd="0" presId="urn:microsoft.com/office/officeart/2005/8/layout/pyramid1"/>
    <dgm:cxn modelId="{6048B6D2-B480-4561-BBFF-5694136B5EC8}" srcId="{ADA204E9-1805-42F2-B630-13FA23A01478}" destId="{C25C0690-B39F-4545-B094-D902D870FF07}" srcOrd="3" destOrd="0" parTransId="{120AA6AA-1CE9-4038-A99F-D498A4E2366E}" sibTransId="{91889FC1-59C7-44AF-B374-5766ABD7BB20}"/>
    <dgm:cxn modelId="{3DEEAED6-5391-4ABC-9357-D1729F515FBE}" type="presOf" srcId="{5A64164C-D470-4817-9D64-778AB5FF5D56}" destId="{F61C28D8-D56B-4D0D-9DEC-7CC6E8AE70C1}" srcOrd="0" destOrd="0" presId="urn:microsoft.com/office/officeart/2005/8/layout/pyramid1"/>
    <dgm:cxn modelId="{6899A5E7-A1B4-4679-A04C-3729AC8B8C93}" type="presOf" srcId="{ADA204E9-1805-42F2-B630-13FA23A01478}" destId="{4A24BCA3-7AB1-42AD-9491-373BC1B805B0}" srcOrd="0" destOrd="0" presId="urn:microsoft.com/office/officeart/2005/8/layout/pyramid1"/>
    <dgm:cxn modelId="{1F16C5F1-CC71-4B0E-ADEA-029E8481F9D3}" srcId="{ADA204E9-1805-42F2-B630-13FA23A01478}" destId="{4FC86902-EAE1-4C33-A11C-958EE27CD982}" srcOrd="0" destOrd="0" parTransId="{6BD5C2B1-41B2-49C0-BABD-D3AE4E854F02}" sibTransId="{F067F98A-AC83-43D6-A81B-947609820A58}"/>
    <dgm:cxn modelId="{2B4635FA-270E-46C4-BF2F-6E94DA333862}" srcId="{ADA204E9-1805-42F2-B630-13FA23A01478}" destId="{C0F599EC-26C4-44D3-BC30-C1EB84F7AE35}" srcOrd="4" destOrd="0" parTransId="{960C32F0-2D61-4D60-B1D7-D5A38C5F6108}" sibTransId="{30371038-323B-4168-8708-A3632A9CE071}"/>
    <dgm:cxn modelId="{389C4C49-04AB-4085-BBD0-BC293A3E0707}" type="presParOf" srcId="{4A24BCA3-7AB1-42AD-9491-373BC1B805B0}" destId="{CBAB123C-A296-435F-8044-F18394347EE8}" srcOrd="0" destOrd="0" presId="urn:microsoft.com/office/officeart/2005/8/layout/pyramid1"/>
    <dgm:cxn modelId="{096A51BB-854C-457A-85A7-F6B75C5C9F2E}" type="presParOf" srcId="{CBAB123C-A296-435F-8044-F18394347EE8}" destId="{11A17255-E406-44EA-AD3D-159CE436016B}" srcOrd="0" destOrd="0" presId="urn:microsoft.com/office/officeart/2005/8/layout/pyramid1"/>
    <dgm:cxn modelId="{C2058B7A-8137-48E7-93C5-5EE0037203A8}" type="presParOf" srcId="{CBAB123C-A296-435F-8044-F18394347EE8}" destId="{F9FE8371-B53D-477B-955A-7C21417FD1B2}" srcOrd="1" destOrd="0" presId="urn:microsoft.com/office/officeart/2005/8/layout/pyramid1"/>
    <dgm:cxn modelId="{3A892BBC-0027-4B99-9A07-21168AA1A976}" type="presParOf" srcId="{4A24BCA3-7AB1-42AD-9491-373BC1B805B0}" destId="{4E1F7AB6-5B51-41DC-8C6F-1B96B35DA532}" srcOrd="1" destOrd="0" presId="urn:microsoft.com/office/officeart/2005/8/layout/pyramid1"/>
    <dgm:cxn modelId="{4A288B29-5EBE-4DBE-8917-82C99AFDBC34}" type="presParOf" srcId="{4E1F7AB6-5B51-41DC-8C6F-1B96B35DA532}" destId="{F61C28D8-D56B-4D0D-9DEC-7CC6E8AE70C1}" srcOrd="0" destOrd="0" presId="urn:microsoft.com/office/officeart/2005/8/layout/pyramid1"/>
    <dgm:cxn modelId="{C5141ED2-1880-4223-A877-67497B2D235B}" type="presParOf" srcId="{4E1F7AB6-5B51-41DC-8C6F-1B96B35DA532}" destId="{BA01BD34-F5C7-494C-AB47-36BCC3EC0DA0}" srcOrd="1" destOrd="0" presId="urn:microsoft.com/office/officeart/2005/8/layout/pyramid1"/>
    <dgm:cxn modelId="{6229D2FC-4C27-43E1-9B13-3D12DDF96F0A}" type="presParOf" srcId="{4A24BCA3-7AB1-42AD-9491-373BC1B805B0}" destId="{08D1CD1E-0C1D-41A9-91B3-F3F25C5DF669}" srcOrd="2" destOrd="0" presId="urn:microsoft.com/office/officeart/2005/8/layout/pyramid1"/>
    <dgm:cxn modelId="{35D1E4D9-BD1D-466A-AF0D-3FB0A0C69AD5}" type="presParOf" srcId="{08D1CD1E-0C1D-41A9-91B3-F3F25C5DF669}" destId="{F083C13B-40C9-4B59-8132-1532C8B6D4CB}" srcOrd="0" destOrd="0" presId="urn:microsoft.com/office/officeart/2005/8/layout/pyramid1"/>
    <dgm:cxn modelId="{D9A451C9-4E3F-4743-A0D5-583D9D688521}" type="presParOf" srcId="{08D1CD1E-0C1D-41A9-91B3-F3F25C5DF669}" destId="{A26DF2EA-73B4-4D54-BCC8-9F0AB0B2C9AC}" srcOrd="1" destOrd="0" presId="urn:microsoft.com/office/officeart/2005/8/layout/pyramid1"/>
    <dgm:cxn modelId="{4DC6868F-F7D2-4319-B6F4-973DAE38AC76}" type="presParOf" srcId="{4A24BCA3-7AB1-42AD-9491-373BC1B805B0}" destId="{8D9EFD7D-33F9-490C-8468-692197A2372C}" srcOrd="3" destOrd="0" presId="urn:microsoft.com/office/officeart/2005/8/layout/pyramid1"/>
    <dgm:cxn modelId="{E5D9DC4A-7C89-4595-B530-DF680D2B765E}" type="presParOf" srcId="{8D9EFD7D-33F9-490C-8468-692197A2372C}" destId="{E5BF963A-6432-4564-BCD0-351B368ADF34}" srcOrd="0" destOrd="0" presId="urn:microsoft.com/office/officeart/2005/8/layout/pyramid1"/>
    <dgm:cxn modelId="{283107DD-1B1D-48DC-A987-2F56254992B9}" type="presParOf" srcId="{8D9EFD7D-33F9-490C-8468-692197A2372C}" destId="{DA151636-03F6-47D9-8D40-B4C350D56A9F}" srcOrd="1" destOrd="0" presId="urn:microsoft.com/office/officeart/2005/8/layout/pyramid1"/>
    <dgm:cxn modelId="{6244A0D9-2A76-4025-80C6-5A589DC87D5C}" type="presParOf" srcId="{4A24BCA3-7AB1-42AD-9491-373BC1B805B0}" destId="{1663D8F8-D6F0-4F41-844F-8A6762E3A4FE}" srcOrd="4" destOrd="0" presId="urn:microsoft.com/office/officeart/2005/8/layout/pyramid1"/>
    <dgm:cxn modelId="{B4A90CC6-1363-4D72-A85F-E57C9B07D761}" type="presParOf" srcId="{1663D8F8-D6F0-4F41-844F-8A6762E3A4FE}" destId="{DA24A440-D88E-45F1-AC9B-A534A636C6F8}" srcOrd="0" destOrd="0" presId="urn:microsoft.com/office/officeart/2005/8/layout/pyramid1"/>
    <dgm:cxn modelId="{234A497E-5DED-4B36-96C6-22A4F27F8C2A}" type="presParOf" srcId="{1663D8F8-D6F0-4F41-844F-8A6762E3A4FE}" destId="{8AB9678A-0DD1-4D65-8F94-5490A8258DD6}" srcOrd="1" destOrd="0" presId="urn:microsoft.com/office/officeart/2005/8/layout/pyramid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1BAF782-D2C5-4EDF-ABDC-14C397F35B64}"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731A5938-10C6-49EF-A76F-9D165735C9A3}">
      <dgm:prSet/>
      <dgm:spPr/>
      <dgm:t>
        <a:bodyPr/>
        <a:lstStyle/>
        <a:p>
          <a:r>
            <a:rPr lang="en-US" dirty="0"/>
            <a:t>“New” records in Carrier Claims Post Migration</a:t>
          </a:r>
        </a:p>
      </dgm:t>
    </dgm:pt>
    <dgm:pt modelId="{D0F1BD9D-4DF1-41AB-B806-75D372F25EFF}" type="parTrans" cxnId="{3997A6FB-445B-45E5-815E-137CBB2259E9}">
      <dgm:prSet/>
      <dgm:spPr/>
      <dgm:t>
        <a:bodyPr/>
        <a:lstStyle/>
        <a:p>
          <a:endParaRPr lang="en-US"/>
        </a:p>
      </dgm:t>
    </dgm:pt>
    <dgm:pt modelId="{CF9B8650-6918-4F1B-B585-5A29BEF15EF8}" type="sibTrans" cxnId="{3997A6FB-445B-45E5-815E-137CBB2259E9}">
      <dgm:prSet/>
      <dgm:spPr/>
      <dgm:t>
        <a:bodyPr/>
        <a:lstStyle/>
        <a:p>
          <a:endParaRPr lang="en-US"/>
        </a:p>
      </dgm:t>
    </dgm:pt>
    <dgm:pt modelId="{058FE168-862A-489D-A928-EBCC574419B9}">
      <dgm:prSet custT="1"/>
      <dgm:spPr/>
      <dgm:t>
        <a:bodyPr/>
        <a:lstStyle/>
        <a:p>
          <a:r>
            <a:rPr lang="en-US" sz="1000" dirty="0"/>
            <a:t>4,777 orphans w/  2-key match </a:t>
          </a:r>
        </a:p>
        <a:p>
          <a:r>
            <a:rPr lang="en-US" sz="1000" dirty="0"/>
            <a:t>(DESYNPUF_ID | CLM_ID)</a:t>
          </a:r>
          <a:endParaRPr lang="en-US" sz="1200" dirty="0"/>
        </a:p>
      </dgm:t>
    </dgm:pt>
    <dgm:pt modelId="{3D649D39-1486-49AE-83CA-5EA662AFF09F}" type="parTrans" cxnId="{CB7C70CE-1C30-4C08-9D73-EFC6EC71BC30}">
      <dgm:prSet/>
      <dgm:spPr/>
      <dgm:t>
        <a:bodyPr/>
        <a:lstStyle/>
        <a:p>
          <a:endParaRPr lang="en-US"/>
        </a:p>
      </dgm:t>
    </dgm:pt>
    <dgm:pt modelId="{4751728D-93C8-40A3-BA51-766D89D269D7}" type="sibTrans" cxnId="{CB7C70CE-1C30-4C08-9D73-EFC6EC71BC30}">
      <dgm:prSet/>
      <dgm:spPr/>
      <dgm:t>
        <a:bodyPr/>
        <a:lstStyle/>
        <a:p>
          <a:endParaRPr lang="en-US"/>
        </a:p>
      </dgm:t>
    </dgm:pt>
    <dgm:pt modelId="{6CD61CEE-2794-4347-AFA4-79C7C242C7B3}">
      <dgm:prSet custT="1"/>
      <dgm:spPr/>
      <dgm:t>
        <a:bodyPr/>
        <a:lstStyle/>
        <a:p>
          <a:r>
            <a:rPr lang="en-US" sz="1000" dirty="0"/>
            <a:t>5,242 orphans w/ 4-key match</a:t>
          </a:r>
          <a:r>
            <a:rPr lang="en-US" sz="700" dirty="0"/>
            <a:t> </a:t>
          </a:r>
        </a:p>
        <a:p>
          <a:r>
            <a:rPr lang="en-US" sz="1000" dirty="0"/>
            <a:t>(DESYNPUF_ID | CLM_ID | CLM_FROM_DT | CLM_THRU_DT)</a:t>
          </a:r>
          <a:endParaRPr lang="en-US" sz="1200" dirty="0"/>
        </a:p>
      </dgm:t>
    </dgm:pt>
    <dgm:pt modelId="{FC190443-4A5E-4368-9341-408C03C79054}" type="parTrans" cxnId="{4AB7ACD6-4811-46FD-B075-6D936755581C}">
      <dgm:prSet/>
      <dgm:spPr/>
      <dgm:t>
        <a:bodyPr/>
        <a:lstStyle/>
        <a:p>
          <a:endParaRPr lang="en-US"/>
        </a:p>
      </dgm:t>
    </dgm:pt>
    <dgm:pt modelId="{30D352AA-61A5-469A-B81A-E897CDBA4212}" type="sibTrans" cxnId="{4AB7ACD6-4811-46FD-B075-6D936755581C}">
      <dgm:prSet/>
      <dgm:spPr/>
      <dgm:t>
        <a:bodyPr/>
        <a:lstStyle/>
        <a:p>
          <a:endParaRPr lang="en-US"/>
        </a:p>
      </dgm:t>
    </dgm:pt>
    <dgm:pt modelId="{43398807-A7B1-456E-AC85-F3F6546AD21B}" type="pres">
      <dgm:prSet presAssocID="{F1BAF782-D2C5-4EDF-ABDC-14C397F35B64}" presName="hierChild1" presStyleCnt="0">
        <dgm:presLayoutVars>
          <dgm:chPref val="1"/>
          <dgm:dir/>
          <dgm:animOne val="branch"/>
          <dgm:animLvl val="lvl"/>
          <dgm:resizeHandles/>
        </dgm:presLayoutVars>
      </dgm:prSet>
      <dgm:spPr/>
    </dgm:pt>
    <dgm:pt modelId="{434CE11D-0471-4380-A325-868C6B86F883}" type="pres">
      <dgm:prSet presAssocID="{731A5938-10C6-49EF-A76F-9D165735C9A3}" presName="hierRoot1" presStyleCnt="0"/>
      <dgm:spPr/>
    </dgm:pt>
    <dgm:pt modelId="{85A97221-79F2-4FC0-B42D-9A47F0BA0867}" type="pres">
      <dgm:prSet presAssocID="{731A5938-10C6-49EF-A76F-9D165735C9A3}" presName="composite" presStyleCnt="0"/>
      <dgm:spPr/>
    </dgm:pt>
    <dgm:pt modelId="{A822C619-C1B3-42B5-96E6-8D28EE037657}" type="pres">
      <dgm:prSet presAssocID="{731A5938-10C6-49EF-A76F-9D165735C9A3}" presName="background" presStyleLbl="node0" presStyleIdx="0" presStyleCnt="1"/>
      <dgm:spPr/>
    </dgm:pt>
    <dgm:pt modelId="{CF6DF9E7-AD26-47D0-A51C-917C62C1A9C2}" type="pres">
      <dgm:prSet presAssocID="{731A5938-10C6-49EF-A76F-9D165735C9A3}" presName="text" presStyleLbl="fgAcc0" presStyleIdx="0" presStyleCnt="1">
        <dgm:presLayoutVars>
          <dgm:chPref val="3"/>
        </dgm:presLayoutVars>
      </dgm:prSet>
      <dgm:spPr/>
    </dgm:pt>
    <dgm:pt modelId="{61037030-A901-440A-807B-DBD5F2C58693}" type="pres">
      <dgm:prSet presAssocID="{731A5938-10C6-49EF-A76F-9D165735C9A3}" presName="hierChild2" presStyleCnt="0"/>
      <dgm:spPr/>
    </dgm:pt>
    <dgm:pt modelId="{FCCDDD9C-2988-478F-AC31-6F15D736C1BD}" type="pres">
      <dgm:prSet presAssocID="{3D649D39-1486-49AE-83CA-5EA662AFF09F}" presName="Name10" presStyleLbl="parChTrans1D2" presStyleIdx="0" presStyleCnt="2"/>
      <dgm:spPr/>
    </dgm:pt>
    <dgm:pt modelId="{4BC8E425-97E2-4A2B-A871-CCEB9B093691}" type="pres">
      <dgm:prSet presAssocID="{058FE168-862A-489D-A928-EBCC574419B9}" presName="hierRoot2" presStyleCnt="0"/>
      <dgm:spPr/>
    </dgm:pt>
    <dgm:pt modelId="{10D62AC7-0099-4977-8330-826361C83B06}" type="pres">
      <dgm:prSet presAssocID="{058FE168-862A-489D-A928-EBCC574419B9}" presName="composite2" presStyleCnt="0"/>
      <dgm:spPr/>
    </dgm:pt>
    <dgm:pt modelId="{9CCD74D7-A081-4AB4-A18C-FBC4B1D5712E}" type="pres">
      <dgm:prSet presAssocID="{058FE168-862A-489D-A928-EBCC574419B9}" presName="background2" presStyleLbl="node2" presStyleIdx="0" presStyleCnt="2"/>
      <dgm:spPr/>
    </dgm:pt>
    <dgm:pt modelId="{01EEA055-7962-4AE7-B3BE-ABD9C2517D22}" type="pres">
      <dgm:prSet presAssocID="{058FE168-862A-489D-A928-EBCC574419B9}" presName="text2" presStyleLbl="fgAcc2" presStyleIdx="0" presStyleCnt="2">
        <dgm:presLayoutVars>
          <dgm:chPref val="3"/>
        </dgm:presLayoutVars>
      </dgm:prSet>
      <dgm:spPr/>
    </dgm:pt>
    <dgm:pt modelId="{A9F2FC12-31CF-403C-AFBA-505E41330AC0}" type="pres">
      <dgm:prSet presAssocID="{058FE168-862A-489D-A928-EBCC574419B9}" presName="hierChild3" presStyleCnt="0"/>
      <dgm:spPr/>
    </dgm:pt>
    <dgm:pt modelId="{7BBAB04E-94EC-4BE1-ACBF-E7FC0115A0F1}" type="pres">
      <dgm:prSet presAssocID="{FC190443-4A5E-4368-9341-408C03C79054}" presName="Name10" presStyleLbl="parChTrans1D2" presStyleIdx="1" presStyleCnt="2"/>
      <dgm:spPr/>
    </dgm:pt>
    <dgm:pt modelId="{110CC7A6-0069-4EBE-806B-B6595D055BA3}" type="pres">
      <dgm:prSet presAssocID="{6CD61CEE-2794-4347-AFA4-79C7C242C7B3}" presName="hierRoot2" presStyleCnt="0"/>
      <dgm:spPr/>
    </dgm:pt>
    <dgm:pt modelId="{D3E76DC4-627F-4ECB-AC7A-DF86557FD602}" type="pres">
      <dgm:prSet presAssocID="{6CD61CEE-2794-4347-AFA4-79C7C242C7B3}" presName="composite2" presStyleCnt="0"/>
      <dgm:spPr/>
    </dgm:pt>
    <dgm:pt modelId="{73F3B73A-45AD-4615-A413-051B2773216A}" type="pres">
      <dgm:prSet presAssocID="{6CD61CEE-2794-4347-AFA4-79C7C242C7B3}" presName="background2" presStyleLbl="node2" presStyleIdx="1" presStyleCnt="2"/>
      <dgm:spPr/>
    </dgm:pt>
    <dgm:pt modelId="{032AC25B-7898-4A7F-92FC-18DF4B9E28A6}" type="pres">
      <dgm:prSet presAssocID="{6CD61CEE-2794-4347-AFA4-79C7C242C7B3}" presName="text2" presStyleLbl="fgAcc2" presStyleIdx="1" presStyleCnt="2">
        <dgm:presLayoutVars>
          <dgm:chPref val="3"/>
        </dgm:presLayoutVars>
      </dgm:prSet>
      <dgm:spPr/>
    </dgm:pt>
    <dgm:pt modelId="{FA3EC74A-C242-437E-8152-D83942D3FA26}" type="pres">
      <dgm:prSet presAssocID="{6CD61CEE-2794-4347-AFA4-79C7C242C7B3}" presName="hierChild3" presStyleCnt="0"/>
      <dgm:spPr/>
    </dgm:pt>
  </dgm:ptLst>
  <dgm:cxnLst>
    <dgm:cxn modelId="{ED695D02-682E-467B-8380-BE5CC1AD0FFA}" type="presOf" srcId="{6CD61CEE-2794-4347-AFA4-79C7C242C7B3}" destId="{032AC25B-7898-4A7F-92FC-18DF4B9E28A6}" srcOrd="0" destOrd="0" presId="urn:microsoft.com/office/officeart/2005/8/layout/hierarchy1"/>
    <dgm:cxn modelId="{8680C53E-8AEE-4982-8D7D-98DC8C8788F9}" type="presOf" srcId="{F1BAF782-D2C5-4EDF-ABDC-14C397F35B64}" destId="{43398807-A7B1-456E-AC85-F3F6546AD21B}" srcOrd="0" destOrd="0" presId="urn:microsoft.com/office/officeart/2005/8/layout/hierarchy1"/>
    <dgm:cxn modelId="{B882CA65-1D16-4122-9871-FEE5CF545E9E}" type="presOf" srcId="{731A5938-10C6-49EF-A76F-9D165735C9A3}" destId="{CF6DF9E7-AD26-47D0-A51C-917C62C1A9C2}" srcOrd="0" destOrd="0" presId="urn:microsoft.com/office/officeart/2005/8/layout/hierarchy1"/>
    <dgm:cxn modelId="{5E182C81-19B8-441C-87FE-C745DC07A721}" type="presOf" srcId="{058FE168-862A-489D-A928-EBCC574419B9}" destId="{01EEA055-7962-4AE7-B3BE-ABD9C2517D22}" srcOrd="0" destOrd="0" presId="urn:microsoft.com/office/officeart/2005/8/layout/hierarchy1"/>
    <dgm:cxn modelId="{46F556A6-95CA-4F19-AD97-810AD95AEFFE}" type="presOf" srcId="{3D649D39-1486-49AE-83CA-5EA662AFF09F}" destId="{FCCDDD9C-2988-478F-AC31-6F15D736C1BD}" srcOrd="0" destOrd="0" presId="urn:microsoft.com/office/officeart/2005/8/layout/hierarchy1"/>
    <dgm:cxn modelId="{CB7C70CE-1C30-4C08-9D73-EFC6EC71BC30}" srcId="{731A5938-10C6-49EF-A76F-9D165735C9A3}" destId="{058FE168-862A-489D-A928-EBCC574419B9}" srcOrd="0" destOrd="0" parTransId="{3D649D39-1486-49AE-83CA-5EA662AFF09F}" sibTransId="{4751728D-93C8-40A3-BA51-766D89D269D7}"/>
    <dgm:cxn modelId="{4AB7ACD6-4811-46FD-B075-6D936755581C}" srcId="{731A5938-10C6-49EF-A76F-9D165735C9A3}" destId="{6CD61CEE-2794-4347-AFA4-79C7C242C7B3}" srcOrd="1" destOrd="0" parTransId="{FC190443-4A5E-4368-9341-408C03C79054}" sibTransId="{30D352AA-61A5-469A-B81A-E897CDBA4212}"/>
    <dgm:cxn modelId="{A08C07FA-51F6-4F7F-84CD-15301D5B0D23}" type="presOf" srcId="{FC190443-4A5E-4368-9341-408C03C79054}" destId="{7BBAB04E-94EC-4BE1-ACBF-E7FC0115A0F1}" srcOrd="0" destOrd="0" presId="urn:microsoft.com/office/officeart/2005/8/layout/hierarchy1"/>
    <dgm:cxn modelId="{3997A6FB-445B-45E5-815E-137CBB2259E9}" srcId="{F1BAF782-D2C5-4EDF-ABDC-14C397F35B64}" destId="{731A5938-10C6-49EF-A76F-9D165735C9A3}" srcOrd="0" destOrd="0" parTransId="{D0F1BD9D-4DF1-41AB-B806-75D372F25EFF}" sibTransId="{CF9B8650-6918-4F1B-B585-5A29BEF15EF8}"/>
    <dgm:cxn modelId="{A33EF183-2AC4-4452-A981-F1D3A05CE4BB}" type="presParOf" srcId="{43398807-A7B1-456E-AC85-F3F6546AD21B}" destId="{434CE11D-0471-4380-A325-868C6B86F883}" srcOrd="0" destOrd="0" presId="urn:microsoft.com/office/officeart/2005/8/layout/hierarchy1"/>
    <dgm:cxn modelId="{DEDF8FD4-7E23-42AD-AABE-195954D05C9B}" type="presParOf" srcId="{434CE11D-0471-4380-A325-868C6B86F883}" destId="{85A97221-79F2-4FC0-B42D-9A47F0BA0867}" srcOrd="0" destOrd="0" presId="urn:microsoft.com/office/officeart/2005/8/layout/hierarchy1"/>
    <dgm:cxn modelId="{773BB409-477D-4A70-853A-E45AA809808B}" type="presParOf" srcId="{85A97221-79F2-4FC0-B42D-9A47F0BA0867}" destId="{A822C619-C1B3-42B5-96E6-8D28EE037657}" srcOrd="0" destOrd="0" presId="urn:microsoft.com/office/officeart/2005/8/layout/hierarchy1"/>
    <dgm:cxn modelId="{82AE55EC-4AFD-40CE-9468-ABF440679C48}" type="presParOf" srcId="{85A97221-79F2-4FC0-B42D-9A47F0BA0867}" destId="{CF6DF9E7-AD26-47D0-A51C-917C62C1A9C2}" srcOrd="1" destOrd="0" presId="urn:microsoft.com/office/officeart/2005/8/layout/hierarchy1"/>
    <dgm:cxn modelId="{AECAC1A2-6B6C-48DC-AD16-EA44D8F62B1F}" type="presParOf" srcId="{434CE11D-0471-4380-A325-868C6B86F883}" destId="{61037030-A901-440A-807B-DBD5F2C58693}" srcOrd="1" destOrd="0" presId="urn:microsoft.com/office/officeart/2005/8/layout/hierarchy1"/>
    <dgm:cxn modelId="{C0249055-CDD3-4F4A-B8DF-F1C338F0F0E9}" type="presParOf" srcId="{61037030-A901-440A-807B-DBD5F2C58693}" destId="{FCCDDD9C-2988-478F-AC31-6F15D736C1BD}" srcOrd="0" destOrd="0" presId="urn:microsoft.com/office/officeart/2005/8/layout/hierarchy1"/>
    <dgm:cxn modelId="{D5CA45C8-29ED-44CA-9FF7-45555721578E}" type="presParOf" srcId="{61037030-A901-440A-807B-DBD5F2C58693}" destId="{4BC8E425-97E2-4A2B-A871-CCEB9B093691}" srcOrd="1" destOrd="0" presId="urn:microsoft.com/office/officeart/2005/8/layout/hierarchy1"/>
    <dgm:cxn modelId="{C9B0380E-0725-4173-A28C-6A30D655D1B2}" type="presParOf" srcId="{4BC8E425-97E2-4A2B-A871-CCEB9B093691}" destId="{10D62AC7-0099-4977-8330-826361C83B06}" srcOrd="0" destOrd="0" presId="urn:microsoft.com/office/officeart/2005/8/layout/hierarchy1"/>
    <dgm:cxn modelId="{100D78B6-A907-443A-84B9-10FE9DF58EDC}" type="presParOf" srcId="{10D62AC7-0099-4977-8330-826361C83B06}" destId="{9CCD74D7-A081-4AB4-A18C-FBC4B1D5712E}" srcOrd="0" destOrd="0" presId="urn:microsoft.com/office/officeart/2005/8/layout/hierarchy1"/>
    <dgm:cxn modelId="{1BD59936-0167-472D-B5A5-24F01FD0C3DF}" type="presParOf" srcId="{10D62AC7-0099-4977-8330-826361C83B06}" destId="{01EEA055-7962-4AE7-B3BE-ABD9C2517D22}" srcOrd="1" destOrd="0" presId="urn:microsoft.com/office/officeart/2005/8/layout/hierarchy1"/>
    <dgm:cxn modelId="{B439B693-73D2-49D1-BF6A-EFFE1E9214E7}" type="presParOf" srcId="{4BC8E425-97E2-4A2B-A871-CCEB9B093691}" destId="{A9F2FC12-31CF-403C-AFBA-505E41330AC0}" srcOrd="1" destOrd="0" presId="urn:microsoft.com/office/officeart/2005/8/layout/hierarchy1"/>
    <dgm:cxn modelId="{D5A92C0E-E8DE-4403-BB27-E85E266E2A00}" type="presParOf" srcId="{61037030-A901-440A-807B-DBD5F2C58693}" destId="{7BBAB04E-94EC-4BE1-ACBF-E7FC0115A0F1}" srcOrd="2" destOrd="0" presId="urn:microsoft.com/office/officeart/2005/8/layout/hierarchy1"/>
    <dgm:cxn modelId="{B739D4A1-AA91-43ED-A7A5-706843297537}" type="presParOf" srcId="{61037030-A901-440A-807B-DBD5F2C58693}" destId="{110CC7A6-0069-4EBE-806B-B6595D055BA3}" srcOrd="3" destOrd="0" presId="urn:microsoft.com/office/officeart/2005/8/layout/hierarchy1"/>
    <dgm:cxn modelId="{CA4BDB25-8024-49B5-B0AD-E765F945CB70}" type="presParOf" srcId="{110CC7A6-0069-4EBE-806B-B6595D055BA3}" destId="{D3E76DC4-627F-4ECB-AC7A-DF86557FD602}" srcOrd="0" destOrd="0" presId="urn:microsoft.com/office/officeart/2005/8/layout/hierarchy1"/>
    <dgm:cxn modelId="{51940E12-5377-4D53-BB8B-FC1EB6093EE6}" type="presParOf" srcId="{D3E76DC4-627F-4ECB-AC7A-DF86557FD602}" destId="{73F3B73A-45AD-4615-A413-051B2773216A}" srcOrd="0" destOrd="0" presId="urn:microsoft.com/office/officeart/2005/8/layout/hierarchy1"/>
    <dgm:cxn modelId="{288F3FDC-D011-4E61-8579-18934FD41E8D}" type="presParOf" srcId="{D3E76DC4-627F-4ECB-AC7A-DF86557FD602}" destId="{032AC25B-7898-4A7F-92FC-18DF4B9E28A6}" srcOrd="1" destOrd="0" presId="urn:microsoft.com/office/officeart/2005/8/layout/hierarchy1"/>
    <dgm:cxn modelId="{DF11A68F-D9C5-4565-8A00-196E290F9185}" type="presParOf" srcId="{110CC7A6-0069-4EBE-806B-B6595D055BA3}" destId="{FA3EC74A-C242-437E-8152-D83942D3FA26}"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A17255-E406-44EA-AD3D-159CE436016B}">
      <dsp:nvSpPr>
        <dsp:cNvPr id="0" name=""/>
        <dsp:cNvSpPr/>
      </dsp:nvSpPr>
      <dsp:spPr>
        <a:xfrm>
          <a:off x="3251199" y="0"/>
          <a:ext cx="1625599" cy="1083733"/>
        </a:xfrm>
        <a:prstGeom prst="trapezoid">
          <a:avLst>
            <a:gd name="adj" fmla="val 75000"/>
          </a:avLst>
        </a:prstGeom>
        <a:solidFill>
          <a:schemeClr val="accent1">
            <a:alpha val="9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Summarize</a:t>
          </a:r>
        </a:p>
      </dsp:txBody>
      <dsp:txXfrm>
        <a:off x="3251199" y="0"/>
        <a:ext cx="1625599" cy="1083733"/>
      </dsp:txXfrm>
    </dsp:sp>
    <dsp:sp modelId="{F61C28D8-D56B-4D0D-9DEC-7CC6E8AE70C1}">
      <dsp:nvSpPr>
        <dsp:cNvPr id="0" name=""/>
        <dsp:cNvSpPr/>
      </dsp:nvSpPr>
      <dsp:spPr>
        <a:xfrm>
          <a:off x="2438400" y="1083733"/>
          <a:ext cx="3251199" cy="1083733"/>
        </a:xfrm>
        <a:prstGeom prst="trapezoid">
          <a:avLst>
            <a:gd name="adj" fmla="val 75000"/>
          </a:avLst>
        </a:prstGeom>
        <a:solidFill>
          <a:schemeClr val="accent1">
            <a:alpha val="90000"/>
            <a:hueOff val="0"/>
            <a:satOff val="0"/>
            <a:lumOff val="0"/>
            <a:alphaOff val="-1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Quantify</a:t>
          </a:r>
        </a:p>
      </dsp:txBody>
      <dsp:txXfrm>
        <a:off x="3007360" y="1083733"/>
        <a:ext cx="2113280" cy="1083733"/>
      </dsp:txXfrm>
    </dsp:sp>
    <dsp:sp modelId="{F083C13B-40C9-4B59-8132-1532C8B6D4CB}">
      <dsp:nvSpPr>
        <dsp:cNvPr id="0" name=""/>
        <dsp:cNvSpPr/>
      </dsp:nvSpPr>
      <dsp:spPr>
        <a:xfrm>
          <a:off x="1625600" y="2167466"/>
          <a:ext cx="4876799" cy="1083733"/>
        </a:xfrm>
        <a:prstGeom prst="trapezoid">
          <a:avLst>
            <a:gd name="adj" fmla="val 75000"/>
          </a:avLst>
        </a:prstGeom>
        <a:solidFill>
          <a:schemeClr val="accent1">
            <a:alpha val="90000"/>
            <a:hueOff val="0"/>
            <a:satOff val="0"/>
            <a:lumOff val="0"/>
            <a:alphaOff val="-2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Analyze</a:t>
          </a:r>
        </a:p>
      </dsp:txBody>
      <dsp:txXfrm>
        <a:off x="2479039" y="2167466"/>
        <a:ext cx="3169919" cy="1083733"/>
      </dsp:txXfrm>
    </dsp:sp>
    <dsp:sp modelId="{E5BF963A-6432-4564-BCD0-351B368ADF34}">
      <dsp:nvSpPr>
        <dsp:cNvPr id="0" name=""/>
        <dsp:cNvSpPr/>
      </dsp:nvSpPr>
      <dsp:spPr>
        <a:xfrm>
          <a:off x="812800" y="3251200"/>
          <a:ext cx="6502399" cy="1083733"/>
        </a:xfrm>
        <a:prstGeom prst="trapezoid">
          <a:avLst>
            <a:gd name="adj" fmla="val 75000"/>
          </a:avLst>
        </a:prstGeom>
        <a:solidFill>
          <a:schemeClr val="accent1">
            <a:alpha val="90000"/>
            <a:hueOff val="0"/>
            <a:satOff val="0"/>
            <a:lumOff val="0"/>
            <a:alphaOff val="-3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Validate</a:t>
          </a:r>
        </a:p>
      </dsp:txBody>
      <dsp:txXfrm>
        <a:off x="1950719" y="3251200"/>
        <a:ext cx="4226560" cy="1083733"/>
      </dsp:txXfrm>
    </dsp:sp>
    <dsp:sp modelId="{DA24A440-D88E-45F1-AC9B-A534A636C6F8}">
      <dsp:nvSpPr>
        <dsp:cNvPr id="0" name=""/>
        <dsp:cNvSpPr/>
      </dsp:nvSpPr>
      <dsp:spPr>
        <a:xfrm>
          <a:off x="0" y="4334933"/>
          <a:ext cx="8128000" cy="1083733"/>
        </a:xfrm>
        <a:prstGeom prst="trapezoid">
          <a:avLst>
            <a:gd name="adj" fmla="val 75000"/>
          </a:avLst>
        </a:prstGeom>
        <a:solidFill>
          <a:schemeClr val="accent1">
            <a:alpha val="90000"/>
            <a:hueOff val="0"/>
            <a:satOff val="0"/>
            <a:lumOff val="0"/>
            <a:alphaOff val="-4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l" defTabSz="1111250">
            <a:lnSpc>
              <a:spcPct val="90000"/>
            </a:lnSpc>
            <a:spcBef>
              <a:spcPct val="0"/>
            </a:spcBef>
            <a:spcAft>
              <a:spcPct val="35000"/>
            </a:spcAft>
            <a:buNone/>
          </a:pPr>
          <a:r>
            <a:rPr lang="en-US" sz="2500" kern="1200" dirty="0"/>
            <a:t>Ingest</a:t>
          </a:r>
        </a:p>
      </dsp:txBody>
      <dsp:txXfrm>
        <a:off x="1422399" y="4334933"/>
        <a:ext cx="5283200" cy="108373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BAB04E-94EC-4BE1-ACBF-E7FC0115A0F1}">
      <dsp:nvSpPr>
        <dsp:cNvPr id="0" name=""/>
        <dsp:cNvSpPr/>
      </dsp:nvSpPr>
      <dsp:spPr>
        <a:xfrm>
          <a:off x="3607527" y="1223190"/>
          <a:ext cx="1177116" cy="560200"/>
        </a:xfrm>
        <a:custGeom>
          <a:avLst/>
          <a:gdLst/>
          <a:ahLst/>
          <a:cxnLst/>
          <a:rect l="0" t="0" r="0" b="0"/>
          <a:pathLst>
            <a:path>
              <a:moveTo>
                <a:pt x="0" y="0"/>
              </a:moveTo>
              <a:lnTo>
                <a:pt x="0" y="381760"/>
              </a:lnTo>
              <a:lnTo>
                <a:pt x="1177116" y="381760"/>
              </a:lnTo>
              <a:lnTo>
                <a:pt x="1177116" y="56020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CCDDD9C-2988-478F-AC31-6F15D736C1BD}">
      <dsp:nvSpPr>
        <dsp:cNvPr id="0" name=""/>
        <dsp:cNvSpPr/>
      </dsp:nvSpPr>
      <dsp:spPr>
        <a:xfrm>
          <a:off x="2430410" y="1223190"/>
          <a:ext cx="1177116" cy="560200"/>
        </a:xfrm>
        <a:custGeom>
          <a:avLst/>
          <a:gdLst/>
          <a:ahLst/>
          <a:cxnLst/>
          <a:rect l="0" t="0" r="0" b="0"/>
          <a:pathLst>
            <a:path>
              <a:moveTo>
                <a:pt x="1177116" y="0"/>
              </a:moveTo>
              <a:lnTo>
                <a:pt x="1177116" y="381760"/>
              </a:lnTo>
              <a:lnTo>
                <a:pt x="0" y="381760"/>
              </a:lnTo>
              <a:lnTo>
                <a:pt x="0" y="56020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822C619-C1B3-42B5-96E6-8D28EE037657}">
      <dsp:nvSpPr>
        <dsp:cNvPr id="0" name=""/>
        <dsp:cNvSpPr/>
      </dsp:nvSpPr>
      <dsp:spPr>
        <a:xfrm>
          <a:off x="2644431" y="59"/>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6DF9E7-AD26-47D0-A51C-917C62C1A9C2}">
      <dsp:nvSpPr>
        <dsp:cNvPr id="0" name=""/>
        <dsp:cNvSpPr/>
      </dsp:nvSpPr>
      <dsp:spPr>
        <a:xfrm>
          <a:off x="2858453" y="203379"/>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“New” records in Carrier Claims Post Migration</a:t>
          </a:r>
        </a:p>
      </dsp:txBody>
      <dsp:txXfrm>
        <a:off x="2894277" y="239203"/>
        <a:ext cx="1854543" cy="1151483"/>
      </dsp:txXfrm>
    </dsp:sp>
    <dsp:sp modelId="{9CCD74D7-A081-4AB4-A18C-FBC4B1D5712E}">
      <dsp:nvSpPr>
        <dsp:cNvPr id="0" name=""/>
        <dsp:cNvSpPr/>
      </dsp:nvSpPr>
      <dsp:spPr>
        <a:xfrm>
          <a:off x="1467315" y="1783391"/>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EEA055-7962-4AE7-B3BE-ABD9C2517D22}">
      <dsp:nvSpPr>
        <dsp:cNvPr id="0" name=""/>
        <dsp:cNvSpPr/>
      </dsp:nvSpPr>
      <dsp:spPr>
        <a:xfrm>
          <a:off x="1681336" y="1986711"/>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4,777 orphans w/  2-key match </a:t>
          </a:r>
        </a:p>
        <a:p>
          <a:pPr marL="0" lvl="0" indent="0" algn="ctr" defTabSz="444500">
            <a:lnSpc>
              <a:spcPct val="90000"/>
            </a:lnSpc>
            <a:spcBef>
              <a:spcPct val="0"/>
            </a:spcBef>
            <a:spcAft>
              <a:spcPct val="35000"/>
            </a:spcAft>
            <a:buNone/>
          </a:pPr>
          <a:r>
            <a:rPr lang="en-US" sz="1000" kern="1200" dirty="0"/>
            <a:t>(DESYNPUF_ID | CLM_ID)</a:t>
          </a:r>
          <a:endParaRPr lang="en-US" sz="1200" kern="1200" dirty="0"/>
        </a:p>
      </dsp:txBody>
      <dsp:txXfrm>
        <a:off x="1717160" y="2022535"/>
        <a:ext cx="1854543" cy="1151483"/>
      </dsp:txXfrm>
    </dsp:sp>
    <dsp:sp modelId="{73F3B73A-45AD-4615-A413-051B2773216A}">
      <dsp:nvSpPr>
        <dsp:cNvPr id="0" name=""/>
        <dsp:cNvSpPr/>
      </dsp:nvSpPr>
      <dsp:spPr>
        <a:xfrm>
          <a:off x="3821548" y="1783391"/>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32AC25B-7898-4A7F-92FC-18DF4B9E28A6}">
      <dsp:nvSpPr>
        <dsp:cNvPr id="0" name=""/>
        <dsp:cNvSpPr/>
      </dsp:nvSpPr>
      <dsp:spPr>
        <a:xfrm>
          <a:off x="4035569" y="1986711"/>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5,242 orphans w/ 4-key match</a:t>
          </a:r>
          <a:r>
            <a:rPr lang="en-US" sz="700" kern="1200" dirty="0"/>
            <a:t> </a:t>
          </a:r>
        </a:p>
        <a:p>
          <a:pPr marL="0" lvl="0" indent="0" algn="ctr" defTabSz="444500">
            <a:lnSpc>
              <a:spcPct val="90000"/>
            </a:lnSpc>
            <a:spcBef>
              <a:spcPct val="0"/>
            </a:spcBef>
            <a:spcAft>
              <a:spcPct val="35000"/>
            </a:spcAft>
            <a:buNone/>
          </a:pPr>
          <a:r>
            <a:rPr lang="en-US" sz="1000" kern="1200" dirty="0"/>
            <a:t>(DESYNPUF_ID | CLM_ID | CLM_FROM_DT | CLM_THRU_DT)</a:t>
          </a:r>
          <a:endParaRPr lang="en-US" sz="1200" kern="1200" dirty="0"/>
        </a:p>
      </dsp:txBody>
      <dsp:txXfrm>
        <a:off x="4071393" y="2022535"/>
        <a:ext cx="1854543" cy="1151483"/>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97C371-377D-42B4-B603-96E3B3AFE44E}" type="datetimeFigureOut">
              <a:rPr lang="en-US" smtClean="0"/>
              <a:t>2/11/2026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BF846D-1B31-4DC0-9BDF-7C7FAF0322F3}" type="slidenum">
              <a:rPr lang="en-US" smtClean="0"/>
              <a:t>‹#›</a:t>
            </a:fld>
            <a:endParaRPr lang="en-US"/>
          </a:p>
        </p:txBody>
      </p:sp>
    </p:spTree>
    <p:extLst>
      <p:ext uri="{BB962C8B-B14F-4D97-AF65-F5344CB8AC3E}">
        <p14:creationId xmlns:p14="http://schemas.microsoft.com/office/powerpoint/2010/main" val="1918959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Ingested CSV files into </a:t>
            </a:r>
            <a:r>
              <a:rPr lang="en-US" dirty="0" err="1"/>
              <a:t>duckdb</a:t>
            </a:r>
            <a:r>
              <a:rPr lang="en-US" dirty="0"/>
              <a:t> database utilizing python.</a:t>
            </a:r>
          </a:p>
          <a:p>
            <a:r>
              <a:rPr lang="en-US" dirty="0"/>
              <a:t>Validated row counts and row sums matched between CSV and ingested data, validating ingestion quality.</a:t>
            </a:r>
          </a:p>
          <a:p>
            <a:r>
              <a:rPr lang="en-US" dirty="0"/>
              <a:t>Performed deep dive analysis utilizing python and SQL:</a:t>
            </a:r>
          </a:p>
          <a:p>
            <a:pPr lvl="1"/>
            <a:r>
              <a:rPr lang="en-US" dirty="0"/>
              <a:t>Identified every row and column that does not match between the legacy “source” and the “new” data.</a:t>
            </a:r>
          </a:p>
          <a:p>
            <a:pPr lvl="1"/>
            <a:r>
              <a:rPr lang="en-US" dirty="0"/>
              <a:t>Produced lists of variances.</a:t>
            </a:r>
          </a:p>
          <a:p>
            <a:pPr lvl="1"/>
            <a:r>
              <a:rPr lang="en-US" dirty="0"/>
              <a:t>Analyzed the PDF files for key themes. </a:t>
            </a:r>
          </a:p>
          <a:p>
            <a:pPr lvl="1"/>
            <a:r>
              <a:rPr lang="en-US" dirty="0"/>
              <a:t>Analyzed financial impact variances by column.</a:t>
            </a:r>
          </a:p>
        </p:txBody>
      </p:sp>
      <p:sp>
        <p:nvSpPr>
          <p:cNvPr id="4" name="Slide Number Placeholder 3"/>
          <p:cNvSpPr>
            <a:spLocks noGrp="1"/>
          </p:cNvSpPr>
          <p:nvPr>
            <p:ph type="sldNum" sz="quarter" idx="5"/>
          </p:nvPr>
        </p:nvSpPr>
        <p:spPr/>
        <p:txBody>
          <a:bodyPr/>
          <a:lstStyle/>
          <a:p>
            <a:fld id="{A9BF846D-1B31-4DC0-9BDF-7C7FAF0322F3}" type="slidenum">
              <a:rPr lang="en-US" smtClean="0"/>
              <a:t>3</a:t>
            </a:fld>
            <a:endParaRPr lang="en-US"/>
          </a:p>
        </p:txBody>
      </p:sp>
    </p:spTree>
    <p:extLst>
      <p:ext uri="{BB962C8B-B14F-4D97-AF65-F5344CB8AC3E}">
        <p14:creationId xmlns:p14="http://schemas.microsoft.com/office/powerpoint/2010/main" val="900972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611A1-464D-BCDF-A8C9-CD8C57D98D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B98FC22-6441-74E7-0E60-51A9A19185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2171006-42E3-1A00-4BA6-10BC4E1C1DF3}"/>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49F48D7A-F2EA-1299-4D21-6609CD2EFB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68BB1-10FC-9A99-1116-F0A26DA5170C}"/>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265471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82FA9-D8B4-9E12-DC0E-5A46DC5FE0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84C7315-D709-4F1C-4DF5-76FFD1DA777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0453B8-77B4-23F5-1271-55A5EFA882CA}"/>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2545CE20-3B07-A26A-71E4-1F86F0CD61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EA8F44-8B6B-DDDB-9137-C3FA9E7CC5EB}"/>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4428728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95097-ACB8-45BE-79BC-88FF0F9DC66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44D337E-C55E-3920-B058-3750CD070E5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58A04C-80D3-0EF7-3CE4-96FBAF7C06B4}"/>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3F5A60C1-8009-7564-36EF-CE00DDA988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84F84B-4D46-0AA9-C735-0AC18E43E915}"/>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890332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43E3D-83AF-00B4-ECF5-65325190EA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147F581-B9FC-0878-2182-ABB9678744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D2865BC-08C0-B984-92AC-88671761238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0259F6-6C09-E617-6F20-055B9848B552}"/>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6" name="Footer Placeholder 5">
            <a:extLst>
              <a:ext uri="{FF2B5EF4-FFF2-40B4-BE49-F238E27FC236}">
                <a16:creationId xmlns:a16="http://schemas.microsoft.com/office/drawing/2014/main" id="{0A285142-C767-6B41-5379-2FC1C5231A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B5800F-88DB-C529-4ED6-8E293A0B52BC}"/>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3239011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174FE-7A48-3C05-E647-65650FC9C4B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753E861-F5B1-CD5D-E3F4-216486666C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7DF7B72-B12C-5591-F0C1-19CBB4B3E4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121C4E5-907F-076B-8DD3-D5FAE347CED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974338-F26F-C05F-93C5-B6C2A7A6F4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BDD588-C4EC-DAAA-F438-62C072DF12F1}"/>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8" name="Footer Placeholder 7">
            <a:extLst>
              <a:ext uri="{FF2B5EF4-FFF2-40B4-BE49-F238E27FC236}">
                <a16:creationId xmlns:a16="http://schemas.microsoft.com/office/drawing/2014/main" id="{79F9CCCF-6E6A-74A5-0F39-FA6244E417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DF7D432-77E7-BA03-2C44-CE81A3F25434}"/>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34550292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6442-1FFD-8297-7FD1-07470C2F3AA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91DDEC-AE61-1D48-1F0E-9DE45CFB6E3D}"/>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4" name="Footer Placeholder 3">
            <a:extLst>
              <a:ext uri="{FF2B5EF4-FFF2-40B4-BE49-F238E27FC236}">
                <a16:creationId xmlns:a16="http://schemas.microsoft.com/office/drawing/2014/main" id="{78290989-A46A-B2C3-BE52-AC203E2214B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F0BE70-04D0-0883-2BDA-AC769EA0916B}"/>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390176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B5C5B1-CFED-25F1-6C76-687598F8DBBF}"/>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3" name="Footer Placeholder 2">
            <a:extLst>
              <a:ext uri="{FF2B5EF4-FFF2-40B4-BE49-F238E27FC236}">
                <a16:creationId xmlns:a16="http://schemas.microsoft.com/office/drawing/2014/main" id="{2670FB64-2244-435A-1E71-509B95E8310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B0CCAAB-27D1-D57A-28F3-E9E928490C8E}"/>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4085334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0F0BC-6851-8EBF-F448-C1EF86FC66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25B10F-211B-4F73-4DB6-62E8014150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2A3B35-B6A5-E30A-F1F6-6A1049D11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F31589-1F4A-2AA5-1EC6-2241860FC43F}"/>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6" name="Footer Placeholder 5">
            <a:extLst>
              <a:ext uri="{FF2B5EF4-FFF2-40B4-BE49-F238E27FC236}">
                <a16:creationId xmlns:a16="http://schemas.microsoft.com/office/drawing/2014/main" id="{2155852E-5E15-8FFD-DDAB-5F5A8DA47DD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C36DED-B9E0-5395-CFC3-462D36163FC9}"/>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561524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E0088-483F-B7FD-68F2-5800831244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C4707C-6B3E-8B8B-99ED-15A4F733112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7E5642-4885-18D4-492B-B0BAB3293F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CE829F-D788-058C-023C-F90E651E2A6E}"/>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6" name="Footer Placeholder 5">
            <a:extLst>
              <a:ext uri="{FF2B5EF4-FFF2-40B4-BE49-F238E27FC236}">
                <a16:creationId xmlns:a16="http://schemas.microsoft.com/office/drawing/2014/main" id="{2688F9C1-8577-9ED0-85C1-070CC2B776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AB0139-E37F-A284-5225-5B8261B8319F}"/>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429571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17BD7-E224-7492-406B-CDF3126FB8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5F4B33-857B-A655-F4CD-A243C9EBF7F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23791D-763E-8147-BC45-E60F9BD23B54}"/>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6DEDCC3C-38B2-AE09-DF2F-C0E50D66A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209F3-4582-B4A9-EE02-36BAF0256D2D}"/>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1878216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9FE796-FDD8-0F6C-875F-B432A24E828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BA343F-E4F3-635B-5C17-8D01D09AB01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7B937-7754-8D9A-8ADC-95AA4617DF70}"/>
              </a:ext>
            </a:extLst>
          </p:cNvPr>
          <p:cNvSpPr>
            <a:spLocks noGrp="1"/>
          </p:cNvSpPr>
          <p:nvPr>
            <p:ph type="dt" sz="half" idx="10"/>
          </p:nvPr>
        </p:nvSpPr>
        <p:spPr/>
        <p:txBody>
          <a:body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4A0D2800-A8A8-5EAA-8015-F8EB32591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4F7ECD-4FEE-91F3-A19C-8B9D3473835D}"/>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0925452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C57983-2B97-0CBC-0AF6-A902322977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9C1D507-809E-8FC5-4245-396D55A2C9A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1CC415-EA71-E13F-32E9-94875592D6B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141ACE-BD5A-498F-9D25-459E6F8C94AF}" type="datetimeFigureOut">
              <a:rPr lang="en-US" smtClean="0"/>
              <a:t>2/11/2026</a:t>
            </a:fld>
            <a:endParaRPr lang="en-US"/>
          </a:p>
        </p:txBody>
      </p:sp>
      <p:sp>
        <p:nvSpPr>
          <p:cNvPr id="5" name="Footer Placeholder 4">
            <a:extLst>
              <a:ext uri="{FF2B5EF4-FFF2-40B4-BE49-F238E27FC236}">
                <a16:creationId xmlns:a16="http://schemas.microsoft.com/office/drawing/2014/main" id="{19D27E73-93E8-3AE9-27CB-22109521F5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196C896-0602-2350-B67F-C546E69238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AA4AD6-C39B-427F-B3B4-28FEEEBC3167}" type="slidenum">
              <a:rPr lang="en-US" smtClean="0"/>
              <a:t>‹#›</a:t>
            </a:fld>
            <a:endParaRPr lang="en-US"/>
          </a:p>
        </p:txBody>
      </p:sp>
    </p:spTree>
    <p:extLst>
      <p:ext uri="{BB962C8B-B14F-4D97-AF65-F5344CB8AC3E}">
        <p14:creationId xmlns:p14="http://schemas.microsoft.com/office/powerpoint/2010/main" val="3890414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4/relationships/chartEx" Target="../charts/chartEx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4/relationships/chartEx" Target="../charts/chartEx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424CBA3-DB0C-7EF0-CAE8-AC3C090DB8F8}"/>
              </a:ext>
            </a:extLst>
          </p:cNvPr>
          <p:cNvSpPr>
            <a:spLocks noGrp="1"/>
          </p:cNvSpPr>
          <p:nvPr>
            <p:ph type="ctrTitle"/>
          </p:nvPr>
        </p:nvSpPr>
        <p:spPr>
          <a:xfrm>
            <a:off x="1127208" y="857251"/>
            <a:ext cx="4747280" cy="3098061"/>
          </a:xfrm>
        </p:spPr>
        <p:txBody>
          <a:bodyPr anchor="b">
            <a:normAutofit/>
          </a:bodyPr>
          <a:lstStyle/>
          <a:p>
            <a:pPr algn="l"/>
            <a:r>
              <a:rPr lang="en-US" sz="4800">
                <a:solidFill>
                  <a:srgbClr val="FFFFFF"/>
                </a:solidFill>
              </a:rPr>
              <a:t>Data Migration Quality Analysis</a:t>
            </a:r>
          </a:p>
        </p:txBody>
      </p:sp>
      <p:sp>
        <p:nvSpPr>
          <p:cNvPr id="30" name="Rectangle 29">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CD32BC7D-F2A7-1D14-1F28-3FFFFCF9650D}"/>
              </a:ext>
            </a:extLst>
          </p:cNvPr>
          <p:cNvSpPr>
            <a:spLocks noGrp="1"/>
          </p:cNvSpPr>
          <p:nvPr>
            <p:ph type="subTitle" idx="1"/>
          </p:nvPr>
        </p:nvSpPr>
        <p:spPr>
          <a:xfrm>
            <a:off x="1127208" y="4756265"/>
            <a:ext cx="4393278" cy="1244483"/>
          </a:xfrm>
        </p:spPr>
        <p:txBody>
          <a:bodyPr anchor="t">
            <a:normAutofit/>
          </a:bodyPr>
          <a:lstStyle/>
          <a:p>
            <a:pPr algn="l"/>
            <a:r>
              <a:rPr lang="en-US" dirty="0">
                <a:solidFill>
                  <a:srgbClr val="FFFFFF"/>
                </a:solidFill>
              </a:rPr>
              <a:t>Presented by Jeffrey Benson</a:t>
            </a:r>
          </a:p>
        </p:txBody>
      </p:sp>
      <p:sp>
        <p:nvSpPr>
          <p:cNvPr id="32" name="Oval 31">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Database">
            <a:extLst>
              <a:ext uri="{FF2B5EF4-FFF2-40B4-BE49-F238E27FC236}">
                <a16:creationId xmlns:a16="http://schemas.microsoft.com/office/drawing/2014/main" id="{C7D1F939-B143-89A3-DC38-6A01397C297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1874" y="2108877"/>
            <a:ext cx="2654533" cy="2654533"/>
          </a:xfrm>
          <a:prstGeom prst="rect">
            <a:avLst/>
          </a:prstGeom>
        </p:spPr>
      </p:pic>
      <p:sp>
        <p:nvSpPr>
          <p:cNvPr id="4" name="Subtitle 2">
            <a:extLst>
              <a:ext uri="{FF2B5EF4-FFF2-40B4-BE49-F238E27FC236}">
                <a16:creationId xmlns:a16="http://schemas.microsoft.com/office/drawing/2014/main" id="{C8410DDE-C85F-22F9-6AFA-7A4526D3CA53}"/>
              </a:ext>
            </a:extLst>
          </p:cNvPr>
          <p:cNvSpPr txBox="1">
            <a:spLocks/>
          </p:cNvSpPr>
          <p:nvPr/>
        </p:nvSpPr>
        <p:spPr>
          <a:xfrm>
            <a:off x="6574587" y="5145532"/>
            <a:ext cx="4805691" cy="838831"/>
          </a:xfrm>
          <a:prstGeom prst="rect">
            <a:avLst/>
          </a:prstGeom>
        </p:spPr>
        <p:txBody>
          <a:bodyPr vert="horz" lIns="91440" tIns="45720" rIns="91440" bIns="45720" rtlCol="0" anchor="b">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2000" dirty="0">
              <a:solidFill>
                <a:schemeClr val="tx2"/>
              </a:solidFill>
            </a:endParaRPr>
          </a:p>
        </p:txBody>
      </p:sp>
    </p:spTree>
    <p:extLst>
      <p:ext uri="{BB962C8B-B14F-4D97-AF65-F5344CB8AC3E}">
        <p14:creationId xmlns:p14="http://schemas.microsoft.com/office/powerpoint/2010/main" val="27937611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E6014F-CE75-45AD-E5E6-4B6834518038}"/>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6000" kern="1200">
                <a:solidFill>
                  <a:schemeClr val="tx1"/>
                </a:solidFill>
                <a:latin typeface="+mj-lt"/>
                <a:ea typeface="+mj-ea"/>
                <a:cs typeface="+mj-cs"/>
              </a:rPr>
              <a:t>Agenda</a:t>
            </a:r>
          </a:p>
        </p:txBody>
      </p:sp>
      <p:grpSp>
        <p:nvGrpSpPr>
          <p:cNvPr id="17" name="Group 16">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8" name="Straight Connector 17">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1" name="Rectangle 20">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4">
            <a:extLst>
              <a:ext uri="{FF2B5EF4-FFF2-40B4-BE49-F238E27FC236}">
                <a16:creationId xmlns:a16="http://schemas.microsoft.com/office/drawing/2014/main" id="{A8DF96B7-5617-423D-9667-27EE0B8C1BCC}"/>
              </a:ext>
            </a:extLst>
          </p:cNvPr>
          <p:cNvGraphicFramePr>
            <a:graphicFrameLocks noGrp="1"/>
          </p:cNvGraphicFramePr>
          <p:nvPr>
            <p:ph idx="1"/>
            <p:extLst>
              <p:ext uri="{D42A27DB-BD31-4B8C-83A1-F6EECF244321}">
                <p14:modId xmlns:p14="http://schemas.microsoft.com/office/powerpoint/2010/main" val="830883467"/>
              </p:ext>
              <p:ext uri="{E7BDC344-281C-4309-B0C6-D0EE65EED2A8}">
                <p202:designPr xmlns:p202="http://schemas.microsoft.com/office/powerpoint/2020/02/main">
                  <p202:designTagLst>
                    <p202:designTag name="ARCH:1:CLS" val="StackedSequentialRowTable"/>
                  </p202:designTagLst>
                </p202:designPr>
              </p:ext>
            </p:extLst>
          </p:nvPr>
        </p:nvGraphicFramePr>
        <p:xfrm>
          <a:off x="2338280" y="1809081"/>
          <a:ext cx="2698968" cy="3294128"/>
        </p:xfrm>
        <a:graphic>
          <a:graphicData uri="http://schemas.openxmlformats.org/drawingml/2006/table">
            <a:tbl>
              <a:tblPr bandRow="1">
                <a:noFill/>
                <a:tableStyleId>{5C22544A-7EE6-4342-B048-85BDC9FD1C3A}</a:tableStyleId>
              </a:tblPr>
              <a:tblGrid>
                <a:gridCol w="816292">
                  <a:extLst>
                    <a:ext uri="{9D8B030D-6E8A-4147-A177-3AD203B41FA5}">
                      <a16:colId xmlns:a16="http://schemas.microsoft.com/office/drawing/2014/main" val="1461183545"/>
                    </a:ext>
                  </a:extLst>
                </a:gridCol>
                <a:gridCol w="1882676">
                  <a:extLst>
                    <a:ext uri="{9D8B030D-6E8A-4147-A177-3AD203B41FA5}">
                      <a16:colId xmlns:a16="http://schemas.microsoft.com/office/drawing/2014/main" val="1631821869"/>
                    </a:ext>
                  </a:extLst>
                </a:gridCol>
              </a:tblGrid>
              <a:tr h="823532">
                <a:tc>
                  <a:txBody>
                    <a:bodyPr/>
                    <a:lstStyle/>
                    <a:p>
                      <a:pPr algn="ctr">
                        <a:buNone/>
                      </a:pPr>
                      <a:r>
                        <a:rPr lang="en-US" sz="3300" b="1" cap="none" spc="0" dirty="0">
                          <a:solidFill>
                            <a:schemeClr val="tx1"/>
                          </a:solidFill>
                        </a:rPr>
                        <a:t>01</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Process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1821199230"/>
                  </a:ext>
                </a:extLst>
              </a:tr>
              <a:tr h="823532">
                <a:tc>
                  <a:txBody>
                    <a:bodyPr/>
                    <a:lstStyle/>
                    <a:p>
                      <a:pPr algn="ctr">
                        <a:buNone/>
                      </a:pPr>
                      <a:r>
                        <a:rPr lang="en-US" sz="3300" b="1" cap="none" spc="0">
                          <a:solidFill>
                            <a:schemeClr val="tx1"/>
                          </a:solidFill>
                        </a:rPr>
                        <a:t>02</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Findings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3984042088"/>
                  </a:ext>
                </a:extLst>
              </a:tr>
              <a:tr h="823532">
                <a:tc>
                  <a:txBody>
                    <a:bodyPr/>
                    <a:lstStyle/>
                    <a:p>
                      <a:pPr algn="ctr">
                        <a:buNone/>
                      </a:pPr>
                      <a:r>
                        <a:rPr lang="en-US" sz="3300" b="1" cap="none" spc="0">
                          <a:solidFill>
                            <a:schemeClr val="tx1"/>
                          </a:solidFill>
                        </a:rPr>
                        <a:t>03</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Next Steps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3046751709"/>
                  </a:ext>
                </a:extLst>
              </a:tr>
              <a:tr h="823532">
                <a:tc>
                  <a:txBody>
                    <a:bodyPr/>
                    <a:lstStyle/>
                    <a:p>
                      <a:pPr algn="ctr">
                        <a:buNone/>
                      </a:pPr>
                      <a:r>
                        <a:rPr lang="en-US" sz="3300" b="1" cap="none" spc="0" dirty="0">
                          <a:solidFill>
                            <a:schemeClr val="tx1"/>
                          </a:solidFill>
                        </a:rPr>
                        <a:t>04</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00" b="0" cap="none" spc="0" dirty="0">
                          <a:solidFill>
                            <a:schemeClr val="tx1"/>
                          </a:solidFill>
                        </a:rPr>
                        <a:t>Tech Stack</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797915879"/>
                  </a:ext>
                </a:extLst>
              </a:tr>
            </a:tbl>
          </a:graphicData>
        </a:graphic>
      </p:graphicFrame>
    </p:spTree>
    <p:extLst>
      <p:ext uri="{BB962C8B-B14F-4D97-AF65-F5344CB8AC3E}">
        <p14:creationId xmlns:p14="http://schemas.microsoft.com/office/powerpoint/2010/main" val="991636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92820-9F59-661B-65F8-1A9805E6C86D}"/>
              </a:ext>
            </a:extLst>
          </p:cNvPr>
          <p:cNvSpPr>
            <a:spLocks noGrp="1"/>
          </p:cNvSpPr>
          <p:nvPr>
            <p:ph type="title"/>
          </p:nvPr>
        </p:nvSpPr>
        <p:spPr/>
        <p:txBody>
          <a:bodyPr/>
          <a:lstStyle/>
          <a:p>
            <a:r>
              <a:rPr lang="en-US" dirty="0"/>
              <a:t>Process</a:t>
            </a:r>
          </a:p>
        </p:txBody>
      </p:sp>
      <p:graphicFrame>
        <p:nvGraphicFramePr>
          <p:cNvPr id="5" name="Diagram 4">
            <a:extLst>
              <a:ext uri="{FF2B5EF4-FFF2-40B4-BE49-F238E27FC236}">
                <a16:creationId xmlns:a16="http://schemas.microsoft.com/office/drawing/2014/main" id="{5F05D404-B907-81D0-8BDC-2CED7B5FDC20}"/>
              </a:ext>
            </a:extLst>
          </p:cNvPr>
          <p:cNvGraphicFramePr/>
          <p:nvPr>
            <p:extLst>
              <p:ext uri="{D42A27DB-BD31-4B8C-83A1-F6EECF244321}">
                <p14:modId xmlns:p14="http://schemas.microsoft.com/office/powerpoint/2010/main" val="3293182464"/>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8" name="Table 7">
            <a:extLst>
              <a:ext uri="{FF2B5EF4-FFF2-40B4-BE49-F238E27FC236}">
                <a16:creationId xmlns:a16="http://schemas.microsoft.com/office/drawing/2014/main" id="{683D9D35-4AEA-B56B-A024-4020B5CEA7F8}"/>
              </a:ext>
            </a:extLst>
          </p:cNvPr>
          <p:cNvGraphicFramePr>
            <a:graphicFrameLocks noGrp="1"/>
          </p:cNvGraphicFramePr>
          <p:nvPr>
            <p:extLst>
              <p:ext uri="{D42A27DB-BD31-4B8C-83A1-F6EECF244321}">
                <p14:modId xmlns:p14="http://schemas.microsoft.com/office/powerpoint/2010/main" val="3081270043"/>
              </p:ext>
            </p:extLst>
          </p:nvPr>
        </p:nvGraphicFramePr>
        <p:xfrm>
          <a:off x="5105450" y="5212115"/>
          <a:ext cx="4025900" cy="756285"/>
        </p:xfrm>
        <a:graphic>
          <a:graphicData uri="http://schemas.openxmlformats.org/drawingml/2006/table">
            <a:tbl>
              <a:tblPr>
                <a:tableStyleId>{5940675A-B579-460E-94D1-54222C63F5DA}</a:tableStyleId>
              </a:tblPr>
              <a:tblGrid>
                <a:gridCol w="1841500">
                  <a:extLst>
                    <a:ext uri="{9D8B030D-6E8A-4147-A177-3AD203B41FA5}">
                      <a16:colId xmlns:a16="http://schemas.microsoft.com/office/drawing/2014/main" val="2172742319"/>
                    </a:ext>
                  </a:extLst>
                </a:gridCol>
                <a:gridCol w="876300">
                  <a:extLst>
                    <a:ext uri="{9D8B030D-6E8A-4147-A177-3AD203B41FA5}">
                      <a16:colId xmlns:a16="http://schemas.microsoft.com/office/drawing/2014/main" val="3926910574"/>
                    </a:ext>
                  </a:extLst>
                </a:gridCol>
                <a:gridCol w="609600">
                  <a:extLst>
                    <a:ext uri="{9D8B030D-6E8A-4147-A177-3AD203B41FA5}">
                      <a16:colId xmlns:a16="http://schemas.microsoft.com/office/drawing/2014/main" val="2184462179"/>
                    </a:ext>
                  </a:extLst>
                </a:gridCol>
                <a:gridCol w="698500">
                  <a:extLst>
                    <a:ext uri="{9D8B030D-6E8A-4147-A177-3AD203B41FA5}">
                      <a16:colId xmlns:a16="http://schemas.microsoft.com/office/drawing/2014/main" val="2515138331"/>
                    </a:ext>
                  </a:extLst>
                </a:gridCol>
              </a:tblGrid>
              <a:tr h="0">
                <a:tc>
                  <a:txBody>
                    <a:bodyPr/>
                    <a:lstStyle/>
                    <a:p>
                      <a:pPr algn="ctr" fontAlgn="ctr">
                        <a:buNone/>
                      </a:pPr>
                      <a:r>
                        <a:rPr lang="en-US" sz="800" b="1" u="none" strike="noStrike" dirty="0">
                          <a:effectLst/>
                        </a:rPr>
                        <a:t>Sources</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Pre-Migration</a:t>
                      </a:r>
                      <a:br>
                        <a:rPr lang="en-US" sz="800" b="1" u="none" strike="noStrike" dirty="0">
                          <a:effectLst/>
                        </a:rPr>
                      </a:br>
                      <a:r>
                        <a:rPr lang="en-US" sz="800" b="1" u="none" strike="noStrike" dirty="0">
                          <a:effectLst/>
                        </a:rPr>
                        <a:t>Source</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Delta</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Post-Migration </a:t>
                      </a:r>
                      <a:br>
                        <a:rPr lang="en-US" sz="800" b="1" u="none" strike="noStrike" dirty="0">
                          <a:effectLst/>
                        </a:rPr>
                      </a:br>
                      <a:r>
                        <a:rPr lang="en-US" sz="800" b="1" u="none" strike="noStrike" dirty="0">
                          <a:effectLst/>
                        </a:rPr>
                        <a:t>New</a:t>
                      </a:r>
                      <a:endParaRPr lang="en-US" sz="800" b="1" i="0" u="none" strike="noStrike"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815603353"/>
                  </a:ext>
                </a:extLst>
              </a:tr>
              <a:tr h="190500">
                <a:tc>
                  <a:txBody>
                    <a:bodyPr/>
                    <a:lstStyle/>
                    <a:p>
                      <a:pPr algn="r" fontAlgn="b">
                        <a:buNone/>
                      </a:pPr>
                      <a:r>
                        <a:rPr lang="en-US" sz="800" b="1" u="none" strike="noStrike" dirty="0">
                          <a:effectLst/>
                        </a:rPr>
                        <a:t>Beneficiary Summary Records</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343,644</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0</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343,644</a:t>
                      </a:r>
                      <a:endParaRPr lang="en-US" sz="8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07522999"/>
                  </a:ext>
                </a:extLst>
              </a:tr>
              <a:tr h="190500">
                <a:tc>
                  <a:txBody>
                    <a:bodyPr/>
                    <a:lstStyle/>
                    <a:p>
                      <a:pPr algn="r" fontAlgn="b">
                        <a:buNone/>
                      </a:pPr>
                      <a:r>
                        <a:rPr lang="en-US" sz="800" b="1" u="none" strike="noStrike">
                          <a:effectLst/>
                        </a:rPr>
                        <a:t>Carrier Claim Records</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a:effectLst/>
                        </a:rPr>
                        <a:t>4,741,335</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a:effectLst/>
                        </a:rPr>
                        <a:t>-4,777</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4,746,112</a:t>
                      </a:r>
                      <a:endParaRPr lang="en-US" sz="8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3919347"/>
                  </a:ext>
                </a:extLst>
              </a:tr>
            </a:tbl>
          </a:graphicData>
        </a:graphic>
      </p:graphicFrame>
    </p:spTree>
    <p:extLst>
      <p:ext uri="{BB962C8B-B14F-4D97-AF65-F5344CB8AC3E}">
        <p14:creationId xmlns:p14="http://schemas.microsoft.com/office/powerpoint/2010/main" val="4246472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DFE3C-3BBE-E2FF-1E3B-D6CFE4AE4E73}"/>
              </a:ext>
            </a:extLst>
          </p:cNvPr>
          <p:cNvSpPr>
            <a:spLocks noGrp="1"/>
          </p:cNvSpPr>
          <p:nvPr>
            <p:ph type="title"/>
          </p:nvPr>
        </p:nvSpPr>
        <p:spPr/>
        <p:txBody>
          <a:bodyPr/>
          <a:lstStyle/>
          <a:p>
            <a:r>
              <a:rPr lang="en-US" dirty="0"/>
              <a:t>Capability of Migration Process</a:t>
            </a:r>
          </a:p>
        </p:txBody>
      </p:sp>
      <p:graphicFrame>
        <p:nvGraphicFramePr>
          <p:cNvPr id="4" name="Content Placeholder 3">
            <a:extLst>
              <a:ext uri="{FF2B5EF4-FFF2-40B4-BE49-F238E27FC236}">
                <a16:creationId xmlns:a16="http://schemas.microsoft.com/office/drawing/2014/main" id="{AFF517B0-FFFB-5413-BAC6-3EB9EF02BF28}"/>
              </a:ext>
            </a:extLst>
          </p:cNvPr>
          <p:cNvGraphicFramePr>
            <a:graphicFrameLocks noGrp="1"/>
          </p:cNvGraphicFramePr>
          <p:nvPr>
            <p:ph idx="1"/>
            <p:extLst>
              <p:ext uri="{D42A27DB-BD31-4B8C-83A1-F6EECF244321}">
                <p14:modId xmlns:p14="http://schemas.microsoft.com/office/powerpoint/2010/main" val="3596827651"/>
              </p:ext>
            </p:extLst>
          </p:nvPr>
        </p:nvGraphicFramePr>
        <p:xfrm>
          <a:off x="838200" y="1825625"/>
          <a:ext cx="10515596" cy="2194560"/>
        </p:xfrm>
        <a:graphic>
          <a:graphicData uri="http://schemas.openxmlformats.org/drawingml/2006/table">
            <a:tbl>
              <a:tblPr firstRow="1" bandRow="1">
                <a:tableStyleId>{5C22544A-7EE6-4342-B048-85BDC9FD1C3A}</a:tableStyleId>
              </a:tblPr>
              <a:tblGrid>
                <a:gridCol w="1502228">
                  <a:extLst>
                    <a:ext uri="{9D8B030D-6E8A-4147-A177-3AD203B41FA5}">
                      <a16:colId xmlns:a16="http://schemas.microsoft.com/office/drawing/2014/main" val="1224699945"/>
                    </a:ext>
                  </a:extLst>
                </a:gridCol>
                <a:gridCol w="1502228">
                  <a:extLst>
                    <a:ext uri="{9D8B030D-6E8A-4147-A177-3AD203B41FA5}">
                      <a16:colId xmlns:a16="http://schemas.microsoft.com/office/drawing/2014/main" val="4043549251"/>
                    </a:ext>
                  </a:extLst>
                </a:gridCol>
                <a:gridCol w="1502228">
                  <a:extLst>
                    <a:ext uri="{9D8B030D-6E8A-4147-A177-3AD203B41FA5}">
                      <a16:colId xmlns:a16="http://schemas.microsoft.com/office/drawing/2014/main" val="652096944"/>
                    </a:ext>
                  </a:extLst>
                </a:gridCol>
                <a:gridCol w="1502228">
                  <a:extLst>
                    <a:ext uri="{9D8B030D-6E8A-4147-A177-3AD203B41FA5}">
                      <a16:colId xmlns:a16="http://schemas.microsoft.com/office/drawing/2014/main" val="265825846"/>
                    </a:ext>
                  </a:extLst>
                </a:gridCol>
                <a:gridCol w="1502228">
                  <a:extLst>
                    <a:ext uri="{9D8B030D-6E8A-4147-A177-3AD203B41FA5}">
                      <a16:colId xmlns:a16="http://schemas.microsoft.com/office/drawing/2014/main" val="8069605"/>
                    </a:ext>
                  </a:extLst>
                </a:gridCol>
                <a:gridCol w="1502228">
                  <a:extLst>
                    <a:ext uri="{9D8B030D-6E8A-4147-A177-3AD203B41FA5}">
                      <a16:colId xmlns:a16="http://schemas.microsoft.com/office/drawing/2014/main" val="919248071"/>
                    </a:ext>
                  </a:extLst>
                </a:gridCol>
                <a:gridCol w="1502228">
                  <a:extLst>
                    <a:ext uri="{9D8B030D-6E8A-4147-A177-3AD203B41FA5}">
                      <a16:colId xmlns:a16="http://schemas.microsoft.com/office/drawing/2014/main" val="4162129249"/>
                    </a:ext>
                  </a:extLst>
                </a:gridCol>
              </a:tblGrid>
              <a:tr h="370840">
                <a:tc>
                  <a:txBody>
                    <a:bodyPr/>
                    <a:lstStyle/>
                    <a:p>
                      <a:pPr algn="ctr"/>
                      <a:r>
                        <a:rPr lang="en-US" dirty="0"/>
                        <a:t>Data Set</a:t>
                      </a:r>
                    </a:p>
                  </a:txBody>
                  <a:tcPr/>
                </a:tc>
                <a:tc>
                  <a:txBody>
                    <a:bodyPr/>
                    <a:lstStyle/>
                    <a:p>
                      <a:pPr algn="ctr"/>
                      <a:r>
                        <a:rPr lang="en-US" dirty="0"/>
                        <a:t>Total Rows</a:t>
                      </a:r>
                    </a:p>
                  </a:txBody>
                  <a:tcPr/>
                </a:tc>
                <a:tc>
                  <a:txBody>
                    <a:bodyPr/>
                    <a:lstStyle/>
                    <a:p>
                      <a:pPr algn="ctr"/>
                      <a:r>
                        <a:rPr lang="en-US" dirty="0"/>
                        <a:t>Defective Data Elements</a:t>
                      </a:r>
                    </a:p>
                  </a:txBody>
                  <a:tcPr/>
                </a:tc>
                <a:tc>
                  <a:txBody>
                    <a:bodyPr/>
                    <a:lstStyle/>
                    <a:p>
                      <a:pPr algn="ctr"/>
                      <a:r>
                        <a:rPr lang="en-US" dirty="0"/>
                        <a:t>Total Data Elements</a:t>
                      </a:r>
                    </a:p>
                  </a:txBody>
                  <a:tcPr/>
                </a:tc>
                <a:tc>
                  <a:txBody>
                    <a:bodyPr/>
                    <a:lstStyle/>
                    <a:p>
                      <a:pPr algn="ctr"/>
                      <a:r>
                        <a:rPr lang="en-US" dirty="0"/>
                        <a:t>DPMO*</a:t>
                      </a:r>
                    </a:p>
                  </a:txBody>
                  <a:tcPr/>
                </a:tc>
                <a:tc>
                  <a:txBody>
                    <a:bodyPr/>
                    <a:lstStyle/>
                    <a:p>
                      <a:pPr algn="ctr"/>
                      <a:r>
                        <a:rPr lang="en-US" dirty="0"/>
                        <a:t>Process Yield</a:t>
                      </a:r>
                    </a:p>
                  </a:txBody>
                  <a:tcPr/>
                </a:tc>
                <a:tc>
                  <a:txBody>
                    <a:bodyPr/>
                    <a:lstStyle/>
                    <a:p>
                      <a:pPr algn="ctr"/>
                      <a:r>
                        <a:rPr lang="en-US" dirty="0"/>
                        <a:t>Sigma</a:t>
                      </a:r>
                    </a:p>
                  </a:txBody>
                  <a:tcPr/>
                </a:tc>
                <a:extLst>
                  <a:ext uri="{0D108BD9-81ED-4DB2-BD59-A6C34878D82A}">
                    <a16:rowId xmlns:a16="http://schemas.microsoft.com/office/drawing/2014/main" val="2652846029"/>
                  </a:ext>
                </a:extLst>
              </a:tr>
              <a:tr h="370840">
                <a:tc>
                  <a:txBody>
                    <a:bodyPr/>
                    <a:lstStyle/>
                    <a:p>
                      <a:r>
                        <a:rPr lang="en-US" dirty="0"/>
                        <a:t>Carrier Claims</a:t>
                      </a:r>
                    </a:p>
                  </a:txBody>
                  <a:tcPr/>
                </a:tc>
                <a:tc>
                  <a:txBody>
                    <a:bodyPr/>
                    <a:lstStyle/>
                    <a:p>
                      <a:pPr algn="r"/>
                      <a:r>
                        <a:rPr lang="en-US" dirty="0"/>
                        <a:t>474.7K</a:t>
                      </a:r>
                    </a:p>
                  </a:txBody>
                  <a:tcPr/>
                </a:tc>
                <a:tc>
                  <a:txBody>
                    <a:bodyPr/>
                    <a:lstStyle/>
                    <a:p>
                      <a:pPr algn="r"/>
                      <a:r>
                        <a:rPr lang="en-US" dirty="0"/>
                        <a:t>530.4K</a:t>
                      </a:r>
                    </a:p>
                  </a:txBody>
                  <a:tcPr/>
                </a:tc>
                <a:tc>
                  <a:txBody>
                    <a:bodyPr/>
                    <a:lstStyle/>
                    <a:p>
                      <a:pPr algn="r"/>
                      <a:r>
                        <a:rPr lang="en-US" dirty="0"/>
                        <a:t>484,150.9K</a:t>
                      </a:r>
                    </a:p>
                  </a:txBody>
                  <a:tcPr/>
                </a:tc>
                <a:tc>
                  <a:txBody>
                    <a:bodyPr/>
                    <a:lstStyle/>
                    <a:p>
                      <a:pPr algn="r"/>
                      <a:r>
                        <a:rPr lang="en-US" dirty="0"/>
                        <a:t>1095.5</a:t>
                      </a:r>
                    </a:p>
                  </a:txBody>
                  <a:tcPr/>
                </a:tc>
                <a:tc>
                  <a:txBody>
                    <a:bodyPr/>
                    <a:lstStyle/>
                    <a:p>
                      <a:pPr algn="r"/>
                      <a:r>
                        <a:rPr lang="en-US" dirty="0"/>
                        <a:t>99.89045%</a:t>
                      </a:r>
                    </a:p>
                  </a:txBody>
                  <a:tcPr/>
                </a:tc>
                <a:tc>
                  <a:txBody>
                    <a:bodyPr/>
                    <a:lstStyle/>
                    <a:p>
                      <a:pPr algn="r"/>
                      <a:r>
                        <a:rPr lang="en-US" dirty="0"/>
                        <a:t>~4.58</a:t>
                      </a:r>
                    </a:p>
                  </a:txBody>
                  <a:tcPr/>
                </a:tc>
                <a:extLst>
                  <a:ext uri="{0D108BD9-81ED-4DB2-BD59-A6C34878D82A}">
                    <a16:rowId xmlns:a16="http://schemas.microsoft.com/office/drawing/2014/main" val="3888968175"/>
                  </a:ext>
                </a:extLst>
              </a:tr>
              <a:tr h="370840">
                <a:tc>
                  <a:txBody>
                    <a:bodyPr/>
                    <a:lstStyle/>
                    <a:p>
                      <a:r>
                        <a:rPr lang="en-US" dirty="0"/>
                        <a:t>Beneficiary Summary</a:t>
                      </a:r>
                    </a:p>
                  </a:txBody>
                  <a:tcPr/>
                </a:tc>
                <a:tc>
                  <a:txBody>
                    <a:bodyPr/>
                    <a:lstStyle/>
                    <a:p>
                      <a:pPr algn="r"/>
                      <a:r>
                        <a:rPr lang="en-US" dirty="0"/>
                        <a:t>343.8K</a:t>
                      </a:r>
                    </a:p>
                  </a:txBody>
                  <a:tcPr/>
                </a:tc>
                <a:tc>
                  <a:txBody>
                    <a:bodyPr/>
                    <a:lstStyle/>
                    <a:p>
                      <a:pPr algn="r"/>
                      <a:r>
                        <a:rPr lang="en-US" dirty="0"/>
                        <a:t>8.2K</a:t>
                      </a:r>
                    </a:p>
                  </a:txBody>
                  <a:tcPr/>
                </a:tc>
                <a:tc>
                  <a:txBody>
                    <a:bodyPr/>
                    <a:lstStyle/>
                    <a:p>
                      <a:pPr algn="r"/>
                      <a:r>
                        <a:rPr lang="en-US" dirty="0"/>
                        <a:t>10,657.9K</a:t>
                      </a:r>
                    </a:p>
                  </a:txBody>
                  <a:tcPr/>
                </a:tc>
                <a:tc>
                  <a:txBody>
                    <a:bodyPr/>
                    <a:lstStyle/>
                    <a:p>
                      <a:pPr algn="r"/>
                      <a:r>
                        <a:rPr lang="en-US" dirty="0"/>
                        <a:t>768.7</a:t>
                      </a:r>
                    </a:p>
                  </a:txBody>
                  <a:tcPr/>
                </a:tc>
                <a:tc>
                  <a:txBody>
                    <a:bodyPr/>
                    <a:lstStyle/>
                    <a:p>
                      <a:pPr algn="r"/>
                      <a:r>
                        <a:rPr lang="en-US" dirty="0"/>
                        <a:t>99.92313%</a:t>
                      </a:r>
                    </a:p>
                  </a:txBody>
                  <a:tcPr/>
                </a:tc>
                <a:tc>
                  <a:txBody>
                    <a:bodyPr/>
                    <a:lstStyle/>
                    <a:p>
                      <a:pPr algn="r"/>
                      <a:r>
                        <a:rPr lang="en-US" dirty="0"/>
                        <a:t>~4.68</a:t>
                      </a:r>
                    </a:p>
                  </a:txBody>
                  <a:tcPr/>
                </a:tc>
                <a:extLst>
                  <a:ext uri="{0D108BD9-81ED-4DB2-BD59-A6C34878D82A}">
                    <a16:rowId xmlns:a16="http://schemas.microsoft.com/office/drawing/2014/main" val="1215746761"/>
                  </a:ext>
                </a:extLst>
              </a:tr>
            </a:tbl>
          </a:graphicData>
        </a:graphic>
      </p:graphicFrame>
      <p:sp>
        <p:nvSpPr>
          <p:cNvPr id="7" name="TextBox 6">
            <a:extLst>
              <a:ext uri="{FF2B5EF4-FFF2-40B4-BE49-F238E27FC236}">
                <a16:creationId xmlns:a16="http://schemas.microsoft.com/office/drawing/2014/main" id="{FB4E4F64-0241-8B16-A3DB-2C01EA9E5AF5}"/>
              </a:ext>
            </a:extLst>
          </p:cNvPr>
          <p:cNvSpPr txBox="1"/>
          <p:nvPr/>
        </p:nvSpPr>
        <p:spPr>
          <a:xfrm>
            <a:off x="838199" y="4155122"/>
            <a:ext cx="10515595" cy="1754326"/>
          </a:xfrm>
          <a:prstGeom prst="rect">
            <a:avLst/>
          </a:prstGeom>
          <a:noFill/>
        </p:spPr>
        <p:txBody>
          <a:bodyPr wrap="square">
            <a:spAutoFit/>
          </a:bodyPr>
          <a:lstStyle/>
          <a:p>
            <a:r>
              <a:rPr lang="en-US" b="0" i="0" dirty="0">
                <a:effectLst/>
                <a:latin typeface="fkGroteskNeue"/>
              </a:rPr>
              <a:t>“Six Sigma” represents a process capability with a 99.99966% yield, or 3.4 defects per million opportunities.</a:t>
            </a:r>
          </a:p>
          <a:p>
            <a:endParaRPr lang="en-US" dirty="0">
              <a:latin typeface="fkGroteskNeue"/>
            </a:endParaRPr>
          </a:p>
          <a:p>
            <a:r>
              <a:rPr lang="en-US" i="1" u="sng" dirty="0">
                <a:latin typeface="fkGroteskNeue"/>
              </a:rPr>
              <a:t>Data Migration Process Capability:</a:t>
            </a:r>
          </a:p>
          <a:p>
            <a:endParaRPr lang="en-US" dirty="0"/>
          </a:p>
          <a:p>
            <a:pPr marL="285750" indent="-285750">
              <a:buFont typeface="Arial" panose="020B0604020202020204" pitchFamily="34" charset="0"/>
              <a:buChar char="•"/>
            </a:pPr>
            <a:r>
              <a:rPr lang="en-US" dirty="0">
                <a:latin typeface="fkGroteskNeue"/>
              </a:rPr>
              <a:t>Carrier Claims:                </a:t>
            </a:r>
            <a:r>
              <a:rPr lang="en-US" dirty="0"/>
              <a:t>99.89045% yield, or 1,095.5 defects per million opportunities*.</a:t>
            </a:r>
          </a:p>
          <a:p>
            <a:pPr marL="285750" indent="-285750">
              <a:buFont typeface="Arial" panose="020B0604020202020204" pitchFamily="34" charset="0"/>
              <a:buChar char="•"/>
            </a:pPr>
            <a:r>
              <a:rPr lang="en-US" dirty="0"/>
              <a:t>Beneficiary Summary: 99.92313% yield, or     768.7 defects per million opportunities*.</a:t>
            </a:r>
          </a:p>
        </p:txBody>
      </p:sp>
    </p:spTree>
    <p:extLst>
      <p:ext uri="{BB962C8B-B14F-4D97-AF65-F5344CB8AC3E}">
        <p14:creationId xmlns:p14="http://schemas.microsoft.com/office/powerpoint/2010/main" val="4185258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65928F-2374-9CF7-1273-DD6F1C6F4505}"/>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4800" kern="1200" dirty="0">
                <a:solidFill>
                  <a:schemeClr val="tx1"/>
                </a:solidFill>
                <a:latin typeface="+mj-lt"/>
                <a:ea typeface="+mj-ea"/>
                <a:cs typeface="+mj-cs"/>
              </a:rPr>
              <a:t>Pareto Analysis of Claims Data Defects</a:t>
            </a:r>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B34CC932-FBCF-33B2-17CA-C771B8DACDD0}"/>
              </a:ext>
            </a:extLst>
          </p:cNvPr>
          <p:cNvGraphicFramePr>
            <a:graphicFrameLocks noGrp="1"/>
          </p:cNvGraphicFramePr>
          <p:nvPr>
            <p:extLst>
              <p:ext uri="{D42A27DB-BD31-4B8C-83A1-F6EECF244321}">
                <p14:modId xmlns:p14="http://schemas.microsoft.com/office/powerpoint/2010/main" val="842900808"/>
              </p:ext>
            </p:extLst>
          </p:nvPr>
        </p:nvGraphicFramePr>
        <p:xfrm>
          <a:off x="942597" y="1381714"/>
          <a:ext cx="5608832" cy="4094580"/>
        </p:xfrm>
        <a:graphic>
          <a:graphicData uri="http://schemas.openxmlformats.org/drawingml/2006/table">
            <a:tbl>
              <a:tblPr firstRow="1" bandRow="1">
                <a:tableStyleId>{5C22544A-7EE6-4342-B048-85BDC9FD1C3A}</a:tableStyleId>
              </a:tblPr>
              <a:tblGrid>
                <a:gridCol w="546859">
                  <a:extLst>
                    <a:ext uri="{9D8B030D-6E8A-4147-A177-3AD203B41FA5}">
                      <a16:colId xmlns:a16="http://schemas.microsoft.com/office/drawing/2014/main" val="195526942"/>
                    </a:ext>
                  </a:extLst>
                </a:gridCol>
                <a:gridCol w="1724090">
                  <a:extLst>
                    <a:ext uri="{9D8B030D-6E8A-4147-A177-3AD203B41FA5}">
                      <a16:colId xmlns:a16="http://schemas.microsoft.com/office/drawing/2014/main" val="4104102122"/>
                    </a:ext>
                  </a:extLst>
                </a:gridCol>
                <a:gridCol w="867036">
                  <a:extLst>
                    <a:ext uri="{9D8B030D-6E8A-4147-A177-3AD203B41FA5}">
                      <a16:colId xmlns:a16="http://schemas.microsoft.com/office/drawing/2014/main" val="4123215931"/>
                    </a:ext>
                  </a:extLst>
                </a:gridCol>
                <a:gridCol w="1318694">
                  <a:extLst>
                    <a:ext uri="{9D8B030D-6E8A-4147-A177-3AD203B41FA5}">
                      <a16:colId xmlns:a16="http://schemas.microsoft.com/office/drawing/2014/main" val="1879242443"/>
                    </a:ext>
                  </a:extLst>
                </a:gridCol>
                <a:gridCol w="414162">
                  <a:extLst>
                    <a:ext uri="{9D8B030D-6E8A-4147-A177-3AD203B41FA5}">
                      <a16:colId xmlns:a16="http://schemas.microsoft.com/office/drawing/2014/main" val="2991373655"/>
                    </a:ext>
                  </a:extLst>
                </a:gridCol>
                <a:gridCol w="737991">
                  <a:extLst>
                    <a:ext uri="{9D8B030D-6E8A-4147-A177-3AD203B41FA5}">
                      <a16:colId xmlns:a16="http://schemas.microsoft.com/office/drawing/2014/main" val="751102839"/>
                    </a:ext>
                  </a:extLst>
                </a:gridCol>
              </a:tblGrid>
              <a:tr h="292470">
                <a:tc>
                  <a:txBody>
                    <a:bodyPr/>
                    <a:lstStyle/>
                    <a:p>
                      <a:pPr algn="ctr" fontAlgn="b">
                        <a:buNone/>
                      </a:pPr>
                      <a:r>
                        <a:rPr lang="en-US" sz="800" u="none" strike="noStrike" dirty="0">
                          <a:effectLst/>
                        </a:rPr>
                        <a:t>SOURCE</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DATA SET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TOTAL DEFECTS</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RUNNING PCT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DPMO</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SIGMA LEVEL</a:t>
                      </a:r>
                      <a:endParaRPr lang="en-US" sz="800" b="0" i="0" u="none" strike="noStrike" dirty="0">
                        <a:solidFill>
                          <a:srgbClr val="000000"/>
                        </a:solidFill>
                        <a:effectLst/>
                        <a:latin typeface="Aptos Narrow" panose="020B0004020202020204" pitchFamily="34" charset="0"/>
                      </a:endParaRPr>
                    </a:p>
                  </a:txBody>
                  <a:tcPr marL="5233" marR="5233" marT="5233" marB="0" anchor="ctr"/>
                </a:tc>
                <a:extLst>
                  <a:ext uri="{0D108BD9-81ED-4DB2-BD59-A6C34878D82A}">
                    <a16:rowId xmlns:a16="http://schemas.microsoft.com/office/drawing/2014/main" val="4049756915"/>
                  </a:ext>
                </a:extLst>
              </a:tr>
              <a:tr h="292470">
                <a:tc>
                  <a:txBody>
                    <a:bodyPr/>
                    <a:lstStyle/>
                    <a:p>
                      <a:pPr algn="l" fontAlgn="b">
                        <a:buNone/>
                      </a:pPr>
                      <a:r>
                        <a:rPr lang="en-US" sz="800" u="none" strike="noStrike" dirty="0">
                          <a:effectLst/>
                        </a:rPr>
                        <a:t>Carrier Claims</a:t>
                      </a:r>
                      <a:endParaRPr lang="en-US" sz="800" b="0" i="0" u="none" strike="noStrike" dirty="0">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LINE_PRCSG_IND_CD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75,497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13.93%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15,906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3.656</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1509720168"/>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LINE_ICD9_DGNS_CD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75,238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27.82%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15,851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442682845"/>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TAX_NUM</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75,176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41.70%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15,838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88578471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PRF_PHYSN_NPI</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75,169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55.57%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15,836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000931092"/>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HCPCS_CD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75,106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69.43%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15,823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20223675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ICD9_DGNS_CD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46,708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78.05%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9,840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3.844</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974421383"/>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LINE_NCH_PMT_AMT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31,709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83.91%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6,680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3.988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1959551227"/>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LINE_BENE_PTB_DDCTBL_AMT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20,828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87.75%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4,388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4.137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842202646"/>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LINE_BENE_PRMRY_PYR_PD_AMT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20,639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91.56%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4,348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4.141</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02681587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LINE_ALOWD_CHRG_AMT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17,531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94.80%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3,693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4.197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695392432"/>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LINE_COINSRNC_AMT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16,775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97.89%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3,534</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4.211</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454144340"/>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CLM_FROM_DT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5,707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98.95%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1,202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4.553</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303198191"/>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CLM_THRU_DT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5,707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100.00%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1,202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dirty="0">
                          <a:effectLst/>
                        </a:rPr>
                        <a:t>4.553</a:t>
                      </a:r>
                      <a:endParaRPr lang="en-US" sz="800" b="0" i="0" u="none" strike="noStrike" dirty="0">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680621195"/>
                  </a:ext>
                </a:extLst>
              </a:tr>
            </a:tbl>
          </a:graphicData>
        </a:graphic>
      </p:graphicFrame>
    </p:spTree>
    <p:extLst>
      <p:ext uri="{BB962C8B-B14F-4D97-AF65-F5344CB8AC3E}">
        <p14:creationId xmlns:p14="http://schemas.microsoft.com/office/powerpoint/2010/main" val="986242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F2720BF9-F5AF-A405-4C1E-81AEB0B0628D}"/>
              </a:ext>
            </a:extLst>
          </p:cNvPr>
          <p:cNvGraphicFramePr>
            <a:graphicFrameLocks noGrp="1"/>
          </p:cNvGraphicFramePr>
          <p:nvPr>
            <p:ph idx="1"/>
            <p:extLst>
              <p:ext uri="{D42A27DB-BD31-4B8C-83A1-F6EECF244321}">
                <p14:modId xmlns:p14="http://schemas.microsoft.com/office/powerpoint/2010/main" val="3630587951"/>
              </p:ext>
            </p:extLst>
          </p:nvPr>
        </p:nvGraphicFramePr>
        <p:xfrm>
          <a:off x="942596" y="2057553"/>
          <a:ext cx="5608831" cy="2742257"/>
        </p:xfrm>
        <a:graphic>
          <a:graphicData uri="http://schemas.openxmlformats.org/drawingml/2006/table">
            <a:tbl>
              <a:tblPr firstRow="1" bandRow="1">
                <a:tableStyleId>{5C22544A-7EE6-4342-B048-85BDC9FD1C3A}</a:tableStyleId>
              </a:tblPr>
              <a:tblGrid>
                <a:gridCol w="2309346">
                  <a:extLst>
                    <a:ext uri="{9D8B030D-6E8A-4147-A177-3AD203B41FA5}">
                      <a16:colId xmlns:a16="http://schemas.microsoft.com/office/drawing/2014/main" val="56626641"/>
                    </a:ext>
                  </a:extLst>
                </a:gridCol>
                <a:gridCol w="1533150">
                  <a:extLst>
                    <a:ext uri="{9D8B030D-6E8A-4147-A177-3AD203B41FA5}">
                      <a16:colId xmlns:a16="http://schemas.microsoft.com/office/drawing/2014/main" val="1321260213"/>
                    </a:ext>
                  </a:extLst>
                </a:gridCol>
                <a:gridCol w="1766335">
                  <a:extLst>
                    <a:ext uri="{9D8B030D-6E8A-4147-A177-3AD203B41FA5}">
                      <a16:colId xmlns:a16="http://schemas.microsoft.com/office/drawing/2014/main" val="1748309337"/>
                    </a:ext>
                  </a:extLst>
                </a:gridCol>
              </a:tblGrid>
              <a:tr h="391751">
                <a:tc>
                  <a:txBody>
                    <a:bodyPr/>
                    <a:lstStyle/>
                    <a:p>
                      <a:pPr algn="ctr" fontAlgn="b">
                        <a:buNone/>
                      </a:pPr>
                      <a:r>
                        <a:rPr lang="en-US" sz="1100" u="none" strike="noStrike" dirty="0">
                          <a:effectLst/>
                        </a:rPr>
                        <a:t>DATA SET</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FINANCIAL VARIANCE</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RUNNING PCT OF TOTAL</a:t>
                      </a:r>
                      <a:endParaRPr lang="en-US" sz="1100" b="0" i="0" u="none" strike="noStrike" dirty="0">
                        <a:solidFill>
                          <a:srgbClr val="000000"/>
                        </a:solidFill>
                        <a:effectLst/>
                        <a:latin typeface="Aptos Narrow" panose="020B0004020202020204" pitchFamily="34" charset="0"/>
                      </a:endParaRPr>
                    </a:p>
                  </a:txBody>
                  <a:tcPr marL="9784" marR="9784" marT="9784" marB="0" anchor="ctr"/>
                </a:tc>
                <a:extLst>
                  <a:ext uri="{0D108BD9-81ED-4DB2-BD59-A6C34878D82A}">
                    <a16:rowId xmlns:a16="http://schemas.microsoft.com/office/drawing/2014/main" val="835689144"/>
                  </a:ext>
                </a:extLst>
              </a:tr>
              <a:tr h="391751">
                <a:tc>
                  <a:txBody>
                    <a:bodyPr/>
                    <a:lstStyle/>
                    <a:p>
                      <a:pPr algn="l" fontAlgn="b">
                        <a:buNone/>
                      </a:pPr>
                      <a:r>
                        <a:rPr lang="en-US" sz="1100" u="none" strike="noStrike">
                          <a:effectLst/>
                        </a:rPr>
                        <a:t>LINE_NCH_PMT_AMT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 $                   158,480.91 </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36.48%</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713614033"/>
                  </a:ext>
                </a:extLst>
              </a:tr>
              <a:tr h="391751">
                <a:tc>
                  <a:txBody>
                    <a:bodyPr/>
                    <a:lstStyle/>
                    <a:p>
                      <a:pPr algn="l" fontAlgn="b">
                        <a:buNone/>
                      </a:pPr>
                      <a:r>
                        <a:rPr lang="en-US" sz="1100" u="none" strike="noStrike">
                          <a:effectLst/>
                        </a:rPr>
                        <a:t>LINE_BENE_PRMRY_PYR_PD_AMT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98,772.86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59.22%</a:t>
                      </a:r>
                      <a:endParaRPr lang="en-US" sz="1100" b="0" i="0" u="none" strike="noStrike">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513950478"/>
                  </a:ext>
                </a:extLst>
              </a:tr>
              <a:tr h="391751">
                <a:tc>
                  <a:txBody>
                    <a:bodyPr/>
                    <a:lstStyle/>
                    <a:p>
                      <a:pPr algn="l" fontAlgn="b">
                        <a:buNone/>
                      </a:pPr>
                      <a:r>
                        <a:rPr lang="en-US" sz="1100" u="none" strike="noStrike">
                          <a:effectLst/>
                        </a:rPr>
                        <a:t>LINE_BENE_PTB_DDCTBL_AMT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96,806.45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81.51%</a:t>
                      </a:r>
                      <a:endParaRPr lang="en-US" sz="1100" b="0" i="0" u="none" strike="noStrike">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624005118"/>
                  </a:ext>
                </a:extLst>
              </a:tr>
              <a:tr h="391751">
                <a:tc>
                  <a:txBody>
                    <a:bodyPr/>
                    <a:lstStyle/>
                    <a:p>
                      <a:pPr algn="l" fontAlgn="b">
                        <a:buNone/>
                      </a:pPr>
                      <a:r>
                        <a:rPr lang="en-US" sz="1100" u="none" strike="noStrike" dirty="0">
                          <a:effectLst/>
                        </a:rPr>
                        <a:t>LINE_ALOWD_CHRG_AMT</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 $                      62,816.30 </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95.97%</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408909967"/>
                  </a:ext>
                </a:extLst>
              </a:tr>
              <a:tr h="391751">
                <a:tc>
                  <a:txBody>
                    <a:bodyPr/>
                    <a:lstStyle/>
                    <a:p>
                      <a:pPr algn="l" fontAlgn="b">
                        <a:buNone/>
                      </a:pPr>
                      <a:r>
                        <a:rPr lang="en-US" sz="1100" u="none" strike="noStrike">
                          <a:effectLst/>
                        </a:rPr>
                        <a:t>LINE_COINSRNC_AMT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17,507.34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100.00%</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001752028"/>
                  </a:ext>
                </a:extLst>
              </a:tr>
              <a:tr h="391751">
                <a:tc>
                  <a:txBody>
                    <a:bodyPr/>
                    <a:lstStyle/>
                    <a:p>
                      <a:pPr algn="l" fontAlgn="b">
                        <a:buNone/>
                      </a:pPr>
                      <a:r>
                        <a:rPr lang="en-US" sz="1100" b="1" u="none" strike="noStrike" dirty="0">
                          <a:effectLst/>
                        </a:rPr>
                        <a:t>TOTAL</a:t>
                      </a:r>
                      <a:endParaRPr lang="en-US" sz="1100" b="1"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b="1" u="none" strike="noStrike" dirty="0">
                          <a:effectLst/>
                        </a:rPr>
                        <a:t> $                      </a:t>
                      </a:r>
                      <a:r>
                        <a:rPr lang="en-US" sz="1100" b="1" u="none" strike="noStrike" kern="1200" dirty="0">
                          <a:solidFill>
                            <a:schemeClr val="dk1"/>
                          </a:solidFill>
                          <a:effectLst/>
                          <a:latin typeface="+mn-lt"/>
                          <a:ea typeface="+mn-ea"/>
                          <a:cs typeface="+mn-cs"/>
                        </a:rPr>
                        <a:t>434,383.86</a:t>
                      </a:r>
                      <a:r>
                        <a:rPr lang="en-US" sz="1100" b="1" u="none" strike="noStrike" dirty="0">
                          <a:effectLst/>
                        </a:rPr>
                        <a:t> </a:t>
                      </a:r>
                      <a:endParaRPr lang="en-US" sz="1100" b="1"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b="1" u="none" strike="noStrike" dirty="0">
                          <a:effectLst/>
                        </a:rPr>
                        <a:t>100.00%</a:t>
                      </a:r>
                      <a:endParaRPr lang="en-US" sz="1100" b="1"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087287620"/>
                  </a:ext>
                </a:extLst>
              </a:tr>
            </a:tbl>
          </a:graphicData>
        </a:graphic>
      </p:graphicFrame>
      <mc:AlternateContent xmlns:mc="http://schemas.openxmlformats.org/markup-compatibility/2006">
        <mc:Choice xmlns:cx1="http://schemas.microsoft.com/office/drawing/2015/9/8/chartex" Requires="cx1">
          <p:graphicFrame>
            <p:nvGraphicFramePr>
              <p:cNvPr id="5" name="Chart 4">
                <a:extLst>
                  <a:ext uri="{FF2B5EF4-FFF2-40B4-BE49-F238E27FC236}">
                    <a16:creationId xmlns:a16="http://schemas.microsoft.com/office/drawing/2014/main" id="{BC0579BC-CD40-4F78-82B7-B51CFD01BCBE}"/>
                  </a:ext>
                </a:extLst>
              </p:cNvPr>
              <p:cNvGraphicFramePr>
                <a:graphicFrameLocks/>
              </p:cNvGraphicFramePr>
              <p:nvPr>
                <p:extLst>
                  <p:ext uri="{D42A27DB-BD31-4B8C-83A1-F6EECF244321}">
                    <p14:modId xmlns:p14="http://schemas.microsoft.com/office/powerpoint/2010/main" val="317996811"/>
                  </p:ext>
                </p:extLst>
              </p:nvPr>
            </p:nvGraphicFramePr>
            <p:xfrm>
              <a:off x="6861779" y="498764"/>
              <a:ext cx="4958800" cy="5920076"/>
            </p:xfrm>
            <a:graphic>
              <a:graphicData uri="http://schemas.microsoft.com/office/drawing/2014/chartex">
                <cx:chart xmlns:cx="http://schemas.microsoft.com/office/drawing/2014/chartex" xmlns:r="http://schemas.openxmlformats.org/officeDocument/2006/relationships" r:id="rId2"/>
              </a:graphicData>
            </a:graphic>
          </p:graphicFrame>
        </mc:Choice>
        <mc:Fallback>
          <p:pic>
            <p:nvPicPr>
              <p:cNvPr id="5" name="Chart 4">
                <a:extLst>
                  <a:ext uri="{FF2B5EF4-FFF2-40B4-BE49-F238E27FC236}">
                    <a16:creationId xmlns:a16="http://schemas.microsoft.com/office/drawing/2014/main" id="{BC0579BC-CD40-4F78-82B7-B51CFD01BCBE}"/>
                  </a:ext>
                </a:extLst>
              </p:cNvPr>
              <p:cNvPicPr>
                <a:picLocks noGrp="1" noRot="1" noChangeAspect="1" noMove="1" noResize="1" noEditPoints="1" noAdjustHandles="1" noChangeArrowheads="1" noChangeShapeType="1"/>
              </p:cNvPicPr>
              <p:nvPr/>
            </p:nvPicPr>
            <p:blipFill>
              <a:blip r:embed="rId3"/>
              <a:stretch>
                <a:fillRect/>
              </a:stretch>
            </p:blipFill>
            <p:spPr>
              <a:xfrm>
                <a:off x="6861779" y="498764"/>
                <a:ext cx="4958800" cy="5920076"/>
              </a:xfrm>
              <a:prstGeom prst="rect">
                <a:avLst/>
              </a:prstGeom>
            </p:spPr>
          </p:pic>
        </mc:Fallback>
      </mc:AlternateContent>
      <p:sp>
        <p:nvSpPr>
          <p:cNvPr id="7" name="TextBox 6">
            <a:extLst>
              <a:ext uri="{FF2B5EF4-FFF2-40B4-BE49-F238E27FC236}">
                <a16:creationId xmlns:a16="http://schemas.microsoft.com/office/drawing/2014/main" id="{C9A2BAB2-C949-C86D-22F5-9561269E45E6}"/>
              </a:ext>
            </a:extLst>
          </p:cNvPr>
          <p:cNvSpPr txBox="1"/>
          <p:nvPr/>
        </p:nvSpPr>
        <p:spPr>
          <a:xfrm>
            <a:off x="738791" y="346565"/>
            <a:ext cx="6094800" cy="461665"/>
          </a:xfrm>
          <a:prstGeom prst="rect">
            <a:avLst/>
          </a:prstGeom>
          <a:noFill/>
        </p:spPr>
        <p:txBody>
          <a:bodyPr wrap="square">
            <a:spAutoFit/>
          </a:bodyPr>
          <a:lstStyle/>
          <a:p>
            <a:pPr algn="ctr"/>
            <a:r>
              <a:rPr lang="en-US" sz="2400" b="1" kern="1200" dirty="0">
                <a:solidFill>
                  <a:schemeClr val="tx1"/>
                </a:solidFill>
                <a:latin typeface="+mj-lt"/>
                <a:ea typeface="+mj-ea"/>
                <a:cs typeface="+mj-cs"/>
              </a:rPr>
              <a:t>Financial Impact of Claims Data Defects</a:t>
            </a:r>
            <a:endParaRPr lang="en-US" sz="2400" b="1" dirty="0"/>
          </a:p>
        </p:txBody>
      </p:sp>
    </p:spTree>
    <p:extLst>
      <p:ext uri="{BB962C8B-B14F-4D97-AF65-F5344CB8AC3E}">
        <p14:creationId xmlns:p14="http://schemas.microsoft.com/office/powerpoint/2010/main" val="1680378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3B392-2E60-FCF6-2CDF-1EFAE322FDCC}"/>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4800" kern="1200" dirty="0">
                <a:solidFill>
                  <a:schemeClr val="tx1"/>
                </a:solidFill>
                <a:latin typeface="+mj-lt"/>
                <a:ea typeface="+mj-ea"/>
                <a:cs typeface="+mj-cs"/>
              </a:rPr>
              <a:t>Pareto Analysis of Beneficiary Data Defects</a:t>
            </a:r>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77DB965E-0884-DD2C-DBBE-20F3E25B3F10}"/>
              </a:ext>
            </a:extLst>
          </p:cNvPr>
          <p:cNvGraphicFramePr>
            <a:graphicFrameLocks noGrp="1"/>
          </p:cNvGraphicFramePr>
          <p:nvPr>
            <p:extLst>
              <p:ext uri="{D42A27DB-BD31-4B8C-83A1-F6EECF244321}">
                <p14:modId xmlns:p14="http://schemas.microsoft.com/office/powerpoint/2010/main" val="1168588209"/>
              </p:ext>
            </p:extLst>
          </p:nvPr>
        </p:nvGraphicFramePr>
        <p:xfrm>
          <a:off x="942597" y="842223"/>
          <a:ext cx="5608833" cy="5173578"/>
        </p:xfrm>
        <a:graphic>
          <a:graphicData uri="http://schemas.openxmlformats.org/drawingml/2006/table">
            <a:tbl>
              <a:tblPr firstRow="1" bandRow="1">
                <a:tableStyleId>{5C22544A-7EE6-4342-B048-85BDC9FD1C3A}</a:tableStyleId>
              </a:tblPr>
              <a:tblGrid>
                <a:gridCol w="978386">
                  <a:extLst>
                    <a:ext uri="{9D8B030D-6E8A-4147-A177-3AD203B41FA5}">
                      <a16:colId xmlns:a16="http://schemas.microsoft.com/office/drawing/2014/main" val="1233873725"/>
                    </a:ext>
                  </a:extLst>
                </a:gridCol>
                <a:gridCol w="1517204">
                  <a:extLst>
                    <a:ext uri="{9D8B030D-6E8A-4147-A177-3AD203B41FA5}">
                      <a16:colId xmlns:a16="http://schemas.microsoft.com/office/drawing/2014/main" val="4127094395"/>
                    </a:ext>
                  </a:extLst>
                </a:gridCol>
                <a:gridCol w="792670">
                  <a:extLst>
                    <a:ext uri="{9D8B030D-6E8A-4147-A177-3AD203B41FA5}">
                      <a16:colId xmlns:a16="http://schemas.microsoft.com/office/drawing/2014/main" val="2277256268"/>
                    </a:ext>
                  </a:extLst>
                </a:gridCol>
                <a:gridCol w="1206864">
                  <a:extLst>
                    <a:ext uri="{9D8B030D-6E8A-4147-A177-3AD203B41FA5}">
                      <a16:colId xmlns:a16="http://schemas.microsoft.com/office/drawing/2014/main" val="2347054409"/>
                    </a:ext>
                  </a:extLst>
                </a:gridCol>
                <a:gridCol w="439555">
                  <a:extLst>
                    <a:ext uri="{9D8B030D-6E8A-4147-A177-3AD203B41FA5}">
                      <a16:colId xmlns:a16="http://schemas.microsoft.com/office/drawing/2014/main" val="2577242359"/>
                    </a:ext>
                  </a:extLst>
                </a:gridCol>
                <a:gridCol w="674154">
                  <a:extLst>
                    <a:ext uri="{9D8B030D-6E8A-4147-A177-3AD203B41FA5}">
                      <a16:colId xmlns:a16="http://schemas.microsoft.com/office/drawing/2014/main" val="3439333173"/>
                    </a:ext>
                  </a:extLst>
                </a:gridCol>
              </a:tblGrid>
              <a:tr h="267972">
                <a:tc>
                  <a:txBody>
                    <a:bodyPr/>
                    <a:lstStyle/>
                    <a:p>
                      <a:pPr algn="ctr" fontAlgn="b">
                        <a:buNone/>
                      </a:pPr>
                      <a:r>
                        <a:rPr lang="en-US" sz="800" u="none" strike="noStrike" dirty="0">
                          <a:effectLst/>
                        </a:rPr>
                        <a:t>SOURCE</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DATA SET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TOTAL DEFECTS</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RUNNING PCT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DPMO</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SIGMA LEVEL</a:t>
                      </a:r>
                      <a:endParaRPr lang="en-US" sz="800" b="0" i="0" u="none" strike="noStrike" dirty="0">
                        <a:solidFill>
                          <a:srgbClr val="000000"/>
                        </a:solidFill>
                        <a:effectLst/>
                        <a:latin typeface="Aptos Narrow" panose="020B0004020202020204" pitchFamily="34" charset="0"/>
                      </a:endParaRPr>
                    </a:p>
                  </a:txBody>
                  <a:tcPr marL="5233" marR="5233" marT="5233" marB="0" anchor="ctr"/>
                </a:tc>
                <a:extLst>
                  <a:ext uri="{0D108BD9-81ED-4DB2-BD59-A6C34878D82A}">
                    <a16:rowId xmlns:a16="http://schemas.microsoft.com/office/drawing/2014/main" val="268046394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BENE_BIRTH_DT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496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6.05%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1,443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4.498</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8141046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BENE_HI_CVRAGE_TOT_MONS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10.17%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980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4.613</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58567713"/>
                  </a:ext>
                </a:extLst>
              </a:tr>
              <a:tr h="267972">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BENE_SMI_CVRAGE_TOT_MONS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322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14.10%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937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81793876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BENE_COUNTY_CD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17.98%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075269503"/>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BENE_DEATH_DT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21.86%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64108040"/>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BENE_ESRD_IND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25.74%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68646539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BENE_RACE_CD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29.62%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19791547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BENE_SEX_IDENT_CD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33.50%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764271318"/>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SP_ALZHDMTA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37.39%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79431744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SP_CHF</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41.27%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79138082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SP_CHRNKIDN</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45.15%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63624402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SP_CNCR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49.03%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01780168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SP_COPD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52.91%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03483005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SP_DEPRESSN</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56.79%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0965951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SP_DIABETES</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60.67%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783116943"/>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SP_ISCHMCHT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64.56%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83226434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SP_OSTEOPRS</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68.44%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77619086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SP_RA_OA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72.32%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20502233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SP_STATE_CODE</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76.20%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27940283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SP_STRKETIA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80.08%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15804079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PLAN_CVRG_MOS_NUM</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289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83.61%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841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4.657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2178091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272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86.93%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791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4.674</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10535914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260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90.10%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756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4.687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2981468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215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92.73%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4.740</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588784309"/>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195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95.11%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567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4.766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689467453"/>
                  </a:ext>
                </a:extLst>
              </a:tr>
              <a:tr h="267972">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BENE_HMO_CVRAGE_TOT_MONS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124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96.62%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361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4.886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9031997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97.57%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227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5.002</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178565699"/>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98.40%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198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5.035</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003230410"/>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99.16%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180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5.057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37914256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99.60%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5.182</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72194048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100.00%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dirty="0">
                          <a:effectLst/>
                        </a:rPr>
                        <a:t>5.201</a:t>
                      </a:r>
                      <a:endParaRPr lang="en-US" sz="800" b="0" i="0" u="none" strike="noStrike" dirty="0">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835031241"/>
                  </a:ext>
                </a:extLst>
              </a:tr>
            </a:tbl>
          </a:graphicData>
        </a:graphic>
      </p:graphicFrame>
    </p:spTree>
    <p:extLst>
      <p:ext uri="{BB962C8B-B14F-4D97-AF65-F5344CB8AC3E}">
        <p14:creationId xmlns:p14="http://schemas.microsoft.com/office/powerpoint/2010/main" val="33519460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0D667-F3CF-7F9C-D537-125B2BCBA821}"/>
            </a:ext>
          </a:extLst>
        </p:cNvPr>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F8E44CBC-EEC8-82CC-63C8-6A2AE99608DB}"/>
              </a:ext>
            </a:extLst>
          </p:cNvPr>
          <p:cNvGraphicFramePr>
            <a:graphicFrameLocks noGrp="1"/>
          </p:cNvGraphicFramePr>
          <p:nvPr>
            <p:ph idx="1"/>
            <p:extLst>
              <p:ext uri="{D42A27DB-BD31-4B8C-83A1-F6EECF244321}">
                <p14:modId xmlns:p14="http://schemas.microsoft.com/office/powerpoint/2010/main" val="1194149028"/>
              </p:ext>
            </p:extLst>
          </p:nvPr>
        </p:nvGraphicFramePr>
        <p:xfrm>
          <a:off x="851913" y="1215273"/>
          <a:ext cx="5608831" cy="4309261"/>
        </p:xfrm>
        <a:graphic>
          <a:graphicData uri="http://schemas.openxmlformats.org/drawingml/2006/table">
            <a:tbl>
              <a:tblPr firstRow="1" bandRow="1">
                <a:tableStyleId>{5C22544A-7EE6-4342-B048-85BDC9FD1C3A}</a:tableStyleId>
              </a:tblPr>
              <a:tblGrid>
                <a:gridCol w="2309346">
                  <a:extLst>
                    <a:ext uri="{9D8B030D-6E8A-4147-A177-3AD203B41FA5}">
                      <a16:colId xmlns:a16="http://schemas.microsoft.com/office/drawing/2014/main" val="56626641"/>
                    </a:ext>
                  </a:extLst>
                </a:gridCol>
                <a:gridCol w="1533150">
                  <a:extLst>
                    <a:ext uri="{9D8B030D-6E8A-4147-A177-3AD203B41FA5}">
                      <a16:colId xmlns:a16="http://schemas.microsoft.com/office/drawing/2014/main" val="1321260213"/>
                    </a:ext>
                  </a:extLst>
                </a:gridCol>
                <a:gridCol w="1766335">
                  <a:extLst>
                    <a:ext uri="{9D8B030D-6E8A-4147-A177-3AD203B41FA5}">
                      <a16:colId xmlns:a16="http://schemas.microsoft.com/office/drawing/2014/main" val="1748309337"/>
                    </a:ext>
                  </a:extLst>
                </a:gridCol>
              </a:tblGrid>
              <a:tr h="391751">
                <a:tc>
                  <a:txBody>
                    <a:bodyPr/>
                    <a:lstStyle/>
                    <a:p>
                      <a:pPr algn="ctr" fontAlgn="b">
                        <a:buNone/>
                      </a:pPr>
                      <a:r>
                        <a:rPr lang="en-US" sz="1100" u="none" strike="noStrike" dirty="0">
                          <a:effectLst/>
                        </a:rPr>
                        <a:t>DATA SET</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FINANCIAL VARIANCE</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RUNNING PCT OF TOTAL</a:t>
                      </a:r>
                      <a:endParaRPr lang="en-US" sz="1100" b="0" i="0" u="none" strike="noStrike" dirty="0">
                        <a:solidFill>
                          <a:srgbClr val="000000"/>
                        </a:solidFill>
                        <a:effectLst/>
                        <a:latin typeface="Aptos Narrow" panose="020B0004020202020204" pitchFamily="34" charset="0"/>
                      </a:endParaRPr>
                    </a:p>
                  </a:txBody>
                  <a:tcPr marL="9784" marR="9784" marT="9784" marB="0" anchor="ctr"/>
                </a:tc>
                <a:extLst>
                  <a:ext uri="{0D108BD9-81ED-4DB2-BD59-A6C34878D82A}">
                    <a16:rowId xmlns:a16="http://schemas.microsoft.com/office/drawing/2014/main" val="835689144"/>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MEDREIMB_OP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10,924.62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30.68%</a:t>
                      </a:r>
                    </a:p>
                  </a:txBody>
                  <a:tcPr marL="9525" marR="9525" marT="9525" marB="0" anchor="b"/>
                </a:tc>
                <a:extLst>
                  <a:ext uri="{0D108BD9-81ED-4DB2-BD59-A6C34878D82A}">
                    <a16:rowId xmlns:a16="http://schemas.microsoft.com/office/drawing/2014/main" val="713614033"/>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7,004.07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50.35%</a:t>
                      </a:r>
                    </a:p>
                  </a:txBody>
                  <a:tcPr marL="9525" marR="9525" marT="9525" marB="0" anchor="b"/>
                </a:tc>
                <a:extLst>
                  <a:ext uri="{0D108BD9-81ED-4DB2-BD59-A6C34878D82A}">
                    <a16:rowId xmlns:a16="http://schemas.microsoft.com/office/drawing/2014/main" val="151395047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4,458.42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62.87%</a:t>
                      </a:r>
                    </a:p>
                  </a:txBody>
                  <a:tcPr marL="9525" marR="9525" marT="9525" marB="0" anchor="b"/>
                </a:tc>
                <a:extLst>
                  <a:ext uri="{0D108BD9-81ED-4DB2-BD59-A6C34878D82A}">
                    <a16:rowId xmlns:a16="http://schemas.microsoft.com/office/drawing/2014/main" val="162400511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3,231.46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71.94%</a:t>
                      </a:r>
                    </a:p>
                  </a:txBody>
                  <a:tcPr marL="9525" marR="9525" marT="9525" marB="0" anchor="b"/>
                </a:tc>
                <a:extLst>
                  <a:ext uri="{0D108BD9-81ED-4DB2-BD59-A6C34878D82A}">
                    <a16:rowId xmlns:a16="http://schemas.microsoft.com/office/drawing/2014/main" val="408909967"/>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2,466.78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78.87%</a:t>
                      </a:r>
                    </a:p>
                  </a:txBody>
                  <a:tcPr marL="9525" marR="9525" marT="9525" marB="0" anchor="b"/>
                </a:tc>
                <a:extLst>
                  <a:ext uri="{0D108BD9-81ED-4DB2-BD59-A6C34878D82A}">
                    <a16:rowId xmlns:a16="http://schemas.microsoft.com/office/drawing/2014/main" val="100175202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2,128.46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84.85%</a:t>
                      </a:r>
                    </a:p>
                  </a:txBody>
                  <a:tcPr marL="9525" marR="9525" marT="9525" marB="0" anchor="b"/>
                </a:tc>
                <a:extLst>
                  <a:ext uri="{0D108BD9-81ED-4DB2-BD59-A6C34878D82A}">
                    <a16:rowId xmlns:a16="http://schemas.microsoft.com/office/drawing/2014/main" val="1087287620"/>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1,996.32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90.45%</a:t>
                      </a:r>
                    </a:p>
                  </a:txBody>
                  <a:tcPr marL="9525" marR="9525" marT="9525" marB="0" anchor="b"/>
                </a:tc>
                <a:extLst>
                  <a:ext uri="{0D108BD9-81ED-4DB2-BD59-A6C34878D82A}">
                    <a16:rowId xmlns:a16="http://schemas.microsoft.com/office/drawing/2014/main" val="1435666095"/>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BENRES_OP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1,907.74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95.81%</a:t>
                      </a:r>
                    </a:p>
                  </a:txBody>
                  <a:tcPr marL="9525" marR="9525" marT="9525" marB="0" anchor="b"/>
                </a:tc>
                <a:extLst>
                  <a:ext uri="{0D108BD9-81ED-4DB2-BD59-A6C34878D82A}">
                    <a16:rowId xmlns:a16="http://schemas.microsoft.com/office/drawing/2014/main" val="2415572417"/>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PPPYMT_OP</a:t>
                      </a:r>
                    </a:p>
                  </a:txBody>
                  <a:tcPr marL="9525" marR="9525" marT="9525" marB="0" anchor="b"/>
                </a:tc>
                <a:tc>
                  <a:txBody>
                    <a:bodyPr/>
                    <a:lstStyle/>
                    <a:p>
                      <a:pPr algn="ctr" fontAlgn="b">
                        <a:buNone/>
                      </a:pPr>
                      <a:r>
                        <a:rPr lang="en-US" sz="1100" b="0" i="0" u="none" strike="noStrike" dirty="0">
                          <a:solidFill>
                            <a:srgbClr val="000000"/>
                          </a:solidFill>
                          <a:effectLst/>
                          <a:latin typeface="Aptos Narrow" panose="020B0004020202020204" pitchFamily="34" charset="0"/>
                        </a:rPr>
                        <a:t> $                        1,491.36 </a:t>
                      </a:r>
                    </a:p>
                  </a:txBody>
                  <a:tcPr marL="9525" marR="9525" marT="9525" marB="0" anchor="b"/>
                </a:tc>
                <a:tc>
                  <a:txBody>
                    <a:bodyPr/>
                    <a:lstStyle/>
                    <a:p>
                      <a:pPr algn="ctr" fontAlgn="b">
                        <a:buNone/>
                      </a:pPr>
                      <a:r>
                        <a:rPr lang="en-US" sz="1100" b="0" i="0" u="none" strike="noStrike" dirty="0">
                          <a:solidFill>
                            <a:srgbClr val="000000"/>
                          </a:solidFill>
                          <a:effectLst/>
                          <a:latin typeface="Aptos Narrow" panose="020B0004020202020204" pitchFamily="34" charset="0"/>
                        </a:rPr>
                        <a:t>100.00%</a:t>
                      </a:r>
                    </a:p>
                  </a:txBody>
                  <a:tcPr marL="9525" marR="9525" marT="9525" marB="0" anchor="b"/>
                </a:tc>
                <a:extLst>
                  <a:ext uri="{0D108BD9-81ED-4DB2-BD59-A6C34878D82A}">
                    <a16:rowId xmlns:a16="http://schemas.microsoft.com/office/drawing/2014/main" val="2577297443"/>
                  </a:ext>
                </a:extLst>
              </a:tr>
              <a:tr h="391751">
                <a:tc>
                  <a:txBody>
                    <a:bodyPr/>
                    <a:lstStyle/>
                    <a:p>
                      <a:pPr algn="l" fontAlgn="b">
                        <a:buNone/>
                      </a:pPr>
                      <a:r>
                        <a:rPr lang="en-US" sz="1100" b="1" i="0" u="none" strike="noStrike" dirty="0">
                          <a:solidFill>
                            <a:srgbClr val="000000"/>
                          </a:solidFill>
                          <a:effectLst/>
                          <a:latin typeface="Aptos Narrow" panose="020B0004020202020204" pitchFamily="34" charset="0"/>
                        </a:rPr>
                        <a:t>TOTAL</a:t>
                      </a:r>
                    </a:p>
                  </a:txBody>
                  <a:tcPr marL="9784" marR="9784" marT="9784" marB="0" anchor="b"/>
                </a:tc>
                <a:tc>
                  <a:txBody>
                    <a:bodyPr/>
                    <a:lstStyle/>
                    <a:p>
                      <a:pPr algn="ctr" fontAlgn="b">
                        <a:buNone/>
                      </a:pPr>
                      <a:r>
                        <a:rPr lang="en-US" sz="1100" b="1" i="0" u="none" strike="noStrike" dirty="0">
                          <a:solidFill>
                            <a:srgbClr val="000000"/>
                          </a:solidFill>
                          <a:effectLst/>
                          <a:latin typeface="Aptos Narrow" panose="020B0004020202020204" pitchFamily="34" charset="0"/>
                        </a:rPr>
                        <a:t> $                    35,609.23 </a:t>
                      </a:r>
                    </a:p>
                  </a:txBody>
                  <a:tcPr marL="9525" marR="9525" marT="9525" marB="0" anchor="b"/>
                </a:tc>
                <a:tc>
                  <a:txBody>
                    <a:bodyPr/>
                    <a:lstStyle/>
                    <a:p>
                      <a:pPr algn="ctr" fontAlgn="b">
                        <a:buNone/>
                      </a:pPr>
                      <a:r>
                        <a:rPr lang="en-US" sz="1100" b="1" i="0" u="none" strike="noStrike" dirty="0">
                          <a:solidFill>
                            <a:srgbClr val="000000"/>
                          </a:solidFill>
                          <a:effectLst/>
                          <a:latin typeface="Aptos Narrow" panose="020B0004020202020204" pitchFamily="34" charset="0"/>
                        </a:rPr>
                        <a:t>100.00%</a:t>
                      </a:r>
                    </a:p>
                  </a:txBody>
                  <a:tcPr marL="9525" marR="9525" marT="9525" marB="0" anchor="b"/>
                </a:tc>
                <a:extLst>
                  <a:ext uri="{0D108BD9-81ED-4DB2-BD59-A6C34878D82A}">
                    <a16:rowId xmlns:a16="http://schemas.microsoft.com/office/drawing/2014/main" val="4270716992"/>
                  </a:ext>
                </a:extLst>
              </a:tr>
            </a:tbl>
          </a:graphicData>
        </a:graphic>
      </p:graphicFrame>
      <p:sp>
        <p:nvSpPr>
          <p:cNvPr id="7" name="TextBox 6">
            <a:extLst>
              <a:ext uri="{FF2B5EF4-FFF2-40B4-BE49-F238E27FC236}">
                <a16:creationId xmlns:a16="http://schemas.microsoft.com/office/drawing/2014/main" id="{8C36F226-DE0E-C442-AFA8-92C61A697A0C}"/>
              </a:ext>
            </a:extLst>
          </p:cNvPr>
          <p:cNvSpPr txBox="1"/>
          <p:nvPr/>
        </p:nvSpPr>
        <p:spPr>
          <a:xfrm>
            <a:off x="738791" y="346565"/>
            <a:ext cx="6094800" cy="461665"/>
          </a:xfrm>
          <a:prstGeom prst="rect">
            <a:avLst/>
          </a:prstGeom>
          <a:noFill/>
        </p:spPr>
        <p:txBody>
          <a:bodyPr wrap="square">
            <a:spAutoFit/>
          </a:bodyPr>
          <a:lstStyle/>
          <a:p>
            <a:pPr algn="ctr"/>
            <a:r>
              <a:rPr lang="en-US" sz="2400" b="1" kern="1200" dirty="0">
                <a:solidFill>
                  <a:schemeClr val="tx1"/>
                </a:solidFill>
                <a:latin typeface="+mj-lt"/>
                <a:ea typeface="+mj-ea"/>
                <a:cs typeface="+mj-cs"/>
              </a:rPr>
              <a:t>Financial Impact of Beneficiary Data Defects</a:t>
            </a:r>
            <a:endParaRPr lang="en-US" sz="2400" b="1" dirty="0"/>
          </a:p>
        </p:txBody>
      </p:sp>
      <mc:AlternateContent xmlns:mc="http://schemas.openxmlformats.org/markup-compatibility/2006">
        <mc:Choice xmlns:cx1="http://schemas.microsoft.com/office/drawing/2015/9/8/chartex" Requires="cx1">
          <p:graphicFrame>
            <p:nvGraphicFramePr>
              <p:cNvPr id="2" name="Chart 1">
                <a:extLst>
                  <a:ext uri="{FF2B5EF4-FFF2-40B4-BE49-F238E27FC236}">
                    <a16:creationId xmlns:a16="http://schemas.microsoft.com/office/drawing/2014/main" id="{ED381038-89BC-1272-0967-BA14D6643DAF}"/>
                  </a:ext>
                </a:extLst>
              </p:cNvPr>
              <p:cNvGraphicFramePr>
                <a:graphicFrameLocks/>
              </p:cNvGraphicFramePr>
              <p:nvPr>
                <p:extLst>
                  <p:ext uri="{D42A27DB-BD31-4B8C-83A1-F6EECF244321}">
                    <p14:modId xmlns:p14="http://schemas.microsoft.com/office/powerpoint/2010/main" val="2325305507"/>
                  </p:ext>
                </p:extLst>
              </p:nvPr>
            </p:nvGraphicFramePr>
            <p:xfrm>
              <a:off x="6833591" y="346565"/>
              <a:ext cx="4940765" cy="6046678"/>
            </p:xfrm>
            <a:graphic>
              <a:graphicData uri="http://schemas.microsoft.com/office/drawing/2014/chartex">
                <cx:chart xmlns:cx="http://schemas.microsoft.com/office/drawing/2014/chartex" xmlns:r="http://schemas.openxmlformats.org/officeDocument/2006/relationships" r:id="rId2"/>
              </a:graphicData>
            </a:graphic>
          </p:graphicFrame>
        </mc:Choice>
        <mc:Fallback>
          <p:pic>
            <p:nvPicPr>
              <p:cNvPr id="2" name="Chart 1">
                <a:extLst>
                  <a:ext uri="{FF2B5EF4-FFF2-40B4-BE49-F238E27FC236}">
                    <a16:creationId xmlns:a16="http://schemas.microsoft.com/office/drawing/2014/main" id="{ED381038-89BC-1272-0967-BA14D6643DAF}"/>
                  </a:ext>
                </a:extLst>
              </p:cNvPr>
              <p:cNvPicPr>
                <a:picLocks noGrp="1" noRot="1" noChangeAspect="1" noMove="1" noResize="1" noEditPoints="1" noAdjustHandles="1" noChangeArrowheads="1" noChangeShapeType="1"/>
              </p:cNvPicPr>
              <p:nvPr/>
            </p:nvPicPr>
            <p:blipFill>
              <a:blip r:embed="rId3"/>
              <a:stretch>
                <a:fillRect/>
              </a:stretch>
            </p:blipFill>
            <p:spPr>
              <a:xfrm>
                <a:off x="6833591" y="346565"/>
                <a:ext cx="4940765" cy="6046678"/>
              </a:xfrm>
              <a:prstGeom prst="rect">
                <a:avLst/>
              </a:prstGeom>
            </p:spPr>
          </p:pic>
        </mc:Fallback>
      </mc:AlternateContent>
    </p:spTree>
    <p:extLst>
      <p:ext uri="{BB962C8B-B14F-4D97-AF65-F5344CB8AC3E}">
        <p14:creationId xmlns:p14="http://schemas.microsoft.com/office/powerpoint/2010/main" val="2451318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574D71B-7917-4BD7-887C-1D652DB0DF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C4B3C4-B0A1-BC6A-E4D5-5F94149255AC}"/>
              </a:ext>
            </a:extLst>
          </p:cNvPr>
          <p:cNvSpPr>
            <a:spLocks noGrp="1"/>
          </p:cNvSpPr>
          <p:nvPr>
            <p:ph type="title"/>
          </p:nvPr>
        </p:nvSpPr>
        <p:spPr>
          <a:xfrm>
            <a:off x="7658841" y="679730"/>
            <a:ext cx="3951414" cy="3787041"/>
          </a:xfrm>
        </p:spPr>
        <p:txBody>
          <a:bodyPr vert="horz" lIns="91440" tIns="45720" rIns="91440" bIns="45720" rtlCol="0" anchor="b">
            <a:normAutofit/>
          </a:bodyPr>
          <a:lstStyle/>
          <a:p>
            <a:r>
              <a:rPr lang="en-US" sz="4800" kern="1200" dirty="0">
                <a:solidFill>
                  <a:schemeClr val="tx1"/>
                </a:solidFill>
                <a:latin typeface="+mj-lt"/>
                <a:ea typeface="+mj-ea"/>
                <a:cs typeface="+mj-cs"/>
              </a:rPr>
              <a:t>Beneficiary “Date of Birth” Errors</a:t>
            </a:r>
          </a:p>
        </p:txBody>
      </p:sp>
      <p:sp>
        <p:nvSpPr>
          <p:cNvPr id="3" name="Content Placeholder 2">
            <a:extLst>
              <a:ext uri="{FF2B5EF4-FFF2-40B4-BE49-F238E27FC236}">
                <a16:creationId xmlns:a16="http://schemas.microsoft.com/office/drawing/2014/main" id="{80460CB7-E4B6-3631-67C8-AC4249B18EDD}"/>
              </a:ext>
            </a:extLst>
          </p:cNvPr>
          <p:cNvSpPr>
            <a:spLocks noGrp="1"/>
          </p:cNvSpPr>
          <p:nvPr>
            <p:ph idx="1"/>
          </p:nvPr>
        </p:nvSpPr>
        <p:spPr>
          <a:xfrm>
            <a:off x="7658840" y="5045529"/>
            <a:ext cx="3951414" cy="1322614"/>
          </a:xfrm>
        </p:spPr>
        <p:txBody>
          <a:bodyPr vert="horz" lIns="91440" tIns="45720" rIns="91440" bIns="45720" rtlCol="0">
            <a:normAutofit/>
          </a:bodyPr>
          <a:lstStyle/>
          <a:p>
            <a:pPr marL="0" indent="0">
              <a:buNone/>
            </a:pPr>
            <a:r>
              <a:rPr lang="en-US" sz="2000" kern="1200" dirty="0">
                <a:solidFill>
                  <a:schemeClr val="tx1"/>
                </a:solidFill>
                <a:latin typeface="+mn-lt"/>
                <a:ea typeface="+mn-ea"/>
                <a:cs typeface="+mn-cs"/>
              </a:rPr>
              <a:t>178 Beneficiary “Dates of Birth” changed after the Migration</a:t>
            </a:r>
          </a:p>
        </p:txBody>
      </p:sp>
      <p:sp>
        <p:nvSpPr>
          <p:cNvPr id="26" name="Rectangle 25">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605660" y="145634"/>
            <a:ext cx="1715478" cy="692679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269325"/>
            <a:ext cx="6116779"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CF143E5-57C3-46A3-91A2-EDAA7A8E6A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80788" y="2754068"/>
            <a:ext cx="149016" cy="17099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hart 3">
            <a:extLst>
              <a:ext uri="{FF2B5EF4-FFF2-40B4-BE49-F238E27FC236}">
                <a16:creationId xmlns:a16="http://schemas.microsoft.com/office/drawing/2014/main" id="{266A7508-C7CB-36A0-739D-FE1DFEA5F45A}"/>
              </a:ext>
            </a:extLst>
          </p:cNvPr>
          <p:cNvGraphicFramePr>
            <a:graphicFrameLocks/>
          </p:cNvGraphicFramePr>
          <p:nvPr>
            <p:extLst>
              <p:ext uri="{D42A27DB-BD31-4B8C-83A1-F6EECF244321}">
                <p14:modId xmlns:p14="http://schemas.microsoft.com/office/powerpoint/2010/main" val="302922421"/>
              </p:ext>
            </p:extLst>
          </p:nvPr>
        </p:nvGraphicFramePr>
        <p:xfrm>
          <a:off x="942597" y="538941"/>
          <a:ext cx="5608830" cy="563270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44446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0" name="Group 4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1" name="Rectangle 5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Rectangle 5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420B6B-3DBC-3991-B209-7175CA8121AE}"/>
              </a:ext>
            </a:extLst>
          </p:cNvPr>
          <p:cNvSpPr>
            <a:spLocks noGrp="1"/>
          </p:cNvSpPr>
          <p:nvPr>
            <p:ph type="title"/>
          </p:nvPr>
        </p:nvSpPr>
        <p:spPr>
          <a:xfrm>
            <a:off x="1043631" y="809898"/>
            <a:ext cx="10173010" cy="1554480"/>
          </a:xfrm>
        </p:spPr>
        <p:txBody>
          <a:bodyPr anchor="ctr">
            <a:normAutofit/>
          </a:bodyPr>
          <a:lstStyle/>
          <a:p>
            <a:r>
              <a:rPr lang="en-US" sz="4800" dirty="0"/>
              <a:t>Carrier Claims Orphan Analysis</a:t>
            </a:r>
          </a:p>
        </p:txBody>
      </p:sp>
      <p:cxnSp>
        <p:nvCxnSpPr>
          <p:cNvPr id="54" name="Straight Connector 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5" name="Content Placeholder 2">
            <a:extLst>
              <a:ext uri="{FF2B5EF4-FFF2-40B4-BE49-F238E27FC236}">
                <a16:creationId xmlns:a16="http://schemas.microsoft.com/office/drawing/2014/main" id="{8B98CAA7-E586-813E-2803-2EB9F1728119}"/>
              </a:ext>
            </a:extLst>
          </p:cNvPr>
          <p:cNvGraphicFramePr>
            <a:graphicFrameLocks noGrp="1"/>
          </p:cNvGraphicFramePr>
          <p:nvPr>
            <p:ph idx="1"/>
            <p:extLst>
              <p:ext uri="{D42A27DB-BD31-4B8C-83A1-F6EECF244321}">
                <p14:modId xmlns:p14="http://schemas.microsoft.com/office/powerpoint/2010/main" val="1928987909"/>
              </p:ext>
            </p:extLst>
          </p:nvPr>
        </p:nvGraphicFramePr>
        <p:xfrm>
          <a:off x="904602" y="3017519"/>
          <a:ext cx="7429076"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A5CD9DAE-B2FA-1D48-7A67-B824CDA0CD76}"/>
              </a:ext>
            </a:extLst>
          </p:cNvPr>
          <p:cNvSpPr txBox="1"/>
          <p:nvPr/>
        </p:nvSpPr>
        <p:spPr>
          <a:xfrm>
            <a:off x="7461504" y="5415424"/>
            <a:ext cx="3628175" cy="461665"/>
          </a:xfrm>
          <a:prstGeom prst="rect">
            <a:avLst/>
          </a:prstGeom>
          <a:noFill/>
        </p:spPr>
        <p:txBody>
          <a:bodyPr wrap="square" rtlCol="0">
            <a:spAutoFit/>
          </a:bodyPr>
          <a:lstStyle/>
          <a:p>
            <a:r>
              <a:rPr lang="en-US" sz="1200" dirty="0"/>
              <a:t>Orphans Increased w/ 4-key match due to defects in </a:t>
            </a:r>
          </a:p>
          <a:p>
            <a:r>
              <a:rPr lang="en-US" sz="1200" dirty="0"/>
              <a:t>CLM_FROM_DT and CLM_THRU_DT Post-Migration</a:t>
            </a:r>
          </a:p>
        </p:txBody>
      </p:sp>
    </p:spTree>
    <p:extLst>
      <p:ext uri="{BB962C8B-B14F-4D97-AF65-F5344CB8AC3E}">
        <p14:creationId xmlns:p14="http://schemas.microsoft.com/office/powerpoint/2010/main" val="2833883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B79CA-1CB8-A133-67D7-E2B7AC1F94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DC2D061-5529-5634-50B9-E2BECAADCB1E}"/>
              </a:ext>
            </a:extLst>
          </p:cNvPr>
          <p:cNvSpPr>
            <a:spLocks noGrp="1"/>
          </p:cNvSpPr>
          <p:nvPr>
            <p:ph type="title"/>
          </p:nvPr>
        </p:nvSpPr>
        <p:spPr>
          <a:xfrm>
            <a:off x="614678" y="1543849"/>
            <a:ext cx="4145582" cy="4638825"/>
          </a:xfrm>
        </p:spPr>
        <p:txBody>
          <a:bodyPr anchor="t">
            <a:normAutofit/>
          </a:bodyPr>
          <a:lstStyle/>
          <a:p>
            <a:r>
              <a:rPr lang="en-US" dirty="0"/>
              <a:t>Next Steps</a:t>
            </a:r>
          </a:p>
        </p:txBody>
      </p:sp>
      <p:sp>
        <p:nvSpPr>
          <p:cNvPr id="3" name="Content Placeholder 2">
            <a:extLst>
              <a:ext uri="{FF2B5EF4-FFF2-40B4-BE49-F238E27FC236}">
                <a16:creationId xmlns:a16="http://schemas.microsoft.com/office/drawing/2014/main" id="{BBF6DBA7-AB42-4323-2A09-727FCCD83240}"/>
              </a:ext>
            </a:extLst>
          </p:cNvPr>
          <p:cNvSpPr>
            <a:spLocks noGrp="1"/>
          </p:cNvSpPr>
          <p:nvPr>
            <p:ph idx="1"/>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5532120" y="1543849"/>
            <a:ext cx="5681358" cy="4818068"/>
          </a:xfrm>
        </p:spPr>
        <p:txBody>
          <a:bodyPr>
            <a:normAutofit lnSpcReduction="10000"/>
          </a:bodyPr>
          <a:lstStyle/>
          <a:p>
            <a:pPr marL="0" indent="0">
              <a:spcBef>
                <a:spcPts val="2500"/>
              </a:spcBef>
              <a:buFont typeface="Arial" panose="020B0604020202020204" pitchFamily="34" charset="0"/>
              <a:buNone/>
            </a:pPr>
            <a:r>
              <a:rPr lang="en-US" sz="1600" b="1" dirty="0"/>
              <a:t>Error Datasets Available</a:t>
            </a:r>
          </a:p>
          <a:p>
            <a:pPr marL="0" lvl="1" indent="0">
              <a:buFont typeface="Arial" panose="020B0604020202020204" pitchFamily="34" charset="0"/>
              <a:buNone/>
            </a:pPr>
            <a:r>
              <a:rPr lang="en-US" sz="1600" dirty="0"/>
              <a:t>Datasets showing every single field that changed after the migration were created and are available to serve the Application and Database Engineers. May help with root case analysis (RCA).</a:t>
            </a:r>
          </a:p>
          <a:p>
            <a:pPr marL="0" indent="0">
              <a:spcBef>
                <a:spcPts val="2500"/>
              </a:spcBef>
              <a:buFont typeface="Arial" panose="020B0604020202020204" pitchFamily="34" charset="0"/>
              <a:buNone/>
            </a:pPr>
            <a:r>
              <a:rPr lang="en-US" sz="1600" b="1" dirty="0"/>
              <a:t>Detailed Quality Scores Available</a:t>
            </a:r>
          </a:p>
          <a:p>
            <a:pPr marL="0" lvl="1" indent="0">
              <a:buFont typeface="Arial" panose="020B0604020202020204" pitchFamily="34" charset="0"/>
              <a:buNone/>
            </a:pPr>
            <a:r>
              <a:rPr lang="en-US" sz="1600" dirty="0"/>
              <a:t>Detailed Quality Scores available for every field in both Beneficiary and Carrier Claims tables. Helps with setting priorities.</a:t>
            </a:r>
          </a:p>
          <a:p>
            <a:pPr marL="0" indent="0">
              <a:spcBef>
                <a:spcPts val="2500"/>
              </a:spcBef>
              <a:buFont typeface="Arial" panose="020B0604020202020204" pitchFamily="34" charset="0"/>
              <a:buNone/>
            </a:pPr>
            <a:r>
              <a:rPr lang="en-US" sz="1600" b="1" dirty="0"/>
              <a:t>Analysis Positioned to Support Deep Dives</a:t>
            </a:r>
          </a:p>
          <a:p>
            <a:pPr marL="0" lvl="1" indent="0">
              <a:buFont typeface="Arial" panose="020B0604020202020204" pitchFamily="34" charset="0"/>
              <a:buNone/>
            </a:pPr>
            <a:r>
              <a:rPr lang="en-US" sz="1600" dirty="0"/>
              <a:t>Can provide analysis to answer specific questions about the data migration that this presentation did not answer. </a:t>
            </a:r>
          </a:p>
          <a:p>
            <a:pPr marL="0" indent="0">
              <a:spcBef>
                <a:spcPts val="2500"/>
              </a:spcBef>
              <a:buNone/>
            </a:pPr>
            <a:r>
              <a:rPr lang="en-US" sz="1600" b="1" dirty="0"/>
              <a:t>Analytics Improves with Time and Familiarity</a:t>
            </a:r>
          </a:p>
          <a:p>
            <a:pPr marL="0" lvl="1" indent="0">
              <a:buNone/>
            </a:pPr>
            <a:r>
              <a:rPr lang="en-US" sz="1600" dirty="0"/>
              <a:t>Next: Interview stakeholders, gather more context about the application, data, and expectations for the migration. Then update analysis to accommodate new insights and provide custom views to answer questions that stakeholders raise. </a:t>
            </a:r>
          </a:p>
          <a:p>
            <a:pPr marL="0" lvl="1" indent="0">
              <a:buFont typeface="Arial" panose="020B0604020202020204" pitchFamily="34" charset="0"/>
              <a:buNone/>
            </a:pPr>
            <a:endParaRPr lang="en-US" sz="1600" dirty="0"/>
          </a:p>
        </p:txBody>
      </p:sp>
    </p:spTree>
    <p:extLst>
      <p:ext uri="{BB962C8B-B14F-4D97-AF65-F5344CB8AC3E}">
        <p14:creationId xmlns:p14="http://schemas.microsoft.com/office/powerpoint/2010/main" val="3561814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4488E7-CAA0-CF43-BC81-409F94E33C04}"/>
              </a:ext>
            </a:extLst>
          </p:cNvPr>
          <p:cNvSpPr>
            <a:spLocks noGrp="1"/>
          </p:cNvSpPr>
          <p:nvPr>
            <p:ph type="title"/>
          </p:nvPr>
        </p:nvSpPr>
        <p:spPr>
          <a:xfrm>
            <a:off x="6981825" y="1641752"/>
            <a:ext cx="4391024" cy="1323439"/>
          </a:xfrm>
        </p:spPr>
        <p:txBody>
          <a:bodyPr vert="horz" lIns="91440" tIns="45720" rIns="91440" bIns="45720" rtlCol="0" anchor="t">
            <a:normAutofit/>
          </a:bodyPr>
          <a:lstStyle/>
          <a:p>
            <a:r>
              <a:rPr lang="en-US" sz="4000" kern="1200">
                <a:solidFill>
                  <a:schemeClr val="bg1"/>
                </a:solidFill>
                <a:latin typeface="+mj-lt"/>
                <a:ea typeface="+mj-ea"/>
                <a:cs typeface="+mj-cs"/>
              </a:rPr>
              <a:t>Tech Stack Utilized</a:t>
            </a:r>
          </a:p>
        </p:txBody>
      </p:sp>
      <p:grpSp>
        <p:nvGrpSpPr>
          <p:cNvPr id="14" name="Group 13">
            <a:extLst>
              <a:ext uri="{FF2B5EF4-FFF2-40B4-BE49-F238E27FC236}">
                <a16:creationId xmlns:a16="http://schemas.microsoft.com/office/drawing/2014/main" id="{CC09AFE8-9934-40C0-A058-4008A3B197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7160" y="1498600"/>
            <a:ext cx="5260976" cy="4707593"/>
            <a:chOff x="6096000" y="841376"/>
            <a:chExt cx="5260976" cy="4707593"/>
          </a:xfrm>
          <a:effectLst>
            <a:outerShdw blurRad="381000" dist="152400" dir="5400000" algn="ctr" rotWithShape="0">
              <a:srgbClr val="000000">
                <a:alpha val="10000"/>
              </a:srgbClr>
            </a:outerShdw>
          </a:effectLst>
        </p:grpSpPr>
        <p:grpSp>
          <p:nvGrpSpPr>
            <p:cNvPr id="15" name="Group 14">
              <a:extLst>
                <a:ext uri="{FF2B5EF4-FFF2-40B4-BE49-F238E27FC236}">
                  <a16:creationId xmlns:a16="http://schemas.microsoft.com/office/drawing/2014/main" id="{23588ED6-49C5-4EAF-BBCE-DB6B4184D365}"/>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096001" y="841376"/>
              <a:ext cx="5260975" cy="4707593"/>
              <a:chOff x="6096001" y="841376"/>
              <a:chExt cx="5260975" cy="4707593"/>
            </a:xfrm>
          </p:grpSpPr>
          <p:sp>
            <p:nvSpPr>
              <p:cNvPr id="19" name="Freeform: Shape 18">
                <a:extLst>
                  <a:ext uri="{FF2B5EF4-FFF2-40B4-BE49-F238E27FC236}">
                    <a16:creationId xmlns:a16="http://schemas.microsoft.com/office/drawing/2014/main" id="{0149B80A-4A62-4495-AE87-F32755EBD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841376"/>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3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3 w 5260975"/>
                  <a:gd name="connsiteY10" fmla="*/ 3775382 h 4707593"/>
                  <a:gd name="connsiteX11" fmla="*/ 4897844 w 5260975"/>
                  <a:gd name="connsiteY11" fmla="*/ 3792472 h 4707593"/>
                  <a:gd name="connsiteX12" fmla="*/ 4870767 w 5260975"/>
                  <a:gd name="connsiteY12" fmla="*/ 3811388 h 4707593"/>
                  <a:gd name="connsiteX13" fmla="*/ 4847916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49 w 5260975"/>
                  <a:gd name="connsiteY22" fmla="*/ 4089832 h 4707593"/>
                  <a:gd name="connsiteX23" fmla="*/ 4468944 w 5260975"/>
                  <a:gd name="connsiteY23" fmla="*/ 4113356 h 4707593"/>
                  <a:gd name="connsiteX24" fmla="*/ 4452622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438C3DC5-5887-49A9-AABB-A9772488F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841376"/>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3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3 w 5260975"/>
                  <a:gd name="connsiteY10" fmla="*/ 3775382 h 4707593"/>
                  <a:gd name="connsiteX11" fmla="*/ 4897844 w 5260975"/>
                  <a:gd name="connsiteY11" fmla="*/ 3792472 h 4707593"/>
                  <a:gd name="connsiteX12" fmla="*/ 4870767 w 5260975"/>
                  <a:gd name="connsiteY12" fmla="*/ 3811388 h 4707593"/>
                  <a:gd name="connsiteX13" fmla="*/ 4847916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49 w 5260975"/>
                  <a:gd name="connsiteY22" fmla="*/ 4089832 h 4707593"/>
                  <a:gd name="connsiteX23" fmla="*/ 4468944 w 5260975"/>
                  <a:gd name="connsiteY23" fmla="*/ 4113356 h 4707593"/>
                  <a:gd name="connsiteX24" fmla="*/ 4452622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6" name="Group 15">
              <a:extLst>
                <a:ext uri="{FF2B5EF4-FFF2-40B4-BE49-F238E27FC236}">
                  <a16:creationId xmlns:a16="http://schemas.microsoft.com/office/drawing/2014/main" id="{5BD695E1-00AC-49AE-93BF-22000734A8F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096000" y="4138312"/>
              <a:ext cx="5260975" cy="1410656"/>
              <a:chOff x="6096000" y="4138312"/>
              <a:chExt cx="5260975" cy="1410656"/>
            </a:xfrm>
          </p:grpSpPr>
          <p:sp>
            <p:nvSpPr>
              <p:cNvPr id="17" name="Freeform: Shape 16">
                <a:extLst>
                  <a:ext uri="{FF2B5EF4-FFF2-40B4-BE49-F238E27FC236}">
                    <a16:creationId xmlns:a16="http://schemas.microsoft.com/office/drawing/2014/main" id="{F721D808-B8BC-4568-A927-12BC276FBF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7B2886F6-DE07-47C7-840F-22CD86C0D1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2">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7" name="TextBox 6">
            <a:extLst>
              <a:ext uri="{FF2B5EF4-FFF2-40B4-BE49-F238E27FC236}">
                <a16:creationId xmlns:a16="http://schemas.microsoft.com/office/drawing/2014/main" id="{3DAD1B30-088C-CA35-106D-D6FCEC47FB05}"/>
              </a:ext>
            </a:extLst>
          </p:cNvPr>
          <p:cNvSpPr txBox="1"/>
          <p:nvPr/>
        </p:nvSpPr>
        <p:spPr>
          <a:xfrm>
            <a:off x="6981826" y="2667573"/>
            <a:ext cx="4391024" cy="2933127"/>
          </a:xfrm>
          <a:prstGeom prst="rect">
            <a:avLst/>
          </a:prstGeom>
        </p:spPr>
        <p:txBody>
          <a:bodyPr vert="horz" lIns="91440" tIns="45720" rIns="91440" bIns="45720" rtlCol="0">
            <a:normAutofit lnSpcReduction="10000"/>
          </a:bodyPr>
          <a:lstStyle/>
          <a:p>
            <a:pPr indent="-228600">
              <a:lnSpc>
                <a:spcPct val="90000"/>
              </a:lnSpc>
              <a:spcAft>
                <a:spcPts val="600"/>
              </a:spcAft>
              <a:buFont typeface="Arial" panose="020B0604020202020204" pitchFamily="34" charset="0"/>
              <a:buChar char="•"/>
            </a:pPr>
            <a:r>
              <a:rPr lang="en-US" sz="1400" dirty="0">
                <a:solidFill>
                  <a:schemeClr val="bg1">
                    <a:alpha val="80000"/>
                  </a:schemeClr>
                </a:solidFill>
              </a:rPr>
              <a:t>Jeffrey designed the queries and set the approach used for the data analysis and developed the presentation.</a:t>
            </a:r>
          </a:p>
          <a:p>
            <a:pPr indent="-228600">
              <a:lnSpc>
                <a:spcPct val="90000"/>
              </a:lnSpc>
              <a:spcAft>
                <a:spcPts val="600"/>
              </a:spcAft>
              <a:buFont typeface="Arial" panose="020B0604020202020204" pitchFamily="34" charset="0"/>
              <a:buChar char="•"/>
            </a:pPr>
            <a:r>
              <a:rPr lang="en-US" sz="1400" dirty="0">
                <a:solidFill>
                  <a:schemeClr val="bg1">
                    <a:alpha val="80000"/>
                  </a:schemeClr>
                </a:solidFill>
              </a:rPr>
              <a:t>AI assisted with code syntax consultation, “Human in the Loop” environment set-up &amp; data ingestion, and PDF Summarization.</a:t>
            </a:r>
          </a:p>
          <a:p>
            <a:pPr indent="-228600">
              <a:lnSpc>
                <a:spcPct val="90000"/>
              </a:lnSpc>
              <a:spcAft>
                <a:spcPts val="600"/>
              </a:spcAft>
              <a:buFont typeface="Arial" panose="020B0604020202020204" pitchFamily="34" charset="0"/>
              <a:buChar char="•"/>
            </a:pPr>
            <a:r>
              <a:rPr lang="en-US" sz="1400" dirty="0">
                <a:solidFill>
                  <a:schemeClr val="bg1">
                    <a:alpha val="80000"/>
                  </a:schemeClr>
                </a:solidFill>
              </a:rPr>
              <a:t>Level of Effort / Behind the Scenes: </a:t>
            </a:r>
          </a:p>
          <a:p>
            <a:pPr lvl="1" indent="-228600">
              <a:lnSpc>
                <a:spcPct val="90000"/>
              </a:lnSpc>
              <a:spcAft>
                <a:spcPts val="600"/>
              </a:spcAft>
              <a:buFont typeface="Arial" panose="020B0604020202020204" pitchFamily="34" charset="0"/>
              <a:buChar char="•"/>
            </a:pPr>
            <a:r>
              <a:rPr lang="en-US" sz="1400" dirty="0">
                <a:solidFill>
                  <a:schemeClr val="bg1">
                    <a:alpha val="80000"/>
                  </a:schemeClr>
                </a:solidFill>
              </a:rPr>
              <a:t>20 hours invested (4 hours set-up + 16 hours data exploration, analysis, and summarization). </a:t>
            </a:r>
          </a:p>
          <a:p>
            <a:pPr lvl="2" indent="-228600">
              <a:lnSpc>
                <a:spcPct val="90000"/>
              </a:lnSpc>
              <a:spcAft>
                <a:spcPts val="600"/>
              </a:spcAft>
              <a:buFont typeface="Arial" panose="020B0604020202020204" pitchFamily="34" charset="0"/>
              <a:buChar char="•"/>
            </a:pPr>
            <a:r>
              <a:rPr lang="en-US" sz="1400" dirty="0">
                <a:solidFill>
                  <a:schemeClr val="bg1">
                    <a:alpha val="80000"/>
                  </a:schemeClr>
                </a:solidFill>
              </a:rPr>
              <a:t>16 </a:t>
            </a:r>
            <a:r>
              <a:rPr lang="en-US" sz="1400" dirty="0" err="1">
                <a:solidFill>
                  <a:schemeClr val="bg1">
                    <a:alpha val="80000"/>
                  </a:schemeClr>
                </a:solidFill>
              </a:rPr>
              <a:t>py</a:t>
            </a:r>
            <a:r>
              <a:rPr lang="en-US" sz="1400" dirty="0">
                <a:solidFill>
                  <a:schemeClr val="bg1">
                    <a:alpha val="80000"/>
                  </a:schemeClr>
                </a:solidFill>
              </a:rPr>
              <a:t> scripts (~1,350 lines of code)</a:t>
            </a:r>
          </a:p>
          <a:p>
            <a:pPr lvl="2" indent="-228600">
              <a:lnSpc>
                <a:spcPct val="90000"/>
              </a:lnSpc>
              <a:spcAft>
                <a:spcPts val="600"/>
              </a:spcAft>
              <a:buFont typeface="Arial" panose="020B0604020202020204" pitchFamily="34" charset="0"/>
              <a:buChar char="•"/>
            </a:pPr>
            <a:r>
              <a:rPr lang="en-US" sz="1400" dirty="0">
                <a:solidFill>
                  <a:schemeClr val="bg1">
                    <a:alpha val="80000"/>
                  </a:schemeClr>
                </a:solidFill>
              </a:rPr>
              <a:t>1 </a:t>
            </a:r>
            <a:r>
              <a:rPr lang="en-US" sz="1400" dirty="0" err="1">
                <a:solidFill>
                  <a:schemeClr val="bg1">
                    <a:alpha val="80000"/>
                  </a:schemeClr>
                </a:solidFill>
              </a:rPr>
              <a:t>sql</a:t>
            </a:r>
            <a:r>
              <a:rPr lang="en-US" sz="1400" dirty="0">
                <a:solidFill>
                  <a:schemeClr val="bg1">
                    <a:alpha val="80000"/>
                  </a:schemeClr>
                </a:solidFill>
              </a:rPr>
              <a:t> script (~1950 lines) to transform / analyze and prepare interim / final views of the data.</a:t>
            </a:r>
          </a:p>
        </p:txBody>
      </p:sp>
      <p:graphicFrame>
        <p:nvGraphicFramePr>
          <p:cNvPr id="4" name="Content Placeholder 3">
            <a:extLst>
              <a:ext uri="{FF2B5EF4-FFF2-40B4-BE49-F238E27FC236}">
                <a16:creationId xmlns:a16="http://schemas.microsoft.com/office/drawing/2014/main" id="{0DB6093D-B1D0-CB9B-B9AF-29347FB83790}"/>
              </a:ext>
            </a:extLst>
          </p:cNvPr>
          <p:cNvGraphicFramePr>
            <a:graphicFrameLocks noGrp="1"/>
          </p:cNvGraphicFramePr>
          <p:nvPr>
            <p:ph idx="1"/>
            <p:extLst>
              <p:ext uri="{D42A27DB-BD31-4B8C-83A1-F6EECF244321}">
                <p14:modId xmlns:p14="http://schemas.microsoft.com/office/powerpoint/2010/main" val="310579077"/>
              </p:ext>
            </p:extLst>
          </p:nvPr>
        </p:nvGraphicFramePr>
        <p:xfrm>
          <a:off x="1273091" y="2245479"/>
          <a:ext cx="4369113" cy="2588505"/>
        </p:xfrm>
        <a:graphic>
          <a:graphicData uri="http://schemas.openxmlformats.org/drawingml/2006/table">
            <a:tbl>
              <a:tblPr firstRow="1" bandRow="1">
                <a:tableStyleId>{5C22544A-7EE6-4342-B048-85BDC9FD1C3A}</a:tableStyleId>
              </a:tblPr>
              <a:tblGrid>
                <a:gridCol w="2966196">
                  <a:extLst>
                    <a:ext uri="{9D8B030D-6E8A-4147-A177-3AD203B41FA5}">
                      <a16:colId xmlns:a16="http://schemas.microsoft.com/office/drawing/2014/main" val="3491875177"/>
                    </a:ext>
                  </a:extLst>
                </a:gridCol>
                <a:gridCol w="1402917">
                  <a:extLst>
                    <a:ext uri="{9D8B030D-6E8A-4147-A177-3AD203B41FA5}">
                      <a16:colId xmlns:a16="http://schemas.microsoft.com/office/drawing/2014/main" val="2122005768"/>
                    </a:ext>
                  </a:extLst>
                </a:gridCol>
              </a:tblGrid>
              <a:tr h="428174">
                <a:tc>
                  <a:txBody>
                    <a:bodyPr/>
                    <a:lstStyle/>
                    <a:p>
                      <a:pPr algn="ctr"/>
                      <a:r>
                        <a:rPr lang="en-US" sz="1900"/>
                        <a:t>Languages</a:t>
                      </a:r>
                    </a:p>
                  </a:txBody>
                  <a:tcPr marL="97312" marR="97312" marT="48656" marB="48656"/>
                </a:tc>
                <a:tc>
                  <a:txBody>
                    <a:bodyPr/>
                    <a:lstStyle/>
                    <a:p>
                      <a:pPr algn="ctr"/>
                      <a:r>
                        <a:rPr lang="en-US" sz="1900"/>
                        <a:t>AI</a:t>
                      </a:r>
                    </a:p>
                  </a:txBody>
                  <a:tcPr marL="97312" marR="97312" marT="48656" marB="48656"/>
                </a:tc>
                <a:extLst>
                  <a:ext uri="{0D108BD9-81ED-4DB2-BD59-A6C34878D82A}">
                    <a16:rowId xmlns:a16="http://schemas.microsoft.com/office/drawing/2014/main" val="514264849"/>
                  </a:ext>
                </a:extLst>
              </a:tr>
              <a:tr h="1012047">
                <a:tc>
                  <a:txBody>
                    <a:bodyPr/>
                    <a:lstStyle/>
                    <a:p>
                      <a:pPr algn="ctr"/>
                      <a:r>
                        <a:rPr lang="en-US" sz="1600" dirty="0"/>
                        <a:t>Python 3.13</a:t>
                      </a:r>
                      <a:br>
                        <a:rPr lang="en-US" sz="1600" dirty="0"/>
                      </a:br>
                      <a:r>
                        <a:rPr lang="en-US" sz="1600" dirty="0"/>
                        <a:t>(</a:t>
                      </a:r>
                      <a:r>
                        <a:rPr lang="en-US" sz="1600" b="0" kern="1200" dirty="0">
                          <a:solidFill>
                            <a:schemeClr val="dk1"/>
                          </a:solidFill>
                          <a:effectLst/>
                          <a:latin typeface="+mn-lt"/>
                          <a:ea typeface="+mn-ea"/>
                          <a:cs typeface="+mn-cs"/>
                        </a:rPr>
                        <a:t>pandas, </a:t>
                      </a:r>
                      <a:r>
                        <a:rPr lang="en-US" sz="1600" b="0" kern="1200" dirty="0" err="1">
                          <a:solidFill>
                            <a:schemeClr val="dk1"/>
                          </a:solidFill>
                          <a:effectLst/>
                          <a:latin typeface="+mn-lt"/>
                          <a:ea typeface="+mn-ea"/>
                          <a:cs typeface="+mn-cs"/>
                        </a:rPr>
                        <a:t>sqlalchemy</a:t>
                      </a:r>
                      <a:r>
                        <a:rPr lang="en-US" sz="1600" b="0" kern="1200" dirty="0">
                          <a:solidFill>
                            <a:schemeClr val="dk1"/>
                          </a:solidFill>
                          <a:effectLst/>
                          <a:latin typeface="+mn-lt"/>
                          <a:ea typeface="+mn-ea"/>
                          <a:cs typeface="+mn-cs"/>
                        </a:rPr>
                        <a:t>, psycopg2-binary, </a:t>
                      </a:r>
                      <a:r>
                        <a:rPr lang="en-US" sz="1600" b="0" kern="1200" dirty="0" err="1">
                          <a:solidFill>
                            <a:schemeClr val="dk1"/>
                          </a:solidFill>
                          <a:effectLst/>
                          <a:latin typeface="+mn-lt"/>
                          <a:ea typeface="+mn-ea"/>
                          <a:cs typeface="+mn-cs"/>
                        </a:rPr>
                        <a:t>pytest</a:t>
                      </a:r>
                      <a:r>
                        <a:rPr lang="en-US" sz="1600" b="0" kern="1200" dirty="0">
                          <a:solidFill>
                            <a:schemeClr val="dk1"/>
                          </a:solidFill>
                          <a:effectLst/>
                          <a:latin typeface="+mn-lt"/>
                          <a:ea typeface="+mn-ea"/>
                          <a:cs typeface="+mn-cs"/>
                        </a:rPr>
                        <a:t>)</a:t>
                      </a:r>
                    </a:p>
                  </a:txBody>
                  <a:tcPr marL="97312" marR="97312" marT="48656" marB="48656" anchor="ctr"/>
                </a:tc>
                <a:tc>
                  <a:txBody>
                    <a:bodyPr/>
                    <a:lstStyle/>
                    <a:p>
                      <a:pPr algn="ctr"/>
                      <a:r>
                        <a:rPr lang="en-US" sz="1600"/>
                        <a:t>Gemini Pro</a:t>
                      </a:r>
                    </a:p>
                  </a:txBody>
                  <a:tcPr marL="97312" marR="97312" marT="48656" marB="48656" anchor="ctr"/>
                </a:tc>
                <a:extLst>
                  <a:ext uri="{0D108BD9-81ED-4DB2-BD59-A6C34878D82A}">
                    <a16:rowId xmlns:a16="http://schemas.microsoft.com/office/drawing/2014/main" val="372401400"/>
                  </a:ext>
                </a:extLst>
              </a:tr>
              <a:tr h="720110">
                <a:tc>
                  <a:txBody>
                    <a:bodyPr/>
                    <a:lstStyle/>
                    <a:p>
                      <a:pPr algn="ctr"/>
                      <a:r>
                        <a:rPr lang="en-US" sz="1600" dirty="0" err="1"/>
                        <a:t>DuckDB</a:t>
                      </a:r>
                      <a:r>
                        <a:rPr lang="en-US" sz="1600" dirty="0"/>
                        <a:t> (Database)</a:t>
                      </a:r>
                    </a:p>
                  </a:txBody>
                  <a:tcPr marL="97312" marR="97312" marT="48656" marB="48656"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Notebook LM</a:t>
                      </a:r>
                    </a:p>
                  </a:txBody>
                  <a:tcPr marL="97312" marR="97312" marT="48656" marB="48656" anchor="ctr"/>
                </a:tc>
                <a:extLst>
                  <a:ext uri="{0D108BD9-81ED-4DB2-BD59-A6C34878D82A}">
                    <a16:rowId xmlns:a16="http://schemas.microsoft.com/office/drawing/2014/main" val="3577254441"/>
                  </a:ext>
                </a:extLst>
              </a:tr>
              <a:tr h="428174">
                <a:tc>
                  <a:txBody>
                    <a:bodyPr/>
                    <a:lstStyle/>
                    <a:p>
                      <a:pPr algn="ctr"/>
                      <a:r>
                        <a:rPr lang="en-US" sz="1600"/>
                        <a:t>SQL</a:t>
                      </a:r>
                    </a:p>
                  </a:txBody>
                  <a:tcPr marL="97312" marR="97312" marT="48656" marB="48656"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Perplexity</a:t>
                      </a:r>
                    </a:p>
                  </a:txBody>
                  <a:tcPr marL="97312" marR="97312" marT="48656" marB="48656" anchor="ctr"/>
                </a:tc>
                <a:extLst>
                  <a:ext uri="{0D108BD9-81ED-4DB2-BD59-A6C34878D82A}">
                    <a16:rowId xmlns:a16="http://schemas.microsoft.com/office/drawing/2014/main" val="1929329120"/>
                  </a:ext>
                </a:extLst>
              </a:tr>
            </a:tbl>
          </a:graphicData>
        </a:graphic>
      </p:graphicFrame>
    </p:spTree>
    <p:extLst>
      <p:ext uri="{BB962C8B-B14F-4D97-AF65-F5344CB8AC3E}">
        <p14:creationId xmlns:p14="http://schemas.microsoft.com/office/powerpoint/2010/main" val="3505264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316</TotalTime>
  <Words>1301</Words>
  <Application>Microsoft Office PowerPoint</Application>
  <PresentationFormat>Widescreen</PresentationFormat>
  <Paragraphs>436</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Aptos Display</vt:lpstr>
      <vt:lpstr>Aptos Narrow</vt:lpstr>
      <vt:lpstr>Arial</vt:lpstr>
      <vt:lpstr>fkGroteskNeue</vt:lpstr>
      <vt:lpstr>Neue Haas Grotesk Text Pro</vt:lpstr>
      <vt:lpstr>Office Theme</vt:lpstr>
      <vt:lpstr>Data Migration Quality Analysis</vt:lpstr>
      <vt:lpstr>Agenda</vt:lpstr>
      <vt:lpstr>Process</vt:lpstr>
      <vt:lpstr>Capability of Migration Process</vt:lpstr>
      <vt:lpstr>Pareto Analysis of Claims Data Defects</vt:lpstr>
      <vt:lpstr>PowerPoint Presentation</vt:lpstr>
      <vt:lpstr>Pareto Analysis of Beneficiary Data Defects</vt:lpstr>
      <vt:lpstr>PowerPoint Presentation</vt:lpstr>
      <vt:lpstr>Beneficiary “Date of Birth” Errors</vt:lpstr>
      <vt:lpstr>Carrier Claims Orphan Analysis</vt:lpstr>
      <vt:lpstr>Next Steps</vt:lpstr>
      <vt:lpstr>Tech Stack Utilized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Jeffrey Benson</dc:creator>
  <cp:lastModifiedBy>Jeffrey Benson</cp:lastModifiedBy>
  <cp:revision>3</cp:revision>
  <dcterms:created xsi:type="dcterms:W3CDTF">2026-02-11T15:51:05Z</dcterms:created>
  <dcterms:modified xsi:type="dcterms:W3CDTF">2026-02-11T21:07:30Z</dcterms:modified>
</cp:coreProperties>
</file>